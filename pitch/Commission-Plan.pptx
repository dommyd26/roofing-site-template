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11111"/>
                </a:solidFill>
                <a:latin typeface="Arial"/>
              </a:defRPr>
            </a:pPr>
            <a:r>
              <a:rPr sz="1400" b="0" i="0" u="none" strike="noStrike">
                <a:solidFill>
                  <a:srgbClr val="111111"/>
                </a:solidFill>
                <a:latin typeface="Arial"/>
              </a:rPr>
              <a:t>T^Rock net profit per 100 scoped leads (after fee &amp; PM split)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T^Rock net profit per 100 scoped leads</c:v>
                </c:pt>
              </c:strCache>
            </c:strRef>
          </c:tx>
          <c:spPr>
            <a:solidFill>
              <a:srgbClr val="C8102E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1111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20% close</c:v>
                  </c:pt>
                  <c:pt idx="1">
                    <c:v>40% close</c:v>
                  </c:pt>
                  <c:pt idx="2">
                    <c:v>60% close</c:v>
                  </c:pt>
                  <c:pt idx="3">
                    <c:v>80% close</c:v>
                  </c:pt>
                  <c:pt idx="4">
                    <c:v>100% close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99000</c:v>
                </c:pt>
                <c:pt idx="1">
                  <c:v>186000</c:v>
                </c:pt>
                <c:pt idx="2">
                  <c:v>261000</c:v>
                </c:pt>
                <c:pt idx="3">
                  <c:v>324000</c:v>
                </c:pt>
                <c:pt idx="4">
                  <c:v>375000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11111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A2A2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20000"/>
        </c:scaling>
        <c:delete val="0"/>
        <c:axPos val="l"/>
        <c:majorGridlines>
          <c:spPr>
            <a:ln w="6350" cap="flat">
              <a:solidFill>
                <a:srgbClr val="E8E8E8"/>
              </a:solidFill>
              <a:prstDash val="solid"/>
              <a:round/>
            </a:ln>
          </c:spPr>
        </c:majorGridlines>
        <c:numFmt formatCode="$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E6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777240"/>
            <a:ext cx="822960" cy="82296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9770" y="991210"/>
            <a:ext cx="395021" cy="39502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214884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T^ROCK PERFORMANCE PAY PLAN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713232" y="32004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writing &amp; lead operations — paid only on jobs that close and collect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713232" y="5394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structure</a:t>
            </a:r>
            <a:pPr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T^Rock Contracting   ·   August 2026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13232" y="58064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fixed cost. The fee exists only when a check clears.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seat delivers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functions, one fee — everything below is directly attributable to individual jobs.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5F5F5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10312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26954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208483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Insurance-grade scope writing (RSOW)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645920" y="251460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restoration scopes of work per job — line items, quantities, code items — built to survive adjuster review and maximize approved RCV.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17920" y="182880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5F5F5"/>
          </a:solidFill>
          <a:ln/>
        </p:spPr>
      </p:sp>
      <p:sp>
        <p:nvSpPr>
          <p:cNvPr id="10" name="Shape 7"/>
          <p:cNvSpPr/>
          <p:nvPr/>
        </p:nvSpPr>
        <p:spPr>
          <a:xfrm>
            <a:off x="6492240" y="210312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8661" y="226954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15200" y="208483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Storm targeting &amp; lead operations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7315200" y="251460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the damage-map platform: territories, filtered knock lists, alert response. Reps knock verified-damage doors instead of guessing.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402336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5F5F5"/>
          </a:solidFill>
          <a:ln/>
        </p:spPr>
      </p:sp>
      <p:sp>
        <p:nvSpPr>
          <p:cNvPr id="15" name="Shape 11"/>
          <p:cNvSpPr/>
          <p:nvPr/>
        </p:nvSpPr>
        <p:spPr>
          <a:xfrm>
            <a:off x="822960" y="429768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9381" y="4464101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45920" y="427939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 booked as a job cost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1645920" y="470916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fee attaches to a specific closed job, so it lands in job costing — not overhead. Margins per job stay honest and auditable.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217920" y="402336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5F5F5"/>
          </a:solidFill>
          <a:ln/>
        </p:spPr>
      </p:sp>
      <p:sp>
        <p:nvSpPr>
          <p:cNvPr id="20" name="Shape 15"/>
          <p:cNvSpPr/>
          <p:nvPr/>
        </p:nvSpPr>
        <p:spPr>
          <a:xfrm>
            <a:off x="6492240" y="429768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8661" y="4464101"/>
            <a:ext cx="307238" cy="30723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0" y="427939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on collected, not promised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7315200" y="470916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base, no draw, no per-scope charge. If a job doesn't close and fund, the work was free. All of the risk sits on this side of the table.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slider: pay scales with what closes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 = % of RCV on scoped jobs, paid only when closed AND collected. </a:t>
            </a:r>
            <a:pPr indent="0" marL="0">
              <a:buNone/>
            </a:pPr>
            <a:r>
              <a:rPr lang="en-US" sz="14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% is set by the close rate on scoped leads, measured quarterly — better conversion, better rate, for both sides.</a:t>
            </a:r>
            <a:endParaRPr lang="en-US" sz="14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645920"/>
                <a:gridCol w="1463040"/>
                <a:gridCol w="1463040"/>
                <a:gridCol w="1463040"/>
                <a:gridCol w="173736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 close (floor)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 (ceiling)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Fee (% of RCV)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Fee on a $30,000 job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$1,800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$2,400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$3,000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Job profit after fee (35% margin)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$9,900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$9,300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$8,700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$8,100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$7,500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T^Rock net per job (after 50/50 PM split)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$4,950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$4,650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$4,350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$4,050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$3,750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937760"/>
            <a:ext cx="11064240" cy="868680"/>
          </a:xfrm>
          <a:prstGeom prst="roundRect">
            <a:avLst>
              <a:gd name="adj" fmla="val 6316"/>
            </a:avLst>
          </a:prstGeom>
          <a:solidFill>
            <a:srgbClr val="FBEAEC"/>
          </a:solidFill>
          <a:ln/>
        </p:spPr>
      </p:sp>
      <p:sp>
        <p:nvSpPr>
          <p:cNvPr id="6" name="Text 3"/>
          <p:cNvSpPr/>
          <p:nvPr/>
        </p:nvSpPr>
        <p:spPr>
          <a:xfrm>
            <a:off x="868680" y="50749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Worst case for T^Rock is still $3,750 net per closed job </a:t>
            </a:r>
            <a:pPr indent="0" marL="0">
              <a:buNone/>
            </a:pPr>
            <a:r>
              <a:rPr lang="en-US" sz="14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and that case only exists in a quarter where every single scoped lead closed. The fee can never run ahead of collected cash.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Rates between tiers interpolate linearly. Close rate = closed &amp; collected jobs ÷ scoped leads, trailing quarter.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the slider pays for itself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100 scoped leads, five close rates. The fee % rises — the pie rises much faster.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1106424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532120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111111"/>
          </a:solidFill>
          <a:ln/>
        </p:spPr>
      </p:sp>
      <p:sp>
        <p:nvSpPr>
          <p:cNvPr id="6" name="Text 3"/>
          <p:cNvSpPr/>
          <p:nvPr/>
        </p:nvSpPr>
        <p:spPr>
          <a:xfrm>
            <a:off x="868680" y="5650992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of the slider = T^Rock's take is up nearly 4×. </a:t>
            </a:r>
            <a:pPr indent="0" marL="0">
              <a:buNone/>
            </a:pPr>
            <a:r>
              <a:rPr lang="en-US" sz="1500" dirty="0">
                <a:solidFill>
                  <a:srgbClr val="E6E6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higher fee is only ever paid out of jobs that already closed — the plan cannot cost money in a bad quarter.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closed job: $30,000 × 35% margin, less slider fee, split 50/50 with the PM. 100 scoped leads held constant across scenarios.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ways to base it — pick one, put it in writing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394960" cy="3977640"/>
          </a:xfrm>
          <a:prstGeom prst="roundRect">
            <a:avLst>
              <a:gd name="adj" fmla="val 1839"/>
            </a:avLst>
          </a:prstGeom>
          <a:solidFill>
            <a:srgbClr val="F5F5F5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64592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1812341"/>
            <a:ext cx="307238" cy="30723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45920" y="166420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A — % of RCV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1645920" y="204825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numbers shown so far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868680" y="251460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straight off the carrier paperwork — no accounting disputes, ever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Insulated from cost overruns neither side controls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Slider band: 2% → 10% of RCV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50% close: 5% × $30,000 = $1,500 per closed job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17920" y="1371600"/>
            <a:ext cx="5394960" cy="3977640"/>
          </a:xfrm>
          <a:prstGeom prst="roundRect">
            <a:avLst>
              <a:gd name="adj" fmla="val 1839"/>
            </a:avLst>
          </a:prstGeom>
          <a:solidFill>
            <a:srgbClr val="F5F5F5"/>
          </a:solidFill>
          <a:ln/>
        </p:spPr>
      </p:sp>
      <p:sp>
        <p:nvSpPr>
          <p:cNvPr id="10" name="Shape 7"/>
          <p:cNvSpPr/>
          <p:nvPr/>
        </p:nvSpPr>
        <p:spPr>
          <a:xfrm>
            <a:off x="6492240" y="164592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8661" y="181234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15200" y="166420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B — % of job profit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7315200" y="204825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equivalent dollars, different base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6537960" y="251460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Scales with margin — the fee shrinks automatically on thin jobs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Requires open-book job costing both sides trust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Equivalent slider band: ~6% → 28% of job gross profit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50% close: ~14% × $10,500 = ~$1,470 per closed job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548640" y="5532120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FBEAEC"/>
          </a:solidFill>
          <a:ln/>
        </p:spPr>
      </p:sp>
      <p:sp>
        <p:nvSpPr>
          <p:cNvPr id="16" name="Text 12"/>
          <p:cNvSpPr/>
          <p:nvPr/>
        </p:nvSpPr>
        <p:spPr>
          <a:xfrm>
            <a:off x="868680" y="5669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money either way at today's margins. </a:t>
            </a:r>
            <a:pPr indent="0" marL="0">
              <a:buNone/>
            </a:pPr>
            <a:r>
              <a:rPr lang="en-US" sz="14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is simpler to verify; B is tighter to margin. The only wrong answer is leaving the definition verbal.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costs vs. the alternatives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other way to buy scope writing carries fixed cost or scales with paperwork. This one scales only with collected revenue.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5F5F5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011680"/>
            <a:ext cx="685800" cy="68580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6988" y="218998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2194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 estimator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68680" y="28803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$70–90k/yr</a:t>
            </a:r>
            <a:endParaRPr lang="en-US" sz="4000" dirty="0"/>
          </a:p>
        </p:txBody>
      </p:sp>
      <p:sp>
        <p:nvSpPr>
          <p:cNvPr id="9" name="Text 6"/>
          <p:cNvSpPr/>
          <p:nvPr/>
        </p:nvSpPr>
        <p:spPr>
          <a:xfrm>
            <a:off x="868680" y="3749040"/>
            <a:ext cx="2926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Salary paid whether jobs close or not. Pure fixed overhead, plus payroll burden — and someone still has to run lead targeting.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43400" y="17373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5F5F5"/>
          </a:solidFill>
          <a:ln/>
        </p:spPr>
      </p:sp>
      <p:sp>
        <p:nvSpPr>
          <p:cNvPr id="11" name="Shape 8"/>
          <p:cNvSpPr/>
          <p:nvPr/>
        </p:nvSpPr>
        <p:spPr>
          <a:xfrm>
            <a:off x="4663440" y="2011680"/>
            <a:ext cx="685800" cy="68580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1748" y="2189988"/>
            <a:ext cx="329184" cy="32918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486400" y="2194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Supplement service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4663440" y="28803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25–33%</a:t>
            </a:r>
            <a:endParaRPr lang="en-US" sz="4000" dirty="0"/>
          </a:p>
        </p:txBody>
      </p:sp>
      <p:sp>
        <p:nvSpPr>
          <p:cNvPr id="15" name="Text 11"/>
          <p:cNvSpPr/>
          <p:nvPr/>
        </p:nvSpPr>
        <p:spPr>
          <a:xfrm>
            <a:off x="4663440" y="3749040"/>
            <a:ext cx="2926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every supplement dollar they add — cost scales with paperwork volume, not with closed jobs, and they touch nothing else.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8138160" y="17373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111111"/>
          </a:solidFill>
          <a:ln/>
        </p:spPr>
      </p:sp>
      <p:sp>
        <p:nvSpPr>
          <p:cNvPr id="17" name="Shape 13"/>
          <p:cNvSpPr/>
          <p:nvPr/>
        </p:nvSpPr>
        <p:spPr>
          <a:xfrm>
            <a:off x="8458200" y="2011680"/>
            <a:ext cx="685800" cy="68580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6508" y="2189988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9281160" y="2194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plan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8458200" y="28803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</a:t>
            </a:r>
            <a:endParaRPr lang="en-US" sz="4000" dirty="0"/>
          </a:p>
        </p:txBody>
      </p:sp>
      <p:sp>
        <p:nvSpPr>
          <p:cNvPr id="21" name="Text 16"/>
          <p:cNvSpPr/>
          <p:nvPr/>
        </p:nvSpPr>
        <p:spPr>
          <a:xfrm>
            <a:off x="8458200" y="3749040"/>
            <a:ext cx="2926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until a job closes AND the check clears. Scope writing and lead operations in one seat, booked as a job cost on collected revenue.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Estimator salary and supplement-fee ranges are industry-typical figures for the region, not quotes.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85800" y="160020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1E1E1E"/>
          </a:solidFill>
          <a:ln/>
        </p:spPr>
      </p:sp>
      <p:sp>
        <p:nvSpPr>
          <p:cNvPr id="4" name="Shape 2"/>
          <p:cNvSpPr/>
          <p:nvPr/>
        </p:nvSpPr>
        <p:spPr>
          <a:xfrm>
            <a:off x="978408" y="187452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829" y="2040941"/>
            <a:ext cx="307238" cy="30723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154680" y="17830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978408" y="27432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the metrics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978408" y="33832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FCF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Close-rate window (trailing quarter), what counts as a scoped lead, attribution rules, and “collected” = funds received.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434840" y="160020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1E1E1E"/>
          </a:solidFill>
          <a:ln/>
        </p:spPr>
      </p:sp>
      <p:sp>
        <p:nvSpPr>
          <p:cNvPr id="10" name="Shape 7"/>
          <p:cNvSpPr/>
          <p:nvPr/>
        </p:nvSpPr>
        <p:spPr>
          <a:xfrm>
            <a:off x="4727448" y="187452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3869" y="204094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03720" y="17830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400" dirty="0"/>
          </a:p>
        </p:txBody>
      </p:sp>
      <p:sp>
        <p:nvSpPr>
          <p:cNvPr id="13" name="Text 9"/>
          <p:cNvSpPr/>
          <p:nvPr/>
        </p:nvSpPr>
        <p:spPr>
          <a:xfrm>
            <a:off x="4727448" y="27432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the base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4727448" y="33832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FCF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A (% of RCV) or Option B (% of job profit). One page, signed, with the slider table attached.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83880" y="160020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1E1E1E"/>
          </a:solidFill>
          <a:ln/>
        </p:spPr>
      </p:sp>
      <p:sp>
        <p:nvSpPr>
          <p:cNvPr id="16" name="Shape 12"/>
          <p:cNvSpPr/>
          <p:nvPr/>
        </p:nvSpPr>
        <p:spPr>
          <a:xfrm>
            <a:off x="8476488" y="187452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2909" y="2040941"/>
            <a:ext cx="307238" cy="30723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0652760" y="17830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476488" y="27432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True-up quarterly, review at 6 months</a:t>
            </a:r>
            <a:endParaRPr lang="en-US" sz="1700" dirty="0"/>
          </a:p>
        </p:txBody>
      </p:sp>
      <p:sp>
        <p:nvSpPr>
          <p:cNvPr id="20" name="Text 15"/>
          <p:cNvSpPr/>
          <p:nvPr/>
        </p:nvSpPr>
        <p:spPr>
          <a:xfrm>
            <a:off x="8476488" y="33832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FCF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recalculates each quarter from actuals. Six-month check: if the numbers say adjust the curve, adjust the curve.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685800" y="512064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on collections. Priced by close rate. Free until the check clears.</a:t>
            </a:r>
            <a:endParaRPr lang="en-US" sz="2000" dirty="0"/>
          </a:p>
        </p:txBody>
      </p:sp>
      <p:sp>
        <p:nvSpPr>
          <p:cNvPr id="22" name="Text 17"/>
          <p:cNvSpPr/>
          <p:nvPr/>
        </p:nvSpPr>
        <p:spPr>
          <a:xfrm>
            <a:off x="685800" y="57607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DBD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sides get richer on exactly the same event: a closed, funded roof.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2026-08-21T02:42:56Z</dcterms:created>
  <dcterms:modified xsi:type="dcterms:W3CDTF">2026-08-21T02:42:56Z</dcterms:modified>
</cp:coreProperties>
</file>