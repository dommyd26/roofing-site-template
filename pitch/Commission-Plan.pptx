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11111"/>
                </a:solidFill>
                <a:latin typeface="Arial"/>
              </a:defRPr>
            </a:pPr>
            <a:r>
              <a:rPr sz="1400" b="0" i="0" u="none" strike="noStrike">
                <a:solidFill>
                  <a:srgbClr val="111111"/>
                </a:solidFill>
                <a:latin typeface="Arial"/>
              </a:rPr>
              <a:t>T^Rock net profit per 100 scoped leads (after fee &amp; PM split)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T^Rock net profit per 100 scoped leads</c:v>
                </c:pt>
              </c:strCache>
            </c:strRef>
          </c:tx>
          <c:spPr>
            <a:solidFill>
              <a:srgbClr val="C8102E"/>
            </a:solidFill>
            <a:effectLst/>
          </c:spPr>
          <c:invertIfNegative val="0"/>
          <c:dLbls>
            <c:numFmt formatCode="$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11111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20% close</c:v>
                  </c:pt>
                  <c:pt idx="1">
                    <c:v>40% close</c:v>
                  </c:pt>
                  <c:pt idx="2">
                    <c:v>60% close</c:v>
                  </c:pt>
                  <c:pt idx="3">
                    <c:v>80% close</c:v>
                  </c:pt>
                  <c:pt idx="4">
                    <c:v>100% close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99000</c:v>
                </c:pt>
                <c:pt idx="1">
                  <c:v>186000</c:v>
                </c:pt>
                <c:pt idx="2">
                  <c:v>261000</c:v>
                </c:pt>
                <c:pt idx="3">
                  <c:v>324000</c:v>
                </c:pt>
                <c:pt idx="4">
                  <c:v>375000</c:v>
                </c:pt>
              </c:numCache>
            </c:numRef>
          </c:val>
        </c:ser>
        <c:dLbls>
          <c:numFmt formatCode="$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11111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A2A2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20000"/>
        </c:scaling>
        <c:delete val="0"/>
        <c:axPos val="l"/>
        <c:majorGridlines>
          <c:spPr>
            <a:ln w="6350" cap="flat">
              <a:solidFill>
                <a:srgbClr val="E8E8E8"/>
              </a:solidFill>
              <a:prstDash val="solid"/>
              <a:round/>
            </a:ln>
          </c:spPr>
        </c:majorGridlines>
        <c:numFmt formatCode="$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E6E6E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777240"/>
            <a:ext cx="822960" cy="822960"/>
          </a:xfrm>
          <a:prstGeom prst="ellipse">
            <a:avLst/>
          </a:prstGeom>
          <a:solidFill>
            <a:srgbClr val="C8102E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9770" y="991210"/>
            <a:ext cx="395021" cy="395021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85800" y="2148840"/>
            <a:ext cx="10789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T^ROCK PERFORMANCE PAY PLAN</a:t>
            </a:r>
            <a:endParaRPr lang="en-US" sz="4400" dirty="0"/>
          </a:p>
        </p:txBody>
      </p:sp>
      <p:sp>
        <p:nvSpPr>
          <p:cNvPr id="5" name="Text 2"/>
          <p:cNvSpPr/>
          <p:nvPr/>
        </p:nvSpPr>
        <p:spPr>
          <a:xfrm>
            <a:off x="713232" y="32004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 writing &amp; lead operations — paid only on jobs that close and collect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713232" y="53949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Proposed structure</a:t>
            </a:r>
            <a:pPr indent="0" marL="0">
              <a:buNone/>
            </a:pPr>
            <a:r>
              <a:rPr lang="en-US" sz="1400" dirty="0">
                <a:solidFill>
                  <a:srgbClr val="9E9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·   T^Rock Contracting   ·   August 2026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713232" y="58064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fixed cost. The fee exists only when a check clears.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this seat delivers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0972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functions, one fee — everything below is directly attributable to individual jobs.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5394960" cy="1965960"/>
          </a:xfrm>
          <a:prstGeom prst="roundRect">
            <a:avLst>
              <a:gd name="adj" fmla="val 3721"/>
            </a:avLst>
          </a:prstGeom>
          <a:solidFill>
            <a:srgbClr val="F5F5F5"/>
          </a:solidFill>
          <a:ln/>
        </p:spPr>
      </p:sp>
      <p:sp>
        <p:nvSpPr>
          <p:cNvPr id="5" name="Shape 3"/>
          <p:cNvSpPr/>
          <p:nvPr/>
        </p:nvSpPr>
        <p:spPr>
          <a:xfrm>
            <a:off x="822960" y="2103120"/>
            <a:ext cx="640080" cy="640080"/>
          </a:xfrm>
          <a:prstGeom prst="ellipse">
            <a:avLst/>
          </a:prstGeom>
          <a:solidFill>
            <a:srgbClr val="C8102E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9381" y="226954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45920" y="208483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Insurance-grade scope writing (RSOW)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1645920" y="2514600"/>
            <a:ext cx="4114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restoration scopes of work per job — line items, quantities, code items — built to survive adjuster review and maximize approved RCV.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217920" y="1828800"/>
            <a:ext cx="5394960" cy="1965960"/>
          </a:xfrm>
          <a:prstGeom prst="roundRect">
            <a:avLst>
              <a:gd name="adj" fmla="val 3721"/>
            </a:avLst>
          </a:prstGeom>
          <a:solidFill>
            <a:srgbClr val="F5F5F5"/>
          </a:solidFill>
          <a:ln/>
        </p:spPr>
      </p:sp>
      <p:sp>
        <p:nvSpPr>
          <p:cNvPr id="10" name="Shape 7"/>
          <p:cNvSpPr/>
          <p:nvPr/>
        </p:nvSpPr>
        <p:spPr>
          <a:xfrm>
            <a:off x="6492240" y="2103120"/>
            <a:ext cx="640080" cy="640080"/>
          </a:xfrm>
          <a:prstGeom prst="ellipse">
            <a:avLst/>
          </a:prstGeom>
          <a:solidFill>
            <a:srgbClr val="C8102E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58661" y="2269541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315200" y="208483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Storm targeting &amp; lead operations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7315200" y="2514600"/>
            <a:ext cx="4114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Runs the damage-map platform: territories, filtered knock lists, alert response. Reps knock verified-damage doors instead of guessing.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548640" y="4023360"/>
            <a:ext cx="5394960" cy="1965960"/>
          </a:xfrm>
          <a:prstGeom prst="roundRect">
            <a:avLst>
              <a:gd name="adj" fmla="val 3721"/>
            </a:avLst>
          </a:prstGeom>
          <a:solidFill>
            <a:srgbClr val="F5F5F5"/>
          </a:solidFill>
          <a:ln/>
        </p:spPr>
      </p:sp>
      <p:sp>
        <p:nvSpPr>
          <p:cNvPr id="15" name="Shape 11"/>
          <p:cNvSpPr/>
          <p:nvPr/>
        </p:nvSpPr>
        <p:spPr>
          <a:xfrm>
            <a:off x="822960" y="4297680"/>
            <a:ext cx="640080" cy="640080"/>
          </a:xfrm>
          <a:prstGeom prst="ellipse">
            <a:avLst/>
          </a:prstGeom>
          <a:solidFill>
            <a:srgbClr val="C8102E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9381" y="4464101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645920" y="427939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 booked as a job cost</a:t>
            </a:r>
            <a:endParaRPr lang="en-US" sz="1600" dirty="0"/>
          </a:p>
        </p:txBody>
      </p:sp>
      <p:sp>
        <p:nvSpPr>
          <p:cNvPr id="18" name="Text 13"/>
          <p:cNvSpPr/>
          <p:nvPr/>
        </p:nvSpPr>
        <p:spPr>
          <a:xfrm>
            <a:off x="1645920" y="4709160"/>
            <a:ext cx="4114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fee attaches to a specific closed job, so it lands in job costing — not overhead. Margins per job stay honest and auditable.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6217920" y="4023360"/>
            <a:ext cx="5394960" cy="1965960"/>
          </a:xfrm>
          <a:prstGeom prst="roundRect">
            <a:avLst>
              <a:gd name="adj" fmla="val 3721"/>
            </a:avLst>
          </a:prstGeom>
          <a:solidFill>
            <a:srgbClr val="F5F5F5"/>
          </a:solidFill>
          <a:ln/>
        </p:spPr>
      </p:sp>
      <p:sp>
        <p:nvSpPr>
          <p:cNvPr id="20" name="Shape 15"/>
          <p:cNvSpPr/>
          <p:nvPr/>
        </p:nvSpPr>
        <p:spPr>
          <a:xfrm>
            <a:off x="6492240" y="4297680"/>
            <a:ext cx="640080" cy="640080"/>
          </a:xfrm>
          <a:prstGeom prst="ellipse">
            <a:avLst/>
          </a:prstGeom>
          <a:solidFill>
            <a:srgbClr val="C8102E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58661" y="4464101"/>
            <a:ext cx="307238" cy="307238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315200" y="427939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Paid on collected, not promised</a:t>
            </a:r>
            <a:endParaRPr lang="en-US" sz="1600" dirty="0"/>
          </a:p>
        </p:txBody>
      </p:sp>
      <p:sp>
        <p:nvSpPr>
          <p:cNvPr id="23" name="Text 17"/>
          <p:cNvSpPr/>
          <p:nvPr/>
        </p:nvSpPr>
        <p:spPr>
          <a:xfrm>
            <a:off x="7315200" y="4709160"/>
            <a:ext cx="4114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base, no draw, no per-scope charge. If a job doesn't close and fund, the work was free. All of the risk sits on this side of the table.</a:t>
            </a:r>
            <a:endParaRPr lang="en-US" sz="1200" dirty="0"/>
          </a:p>
        </p:txBody>
      </p:sp>
      <p:sp>
        <p:nvSpPr>
          <p:cNvPr id="24" name="Text 18"/>
          <p:cNvSpPr/>
          <p:nvPr/>
        </p:nvSpPr>
        <p:spPr>
          <a:xfrm>
            <a:off x="548640" y="647395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25" name="Text 19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slider: pay scales with what closes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097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 = % of RCV on scoped jobs, paid only when closed AND collected. </a:t>
            </a:r>
            <a:pPr indent="0" marL="0">
              <a:buNone/>
            </a:pPr>
            <a:r>
              <a:rPr lang="en-US" sz="145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% is set by the close rate on scoped leads, measured quarterly — better conversion, better rate, for both sides.</a:t>
            </a:r>
            <a:endParaRPr lang="en-US" sz="14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6424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645920"/>
                <a:gridCol w="1463040"/>
                <a:gridCol w="1463040"/>
                <a:gridCol w="1463040"/>
                <a:gridCol w="173736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 10 scoped leads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20% close (floor)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 (ceiling)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Fee (% of RCV)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810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810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810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810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810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Jobs closed &amp; collected (fee paid on these only)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A2A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of 10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A2A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 of 10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A2A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 of 10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A2A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 of 10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A2A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 of 10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Fee per closed $30,000 job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A2A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$600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A2A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$1,200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A2A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$1,800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A2A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$2,400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A2A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$3,000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Fee on the other 8 / 6 / 4 / 2 / 0 leads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E6E6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E6E6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E6E6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E6E6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E6E6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T^Rock net per closed job (after 50/50 PM split)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A2A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$4,950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A2A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$4,650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A2A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$4,350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A2A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$4,050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A2A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$3,750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T^Rock TOTAL net on the 10 leads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810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$9,900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810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$18,600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810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$26,100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810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$32,400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810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$37,500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EC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4892040"/>
            <a:ext cx="11064240" cy="868680"/>
          </a:xfrm>
          <a:prstGeom prst="roundRect">
            <a:avLst>
              <a:gd name="adj" fmla="val 6316"/>
            </a:avLst>
          </a:prstGeom>
          <a:solidFill>
            <a:srgbClr val="FBEAEC"/>
          </a:solidFill>
          <a:ln/>
        </p:spPr>
      </p:sp>
      <p:sp>
        <p:nvSpPr>
          <p:cNvPr id="6" name="Text 3"/>
          <p:cNvSpPr/>
          <p:nvPr/>
        </p:nvSpPr>
        <p:spPr>
          <a:xfrm>
            <a:off x="868680" y="5010912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“expensive” end of the slider is the one where T^Rock banks $37,500 on 10 leads instead of $9,900. </a:t>
            </a:r>
            <a:pPr indent="0" marL="0">
              <a:buNone/>
            </a:pPr>
            <a:r>
              <a:rPr lang="en-US" sz="14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10% fee only exists when all 10 closed and funded — it can never run ahead of collected cash.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548640" y="647395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net = jobs closed (of 10) × net per closed job. Rates between tiers interpolate linearly. Close rate measured on a trailing quarter.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the slider comes from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0972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 ends are anchored to prices the industry already pays. The slider just connects them.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5394960" cy="3200400"/>
          </a:xfrm>
          <a:prstGeom prst="roundRect">
            <a:avLst>
              <a:gd name="adj" fmla="val 2286"/>
            </a:avLst>
          </a:prstGeom>
          <a:solidFill>
            <a:srgbClr val="F5F5F5"/>
          </a:solidFill>
          <a:ln/>
        </p:spPr>
      </p:sp>
      <p:sp>
        <p:nvSpPr>
          <p:cNvPr id="5" name="Shape 3"/>
          <p:cNvSpPr/>
          <p:nvPr/>
        </p:nvSpPr>
        <p:spPr>
          <a:xfrm>
            <a:off x="822960" y="1920240"/>
            <a:ext cx="640080" cy="640080"/>
          </a:xfrm>
          <a:prstGeom prst="ellipse">
            <a:avLst/>
          </a:prstGeom>
          <a:solidFill>
            <a:srgbClr val="C8102E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9381" y="208666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45920" y="205740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floor — raw leads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822960" y="269748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2%</a:t>
            </a:r>
            <a:endParaRPr lang="en-US" sz="4800" dirty="0"/>
          </a:p>
        </p:txBody>
      </p:sp>
      <p:sp>
        <p:nvSpPr>
          <p:cNvPr id="9" name="Text 6"/>
          <p:cNvSpPr/>
          <p:nvPr/>
        </p:nvSpPr>
        <p:spPr>
          <a:xfrm>
            <a:off x="822960" y="3611880"/>
            <a:ext cx="4846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Scoped leads where most won't close. The fee collects on the few that do — priced like professional scope work, paid only on results. At a 20% close rate, 8 of every 10 scopes were written for free.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6217920" y="1645920"/>
            <a:ext cx="5394960" cy="3200400"/>
          </a:xfrm>
          <a:prstGeom prst="roundRect">
            <a:avLst>
              <a:gd name="adj" fmla="val 2286"/>
            </a:avLst>
          </a:prstGeom>
          <a:solidFill>
            <a:srgbClr val="111111"/>
          </a:solidFill>
          <a:ln/>
        </p:spPr>
      </p:sp>
      <p:sp>
        <p:nvSpPr>
          <p:cNvPr id="11" name="Shape 8"/>
          <p:cNvSpPr/>
          <p:nvPr/>
        </p:nvSpPr>
        <p:spPr>
          <a:xfrm>
            <a:off x="6492240" y="1920240"/>
            <a:ext cx="640080" cy="640080"/>
          </a:xfrm>
          <a:prstGeom prst="ellipse">
            <a:avLst/>
          </a:prstGeom>
          <a:solidFill>
            <a:srgbClr val="C8102E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58661" y="208666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315200" y="205740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ceiling — a done deal</a:t>
            </a:r>
            <a:endParaRPr lang="en-US" sz="1700" dirty="0"/>
          </a:p>
        </p:txBody>
      </p:sp>
      <p:sp>
        <p:nvSpPr>
          <p:cNvPr id="14" name="Text 10"/>
          <p:cNvSpPr/>
          <p:nvPr/>
        </p:nvSpPr>
        <p:spPr>
          <a:xfrm>
            <a:off x="6492240" y="269748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10%</a:t>
            </a:r>
            <a:endParaRPr lang="en-US" sz="4800" dirty="0"/>
          </a:p>
        </p:txBody>
      </p:sp>
      <p:sp>
        <p:nvSpPr>
          <p:cNvPr id="15" name="Text 11"/>
          <p:cNvSpPr/>
          <p:nvPr/>
        </p:nvSpPr>
        <p:spPr>
          <a:xfrm>
            <a:off x="6492240" y="3611880"/>
            <a:ext cx="4846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0E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lead that closes 100% of the time is a signed contract changing hands. That's a referral — and 10% of contract value is the standard referral fee. Nobody blinks at 10% for a job that's already sold.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548640" y="5120640"/>
            <a:ext cx="11064240" cy="914400"/>
          </a:xfrm>
          <a:prstGeom prst="roundRect">
            <a:avLst>
              <a:gd name="adj" fmla="val 6000"/>
            </a:avLst>
          </a:prstGeom>
          <a:solidFill>
            <a:srgbClr val="FBEAEC"/>
          </a:solidFill>
          <a:ln/>
        </p:spPr>
      </p:sp>
      <p:sp>
        <p:nvSpPr>
          <p:cNvPr id="17" name="Text 13"/>
          <p:cNvSpPr/>
          <p:nvPr/>
        </p:nvSpPr>
        <p:spPr>
          <a:xfrm>
            <a:off x="868680" y="5230368"/>
            <a:ext cx="10515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Everything between is interpolation. </a:t>
            </a:r>
            <a:pPr indent="0" marL="0">
              <a:buNone/>
            </a:pPr>
            <a:r>
              <a:rPr lang="en-US" sz="14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quarter's actual close rate measures how pre-sold the leads really were, and the fee settles to match — on results, not promises. The slider doesn't invent a price; it connects two prices the industry already accepts.</a:t>
            </a:r>
            <a:endParaRPr lang="en-US" sz="1400" dirty="0"/>
          </a:p>
        </p:txBody>
      </p:sp>
      <p:sp>
        <p:nvSpPr>
          <p:cNvPr id="18" name="Text 14"/>
          <p:cNvSpPr/>
          <p:nvPr/>
        </p:nvSpPr>
        <p:spPr>
          <a:xfrm>
            <a:off x="548640" y="647395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Referral benchmark: ~10% of contract value is the customary fee for handed-off, ready-to-sign work in residential contracting.</a:t>
            </a:r>
            <a:endParaRPr lang="en-US" sz="900" dirty="0"/>
          </a:p>
        </p:txBody>
      </p:sp>
      <p:sp>
        <p:nvSpPr>
          <p:cNvPr id="19" name="Text 15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the slider pays for itself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078992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100 scoped leads, five close rates. The fee % rises — the pie rises much faster.</a:t>
            </a:r>
            <a:endParaRPr lang="en-US" sz="15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600200"/>
          <a:ext cx="11064240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5532120"/>
            <a:ext cx="11064240" cy="731520"/>
          </a:xfrm>
          <a:prstGeom prst="roundRect">
            <a:avLst>
              <a:gd name="adj" fmla="val 7500"/>
            </a:avLst>
          </a:prstGeom>
          <a:solidFill>
            <a:srgbClr val="111111"/>
          </a:solidFill>
          <a:ln/>
        </p:spPr>
      </p:sp>
      <p:sp>
        <p:nvSpPr>
          <p:cNvPr id="6" name="Text 3"/>
          <p:cNvSpPr/>
          <p:nvPr/>
        </p:nvSpPr>
        <p:spPr>
          <a:xfrm>
            <a:off x="868680" y="5650992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of the slider = T^Rock's take is up nearly 4×. </a:t>
            </a:r>
            <a:pPr indent="0" marL="0">
              <a:buNone/>
            </a:pPr>
            <a:r>
              <a:rPr lang="en-US" sz="1500" dirty="0">
                <a:solidFill>
                  <a:srgbClr val="E6E6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higher fee is only ever paid out of jobs that already closed — the plan cannot cost money in a bad quarter.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548640" y="647395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closed job: $30,000 × 35% margin, less slider fee, split 50/50 with the PM. 100 scoped leads held constant across scenarios.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ways to base it — pick one, put it in writing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5394960" cy="3977640"/>
          </a:xfrm>
          <a:prstGeom prst="roundRect">
            <a:avLst>
              <a:gd name="adj" fmla="val 1839"/>
            </a:avLst>
          </a:prstGeom>
          <a:solidFill>
            <a:srgbClr val="F5F5F5"/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1645920"/>
            <a:ext cx="640080" cy="640080"/>
          </a:xfrm>
          <a:prstGeom prst="ellipse">
            <a:avLst/>
          </a:prstGeom>
          <a:solidFill>
            <a:srgbClr val="C8102E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9381" y="1812341"/>
            <a:ext cx="307238" cy="30723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645920" y="166420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 A — % of RCV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1645920" y="2048256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numbers shown so far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868680" y="2514600"/>
            <a:ext cx="47548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 straight off the carrier paperwork — no accounting disputes, ever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Insulated from cost overruns neither side controls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Slider band: 2% → 10% of RCV</a:t>
            </a:r>
            <a:endParaRPr lang="en-US" sz="1250" dirty="0"/>
          </a:p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 50% close: 5% × $30,000 = $1,500 per closed job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217920" y="1371600"/>
            <a:ext cx="5394960" cy="3977640"/>
          </a:xfrm>
          <a:prstGeom prst="roundRect">
            <a:avLst>
              <a:gd name="adj" fmla="val 1839"/>
            </a:avLst>
          </a:prstGeom>
          <a:solidFill>
            <a:srgbClr val="F5F5F5"/>
          </a:solidFill>
          <a:ln/>
        </p:spPr>
      </p:sp>
      <p:sp>
        <p:nvSpPr>
          <p:cNvPr id="10" name="Shape 7"/>
          <p:cNvSpPr/>
          <p:nvPr/>
        </p:nvSpPr>
        <p:spPr>
          <a:xfrm>
            <a:off x="6492240" y="1645920"/>
            <a:ext cx="640080" cy="640080"/>
          </a:xfrm>
          <a:prstGeom prst="ellipse">
            <a:avLst/>
          </a:prstGeom>
          <a:solidFill>
            <a:srgbClr val="C8102E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58661" y="1812341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315200" y="166420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 B — % of job profit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7315200" y="2048256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equivalent dollars, different base</a:t>
            </a:r>
            <a:endParaRPr lang="en-US" sz="1150" dirty="0"/>
          </a:p>
        </p:txBody>
      </p:sp>
      <p:sp>
        <p:nvSpPr>
          <p:cNvPr id="14" name="Text 10"/>
          <p:cNvSpPr/>
          <p:nvPr/>
        </p:nvSpPr>
        <p:spPr>
          <a:xfrm>
            <a:off x="6537960" y="2514600"/>
            <a:ext cx="47548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Scales with margin — the fee shrinks automatically on thin jobs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Requires open-book job costing both sides trust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Equivalent slider band: ~6% → 28% of job gross profit</a:t>
            </a:r>
            <a:endParaRPr lang="en-US" sz="1250" dirty="0"/>
          </a:p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 50% close: ~14% × $10,500 = ~$1,470 per closed job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548640" y="5532120"/>
            <a:ext cx="11064240" cy="731520"/>
          </a:xfrm>
          <a:prstGeom prst="roundRect">
            <a:avLst>
              <a:gd name="adj" fmla="val 7500"/>
            </a:avLst>
          </a:prstGeom>
          <a:solidFill>
            <a:srgbClr val="FBEAEC"/>
          </a:solidFill>
          <a:ln/>
        </p:spPr>
      </p:sp>
      <p:sp>
        <p:nvSpPr>
          <p:cNvPr id="16" name="Text 12"/>
          <p:cNvSpPr/>
          <p:nvPr/>
        </p:nvSpPr>
        <p:spPr>
          <a:xfrm>
            <a:off x="868680" y="56692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money either way at today's margins. </a:t>
            </a:r>
            <a:pPr indent="0" marL="0">
              <a:buNone/>
            </a:pPr>
            <a:r>
              <a:rPr lang="en-US" sz="145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is simpler to verify; B is tighter to margin. The only wrong answer is leaving the definition verbal.</a:t>
            </a:r>
            <a:endParaRPr lang="en-US" sz="1450" dirty="0"/>
          </a:p>
        </p:txBody>
      </p:sp>
      <p:sp>
        <p:nvSpPr>
          <p:cNvPr id="17" name="Text 13"/>
          <p:cNvSpPr/>
          <p:nvPr/>
        </p:nvSpPr>
        <p:spPr>
          <a:xfrm>
            <a:off x="548640" y="647395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18" name="Text 14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this costs vs. the alternatives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0972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other way to buy scope writing carries fixed cost or scales with paperwork. This one scales only with collected revenue.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520440" cy="3566160"/>
          </a:xfrm>
          <a:prstGeom prst="roundRect">
            <a:avLst>
              <a:gd name="adj" fmla="val 2078"/>
            </a:avLst>
          </a:prstGeom>
          <a:solidFill>
            <a:srgbClr val="F5F5F5"/>
          </a:solidFill>
          <a:ln/>
        </p:spPr>
      </p:sp>
      <p:sp>
        <p:nvSpPr>
          <p:cNvPr id="5" name="Shape 3"/>
          <p:cNvSpPr/>
          <p:nvPr/>
        </p:nvSpPr>
        <p:spPr>
          <a:xfrm>
            <a:off x="868680" y="2011680"/>
            <a:ext cx="685800" cy="685800"/>
          </a:xfrm>
          <a:prstGeom prst="ellipse">
            <a:avLst/>
          </a:prstGeom>
          <a:solidFill>
            <a:srgbClr val="C8102E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6988" y="2189988"/>
            <a:ext cx="329184" cy="32918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91640" y="21945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Staff estimator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68680" y="288036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$70–90k/yr</a:t>
            </a:r>
            <a:endParaRPr lang="en-US" sz="4000" dirty="0"/>
          </a:p>
        </p:txBody>
      </p:sp>
      <p:sp>
        <p:nvSpPr>
          <p:cNvPr id="9" name="Text 6"/>
          <p:cNvSpPr/>
          <p:nvPr/>
        </p:nvSpPr>
        <p:spPr>
          <a:xfrm>
            <a:off x="868680" y="3749040"/>
            <a:ext cx="29260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Salary paid whether jobs close or not. Pure fixed overhead, plus payroll burden — and someone still has to run lead targeting.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343400" y="1737360"/>
            <a:ext cx="3520440" cy="3566160"/>
          </a:xfrm>
          <a:prstGeom prst="roundRect">
            <a:avLst>
              <a:gd name="adj" fmla="val 2078"/>
            </a:avLst>
          </a:prstGeom>
          <a:solidFill>
            <a:srgbClr val="F5F5F5"/>
          </a:solidFill>
          <a:ln/>
        </p:spPr>
      </p:sp>
      <p:sp>
        <p:nvSpPr>
          <p:cNvPr id="11" name="Shape 8"/>
          <p:cNvSpPr/>
          <p:nvPr/>
        </p:nvSpPr>
        <p:spPr>
          <a:xfrm>
            <a:off x="4663440" y="2011680"/>
            <a:ext cx="685800" cy="685800"/>
          </a:xfrm>
          <a:prstGeom prst="ellipse">
            <a:avLst/>
          </a:prstGeom>
          <a:solidFill>
            <a:srgbClr val="C8102E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1748" y="2189988"/>
            <a:ext cx="329184" cy="329184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486400" y="21945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Supplement service</a:t>
            </a:r>
            <a:endParaRPr lang="en-US" sz="1500" dirty="0"/>
          </a:p>
        </p:txBody>
      </p:sp>
      <p:sp>
        <p:nvSpPr>
          <p:cNvPr id="14" name="Text 10"/>
          <p:cNvSpPr/>
          <p:nvPr/>
        </p:nvSpPr>
        <p:spPr>
          <a:xfrm>
            <a:off x="4663440" y="288036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25–33%</a:t>
            </a:r>
            <a:endParaRPr lang="en-US" sz="4000" dirty="0"/>
          </a:p>
        </p:txBody>
      </p:sp>
      <p:sp>
        <p:nvSpPr>
          <p:cNvPr id="15" name="Text 11"/>
          <p:cNvSpPr/>
          <p:nvPr/>
        </p:nvSpPr>
        <p:spPr>
          <a:xfrm>
            <a:off x="4663440" y="3749040"/>
            <a:ext cx="29260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every supplement dollar they add — cost scales with paperwork volume, not with closed jobs, and they touch nothing else.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8138160" y="1737360"/>
            <a:ext cx="3520440" cy="3566160"/>
          </a:xfrm>
          <a:prstGeom prst="roundRect">
            <a:avLst>
              <a:gd name="adj" fmla="val 2078"/>
            </a:avLst>
          </a:prstGeom>
          <a:solidFill>
            <a:srgbClr val="111111"/>
          </a:solidFill>
          <a:ln/>
        </p:spPr>
      </p:sp>
      <p:sp>
        <p:nvSpPr>
          <p:cNvPr id="17" name="Shape 13"/>
          <p:cNvSpPr/>
          <p:nvPr/>
        </p:nvSpPr>
        <p:spPr>
          <a:xfrm>
            <a:off x="8458200" y="2011680"/>
            <a:ext cx="685800" cy="685800"/>
          </a:xfrm>
          <a:prstGeom prst="ellipse">
            <a:avLst/>
          </a:prstGeom>
          <a:solidFill>
            <a:srgbClr val="C8102E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6508" y="2189988"/>
            <a:ext cx="329184" cy="329184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9281160" y="21945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plan</a:t>
            </a:r>
            <a:endParaRPr lang="en-US" sz="1500" dirty="0"/>
          </a:p>
        </p:txBody>
      </p:sp>
      <p:sp>
        <p:nvSpPr>
          <p:cNvPr id="20" name="Text 15"/>
          <p:cNvSpPr/>
          <p:nvPr/>
        </p:nvSpPr>
        <p:spPr>
          <a:xfrm>
            <a:off x="8458200" y="288036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$0</a:t>
            </a:r>
            <a:endParaRPr lang="en-US" sz="4000" dirty="0"/>
          </a:p>
        </p:txBody>
      </p:sp>
      <p:sp>
        <p:nvSpPr>
          <p:cNvPr id="21" name="Text 16"/>
          <p:cNvSpPr/>
          <p:nvPr/>
        </p:nvSpPr>
        <p:spPr>
          <a:xfrm>
            <a:off x="8458200" y="3749040"/>
            <a:ext cx="29260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0E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until a job closes AND the check clears. Scope writing and lead operations in one seat, booked as a job cost on collected revenue.</a:t>
            </a:r>
            <a:endParaRPr lang="en-US" sz="1200" dirty="0"/>
          </a:p>
        </p:txBody>
      </p:sp>
      <p:sp>
        <p:nvSpPr>
          <p:cNvPr id="22" name="Text 17"/>
          <p:cNvSpPr/>
          <p:nvPr/>
        </p:nvSpPr>
        <p:spPr>
          <a:xfrm>
            <a:off x="548640" y="647395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Estimator salary and supplement-fee ranges are industry-typical figures for the region, not quotes.</a:t>
            </a:r>
            <a:endParaRPr lang="en-US" sz="900" dirty="0"/>
          </a:p>
        </p:txBody>
      </p:sp>
      <p:sp>
        <p:nvSpPr>
          <p:cNvPr id="23" name="Text 18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48640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steps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685800" y="1600200"/>
            <a:ext cx="3474720" cy="3108960"/>
          </a:xfrm>
          <a:prstGeom prst="roundRect">
            <a:avLst>
              <a:gd name="adj" fmla="val 2353"/>
            </a:avLst>
          </a:prstGeom>
          <a:solidFill>
            <a:srgbClr val="1E1E1E"/>
          </a:solidFill>
          <a:ln/>
        </p:spPr>
      </p:sp>
      <p:sp>
        <p:nvSpPr>
          <p:cNvPr id="4" name="Shape 2"/>
          <p:cNvSpPr/>
          <p:nvPr/>
        </p:nvSpPr>
        <p:spPr>
          <a:xfrm>
            <a:off x="978408" y="1874520"/>
            <a:ext cx="640080" cy="640080"/>
          </a:xfrm>
          <a:prstGeom prst="ellipse">
            <a:avLst/>
          </a:prstGeom>
          <a:solidFill>
            <a:srgbClr val="C8102E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4829" y="2040941"/>
            <a:ext cx="307238" cy="30723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3154680" y="178308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400" b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4400" dirty="0"/>
          </a:p>
        </p:txBody>
      </p:sp>
      <p:sp>
        <p:nvSpPr>
          <p:cNvPr id="7" name="Text 4"/>
          <p:cNvSpPr/>
          <p:nvPr/>
        </p:nvSpPr>
        <p:spPr>
          <a:xfrm>
            <a:off x="978408" y="274320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Define the metrics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978408" y="3383280"/>
            <a:ext cx="2926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FCF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Close-rate window (trailing quarter), what counts as a scoped lead, attribution rules, and “collected” = funds received.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4434840" y="1600200"/>
            <a:ext cx="3474720" cy="3108960"/>
          </a:xfrm>
          <a:prstGeom prst="roundRect">
            <a:avLst>
              <a:gd name="adj" fmla="val 2353"/>
            </a:avLst>
          </a:prstGeom>
          <a:solidFill>
            <a:srgbClr val="1E1E1E"/>
          </a:solidFill>
          <a:ln/>
        </p:spPr>
      </p:sp>
      <p:sp>
        <p:nvSpPr>
          <p:cNvPr id="10" name="Shape 7"/>
          <p:cNvSpPr/>
          <p:nvPr/>
        </p:nvSpPr>
        <p:spPr>
          <a:xfrm>
            <a:off x="4727448" y="1874520"/>
            <a:ext cx="640080" cy="640080"/>
          </a:xfrm>
          <a:prstGeom prst="ellipse">
            <a:avLst/>
          </a:prstGeom>
          <a:solidFill>
            <a:srgbClr val="C8102E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3869" y="2040941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03720" y="178308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400" b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4400" dirty="0"/>
          </a:p>
        </p:txBody>
      </p:sp>
      <p:sp>
        <p:nvSpPr>
          <p:cNvPr id="13" name="Text 9"/>
          <p:cNvSpPr/>
          <p:nvPr/>
        </p:nvSpPr>
        <p:spPr>
          <a:xfrm>
            <a:off x="4727448" y="274320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Pick the base</a:t>
            </a:r>
            <a:endParaRPr lang="en-US" sz="1700" dirty="0"/>
          </a:p>
        </p:txBody>
      </p:sp>
      <p:sp>
        <p:nvSpPr>
          <p:cNvPr id="14" name="Text 10"/>
          <p:cNvSpPr/>
          <p:nvPr/>
        </p:nvSpPr>
        <p:spPr>
          <a:xfrm>
            <a:off x="4727448" y="3383280"/>
            <a:ext cx="2926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FCF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 A (% of RCV) or Option B (% of job profit). One page, signed, with the slider table attached.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8183880" y="1600200"/>
            <a:ext cx="3474720" cy="3108960"/>
          </a:xfrm>
          <a:prstGeom prst="roundRect">
            <a:avLst>
              <a:gd name="adj" fmla="val 2353"/>
            </a:avLst>
          </a:prstGeom>
          <a:solidFill>
            <a:srgbClr val="1E1E1E"/>
          </a:solidFill>
          <a:ln/>
        </p:spPr>
      </p:sp>
      <p:sp>
        <p:nvSpPr>
          <p:cNvPr id="16" name="Shape 12"/>
          <p:cNvSpPr/>
          <p:nvPr/>
        </p:nvSpPr>
        <p:spPr>
          <a:xfrm>
            <a:off x="8476488" y="1874520"/>
            <a:ext cx="640080" cy="640080"/>
          </a:xfrm>
          <a:prstGeom prst="ellipse">
            <a:avLst/>
          </a:prstGeom>
          <a:solidFill>
            <a:srgbClr val="C8102E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42909" y="2040941"/>
            <a:ext cx="307238" cy="307238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0652760" y="178308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400" b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476488" y="274320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True-up quarterly, review at 6 months</a:t>
            </a:r>
            <a:endParaRPr lang="en-US" sz="1700" dirty="0"/>
          </a:p>
        </p:txBody>
      </p:sp>
      <p:sp>
        <p:nvSpPr>
          <p:cNvPr id="20" name="Text 15"/>
          <p:cNvSpPr/>
          <p:nvPr/>
        </p:nvSpPr>
        <p:spPr>
          <a:xfrm>
            <a:off x="8476488" y="3383280"/>
            <a:ext cx="2926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FCF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Rate recalculates each quarter from actuals. Six-month check: if the numbers say adjust the curve, adjust the curve.</a:t>
            </a:r>
            <a:endParaRPr lang="en-US" sz="1250" dirty="0"/>
          </a:p>
        </p:txBody>
      </p:sp>
      <p:sp>
        <p:nvSpPr>
          <p:cNvPr id="21" name="Text 16"/>
          <p:cNvSpPr/>
          <p:nvPr/>
        </p:nvSpPr>
        <p:spPr>
          <a:xfrm>
            <a:off x="685800" y="5120640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Paid on collections. Priced by close rate. Free until the check clears.</a:t>
            </a:r>
            <a:endParaRPr lang="en-US" sz="2000" dirty="0"/>
          </a:p>
        </p:txBody>
      </p:sp>
      <p:sp>
        <p:nvSpPr>
          <p:cNvPr id="22" name="Text 17"/>
          <p:cNvSpPr/>
          <p:nvPr/>
        </p:nvSpPr>
        <p:spPr>
          <a:xfrm>
            <a:off x="685800" y="576072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DBD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 sides get richer on exactly the same event: a closed, funded roof.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2026-08-21T03:22:59Z</dcterms:created>
  <dcterms:modified xsi:type="dcterms:W3CDTF">2026-08-21T03:22:59Z</dcterms:modified>
</cp:coreProperties>
</file>