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777240"/>
            <a:ext cx="822960" cy="8229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2148840"/>
            <a:ext cx="10789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T^ROCK PERFORMANCE PAY PLAN</a:t>
            </a:r>
            <a:endParaRPr lang="en-US" sz="3600" dirty="0"/>
          </a:p>
        </p:txBody>
      </p:sp>
      <p:sp>
        <p:nvSpPr>
          <p:cNvPr id="4" name="Text 1"/>
          <p:cNvSpPr/>
          <p:nvPr/>
        </p:nvSpPr>
        <p:spPr>
          <a:xfrm>
            <a:off x="713232" y="32004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Storm-targeted lead generation — paid only on jobs that close and collect</a:t>
            </a:r>
            <a:endParaRPr lang="en-US" sz="2100" dirty="0"/>
          </a:p>
        </p:txBody>
      </p:sp>
      <p:sp>
        <p:nvSpPr>
          <p:cNvPr id="5" name="Text 2"/>
          <p:cNvSpPr/>
          <p:nvPr/>
        </p:nvSpPr>
        <p:spPr>
          <a:xfrm>
            <a:off x="713232" y="53949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Proposed structure</a:t>
            </a:r>
            <a:pPr indent="0" marL="0">
              <a:buNone/>
            </a:pPr>
            <a:r>
              <a:rPr lang="en-US" sz="14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·   T^Rock Contracting   ·   August 2026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713232" y="58064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fixed cost. The fee exists only when a check clears.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this seat delivers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functions, one fee — everything below is directly attributable to individual jobs.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394960" cy="1965960"/>
          </a:xfrm>
          <a:prstGeom prst="roundRect">
            <a:avLst>
              <a:gd name="adj" fmla="val 3721"/>
            </a:avLst>
          </a:prstGeom>
          <a:solidFill>
            <a:srgbClr val="F5F5F5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103120"/>
            <a:ext cx="640080" cy="6400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645920" y="2048256"/>
            <a:ext cx="4114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Damage-verified lead lists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1645920" y="2633472"/>
            <a:ext cx="411480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Storm-mapped, filter-qualified homeowners — owner-occupied, right roof age, right income band — handed to reps as ready-to-knock lists.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217920" y="1828800"/>
            <a:ext cx="5394960" cy="1965960"/>
          </a:xfrm>
          <a:prstGeom prst="roundRect">
            <a:avLst>
              <a:gd name="adj" fmla="val 3721"/>
            </a:avLst>
          </a:prstGeom>
          <a:solidFill>
            <a:srgbClr val="F5F5F5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2103120"/>
            <a:ext cx="640080" cy="64008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7315200" y="2048256"/>
            <a:ext cx="4114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Storm response &amp; territory ops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7315200" y="2633472"/>
            <a:ext cx="411480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Runs the damage-map platform: alerts, territories, routed lists, outreach timing. Reps are on verified-damage doors while competitors are reading the weather.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548640" y="4023360"/>
            <a:ext cx="5394960" cy="1965960"/>
          </a:xfrm>
          <a:prstGeom prst="roundRect">
            <a:avLst>
              <a:gd name="adj" fmla="val 3721"/>
            </a:avLst>
          </a:prstGeom>
          <a:solidFill>
            <a:srgbClr val="F5F5F5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4297680"/>
            <a:ext cx="640080" cy="64008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645920" y="4242816"/>
            <a:ext cx="4114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 booked as a job cost</a:t>
            </a:r>
            <a:endParaRPr lang="en-US" sz="1500" dirty="0"/>
          </a:p>
        </p:txBody>
      </p:sp>
      <p:sp>
        <p:nvSpPr>
          <p:cNvPr id="15" name="Text 10"/>
          <p:cNvSpPr/>
          <p:nvPr/>
        </p:nvSpPr>
        <p:spPr>
          <a:xfrm>
            <a:off x="1645920" y="4828032"/>
            <a:ext cx="411480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fee attaches to a specific closed job, so it lands in job costing — not overhead. Margins per job stay honest and auditable.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6217920" y="4023360"/>
            <a:ext cx="5394960" cy="1965960"/>
          </a:xfrm>
          <a:prstGeom prst="roundRect">
            <a:avLst>
              <a:gd name="adj" fmla="val 3721"/>
            </a:avLst>
          </a:prstGeom>
          <a:solidFill>
            <a:srgbClr val="F5F5F5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2240" y="4297680"/>
            <a:ext cx="640080" cy="64008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7315200" y="4242816"/>
            <a:ext cx="4114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Paid on collected, not promised</a:t>
            </a:r>
            <a:endParaRPr lang="en-US" sz="1500" dirty="0"/>
          </a:p>
        </p:txBody>
      </p:sp>
      <p:sp>
        <p:nvSpPr>
          <p:cNvPr id="19" name="Text 13"/>
          <p:cNvSpPr/>
          <p:nvPr/>
        </p:nvSpPr>
        <p:spPr>
          <a:xfrm>
            <a:off x="7315200" y="4828032"/>
            <a:ext cx="411480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base, no draw, no per-lead charge. If a job doesn't close and fund, the lead was free. All of the risk sits on this side of the table.</a:t>
            </a:r>
            <a:endParaRPr lang="en-US" sz="1200" dirty="0"/>
          </a:p>
        </p:txBody>
      </p:sp>
      <p:sp>
        <p:nvSpPr>
          <p:cNvPr id="20" name="Text 14"/>
          <p:cNvSpPr/>
          <p:nvPr/>
        </p:nvSpPr>
        <p:spPr>
          <a:xfrm>
            <a:off x="54864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1" name="Text 15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slider: pay scales with what closes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 = % of job profit on jobs from provided leads, booked as a job expense, paid only when closed AND collected. </a:t>
            </a:r>
            <a:pPr indent="0" marL="0">
              <a:buNone/>
            </a:pPr>
            <a:r>
              <a:rPr lang="en-US" sz="13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% is set by the close rate on those leads, measured quarterly. </a:t>
            </a:r>
            <a:pPr indent="0" marL="0">
              <a:buNone/>
            </a:pPr>
            <a:r>
              <a:rPr lang="en-US" sz="13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Cash flow: the 2% floor is paid as each job funds; quarter-end reconciliation trues up to the earned average rate — T^Rock never prepays a rate, and nothing is ever clawed back.</a:t>
            </a:r>
            <a:endParaRPr lang="en-US" sz="13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20240"/>
          <a:ext cx="110642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645920"/>
                <a:gridCol w="1463040"/>
                <a:gridCol w="1463040"/>
                <a:gridCol w="1463040"/>
                <a:gridCol w="173736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 10 delivered leads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20% close (floor)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 (ceiling)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Fee (% of job profit)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10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10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10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10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10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Jobs closed &amp; collected (fee paid on these only)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of 10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 of 10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 of 10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 of 10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of 10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Fee per closed job ($10,500 profit)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$210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$420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$630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$840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$1,050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Fee on the other 8 / 6 / 4 / 2 / 0 leads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E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E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E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E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E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T^Rock net per closed job (fee splits like any job cost)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$5,145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$5,040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$4,935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$4,830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$4,725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T^Rock TOTAL net on the 10 leads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10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$10,290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10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$20,160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10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$29,610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10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$38,640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10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$47,250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C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4892040"/>
            <a:ext cx="11064240" cy="868680"/>
          </a:xfrm>
          <a:prstGeom prst="roundRect">
            <a:avLst>
              <a:gd name="adj" fmla="val 6316"/>
            </a:avLst>
          </a:prstGeom>
          <a:solidFill>
            <a:srgbClr val="FBEAEC"/>
          </a:solidFill>
          <a:ln/>
        </p:spPr>
      </p:sp>
      <p:sp>
        <p:nvSpPr>
          <p:cNvPr id="6" name="Text 3"/>
          <p:cNvSpPr/>
          <p:nvPr/>
        </p:nvSpPr>
        <p:spPr>
          <a:xfrm>
            <a:off x="868680" y="5010912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“expensive” end of the slider is the one where T^Rock banks $47,250 on 10 leads instead of $10,290. </a:t>
            </a:r>
            <a:pPr indent="0" marL="0">
              <a:buNone/>
            </a:pPr>
            <a:r>
              <a:rPr lang="en-US" sz="14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10% fee only exists when all 10 closed and funded — it can never run ahead of collected cash.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54864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Typical job: $30,000 RCV at 35% margin = $10,500 profit; fee is a job expense, so profit after fee splits 50/50. Close rate is cohort-based — a lead belongs to the quarter it was delivered; late closers re-rate that cohort (180-day window), so the rate only moves up.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the slider comes from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ends are anchored to prices the industry already pays. The slider just connects them.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394960" cy="3200400"/>
          </a:xfrm>
          <a:prstGeom prst="roundRect">
            <a:avLst>
              <a:gd name="adj" fmla="val 2286"/>
            </a:avLst>
          </a:prstGeom>
          <a:solidFill>
            <a:srgbClr val="F5F5F5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920240"/>
            <a:ext cx="640080" cy="6400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645920" y="205740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floor — raw leads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822960" y="269748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2%</a:t>
            </a:r>
            <a:endParaRPr lang="en-US" sz="4800" dirty="0"/>
          </a:p>
        </p:txBody>
      </p:sp>
      <p:sp>
        <p:nvSpPr>
          <p:cNvPr id="8" name="Text 5"/>
          <p:cNvSpPr/>
          <p:nvPr/>
        </p:nvSpPr>
        <p:spPr>
          <a:xfrm>
            <a:off x="822960" y="3611880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job profit — $210 on a typical roof. Raw lead lists where most won't close; the fee collects on the few that do. At a 20% close rate, 8 of every 10 leads were handed over for free.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217920" y="1645920"/>
            <a:ext cx="5394960" cy="3200400"/>
          </a:xfrm>
          <a:prstGeom prst="roundRect">
            <a:avLst>
              <a:gd name="adj" fmla="val 2286"/>
            </a:avLst>
          </a:prstGeom>
          <a:solidFill>
            <a:srgbClr val="111111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920240"/>
            <a:ext cx="640080" cy="64008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315200" y="205740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ceiling — a done deal</a:t>
            </a:r>
            <a:endParaRPr lang="en-US" sz="1700" dirty="0"/>
          </a:p>
        </p:txBody>
      </p:sp>
      <p:sp>
        <p:nvSpPr>
          <p:cNvPr id="12" name="Text 8"/>
          <p:cNvSpPr/>
          <p:nvPr/>
        </p:nvSpPr>
        <p:spPr>
          <a:xfrm>
            <a:off x="6492240" y="269748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</a:t>
            </a:r>
            <a:endParaRPr lang="en-US" sz="4800" dirty="0"/>
          </a:p>
        </p:txBody>
      </p:sp>
      <p:sp>
        <p:nvSpPr>
          <p:cNvPr id="13" name="Text 9"/>
          <p:cNvSpPr/>
          <p:nvPr/>
        </p:nvSpPr>
        <p:spPr>
          <a:xfrm>
            <a:off x="6492240" y="3611880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lead that closes 100% of the time is a signed contract changing hands — a referral. The customary referral fee is ~10% of contract value; 10% of profit is $1,050 on a $30,000 roof — just 3.5% of contract. A third of the going rate for a done deal.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548640" y="5120640"/>
            <a:ext cx="11064240" cy="914400"/>
          </a:xfrm>
          <a:prstGeom prst="roundRect">
            <a:avLst>
              <a:gd name="adj" fmla="val 6000"/>
            </a:avLst>
          </a:prstGeom>
          <a:solidFill>
            <a:srgbClr val="FBEAEC"/>
          </a:solidFill>
          <a:ln/>
        </p:spPr>
      </p:sp>
      <p:sp>
        <p:nvSpPr>
          <p:cNvPr id="15" name="Text 11"/>
          <p:cNvSpPr/>
          <p:nvPr/>
        </p:nvSpPr>
        <p:spPr>
          <a:xfrm>
            <a:off x="868680" y="5230368"/>
            <a:ext cx="10515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Everything between is interpolation. </a:t>
            </a:r>
            <a:pPr indent="0" marL="0">
              <a:buNone/>
            </a:pPr>
            <a:r>
              <a:rPr lang="en-US" sz="14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quarter's actual close rate measures how pre-sold the leads really were, and the fee settles to match — on results, not promises. The slider doesn't invent a price; it connects two prices the industry already accepts.</a:t>
            </a:r>
            <a:endParaRPr lang="en-US" sz="1400" dirty="0"/>
          </a:p>
        </p:txBody>
      </p:sp>
      <p:sp>
        <p:nvSpPr>
          <p:cNvPr id="16" name="Text 12"/>
          <p:cNvSpPr/>
          <p:nvPr/>
        </p:nvSpPr>
        <p:spPr>
          <a:xfrm>
            <a:off x="54864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Referral benchmark: ~10% of contract value is the customary fee for handed-off, ready-to-sign work — this plan's ceiling works out to about a third of that.</a:t>
            </a:r>
            <a:endParaRPr lang="en-US" sz="900" dirty="0"/>
          </a:p>
        </p:txBody>
      </p:sp>
      <p:sp>
        <p:nvSpPr>
          <p:cNvPr id="17" name="Text 13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the slider pays for itself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78992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100 delivered leads, five close rates. The fee % rises — the pie rises much faster.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T^Rock net profit per 100 delivered leads  (after fee &amp; PM split)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85800" y="4846320"/>
            <a:ext cx="10789920" cy="1371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6" name="Shape 4"/>
          <p:cNvSpPr/>
          <p:nvPr/>
        </p:nvSpPr>
        <p:spPr>
          <a:xfrm>
            <a:off x="1005840" y="4308653"/>
            <a:ext cx="1371600" cy="537667"/>
          </a:xfrm>
          <a:prstGeom prst="roundRect">
            <a:avLst>
              <a:gd name="adj" fmla="val 5102"/>
            </a:avLst>
          </a:prstGeom>
          <a:solidFill>
            <a:srgbClr val="B9BDC2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3961181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$102,900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85800" y="491947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 close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200400" y="3792931"/>
            <a:ext cx="1371600" cy="1053389"/>
          </a:xfrm>
          <a:prstGeom prst="roundRect">
            <a:avLst>
              <a:gd name="adj" fmla="val 2604"/>
            </a:avLst>
          </a:prstGeom>
          <a:solidFill>
            <a:srgbClr val="B9BDC2"/>
          </a:solidFill>
          <a:ln/>
        </p:spPr>
      </p:sp>
      <p:sp>
        <p:nvSpPr>
          <p:cNvPr id="10" name="Text 8"/>
          <p:cNvSpPr/>
          <p:nvPr/>
        </p:nvSpPr>
        <p:spPr>
          <a:xfrm>
            <a:off x="2880360" y="3445459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$201,600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880360" y="491947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40% close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394960" y="3299155"/>
            <a:ext cx="1371600" cy="1547165"/>
          </a:xfrm>
          <a:prstGeom prst="roundRect">
            <a:avLst>
              <a:gd name="adj" fmla="val 2000"/>
            </a:avLst>
          </a:prstGeom>
          <a:solidFill>
            <a:srgbClr val="B9BDC2"/>
          </a:solidFill>
          <a:ln/>
        </p:spPr>
      </p:sp>
      <p:sp>
        <p:nvSpPr>
          <p:cNvPr id="13" name="Text 11"/>
          <p:cNvSpPr/>
          <p:nvPr/>
        </p:nvSpPr>
        <p:spPr>
          <a:xfrm>
            <a:off x="5074920" y="2951683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$296,100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5074920" y="491947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60% close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589520" y="2827325"/>
            <a:ext cx="1371600" cy="2018995"/>
          </a:xfrm>
          <a:prstGeom prst="roundRect">
            <a:avLst>
              <a:gd name="adj" fmla="val 2000"/>
            </a:avLst>
          </a:prstGeom>
          <a:solidFill>
            <a:srgbClr val="B9BDC2"/>
          </a:solidFill>
          <a:ln/>
        </p:spPr>
      </p:sp>
      <p:sp>
        <p:nvSpPr>
          <p:cNvPr id="16" name="Text 14"/>
          <p:cNvSpPr/>
          <p:nvPr/>
        </p:nvSpPr>
        <p:spPr>
          <a:xfrm>
            <a:off x="7269480" y="2479853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$386,400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7269480" y="491947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 close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9784080" y="2377440"/>
            <a:ext cx="1371600" cy="2468880"/>
          </a:xfrm>
          <a:prstGeom prst="roundRect">
            <a:avLst>
              <a:gd name="adj" fmla="val 2000"/>
            </a:avLst>
          </a:prstGeom>
          <a:solidFill>
            <a:srgbClr val="C8102E"/>
          </a:solidFill>
          <a:ln/>
        </p:spPr>
      </p:sp>
      <p:sp>
        <p:nvSpPr>
          <p:cNvPr id="19" name="Text 17"/>
          <p:cNvSpPr/>
          <p:nvPr/>
        </p:nvSpPr>
        <p:spPr>
          <a:xfrm>
            <a:off x="9464040" y="2029968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$472,500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9464040" y="491947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close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48640" y="5532120"/>
            <a:ext cx="11064240" cy="731520"/>
          </a:xfrm>
          <a:prstGeom prst="roundRect">
            <a:avLst>
              <a:gd name="adj" fmla="val 7500"/>
            </a:avLst>
          </a:prstGeom>
          <a:solidFill>
            <a:srgbClr val="111111"/>
          </a:solidFill>
          <a:ln/>
        </p:spPr>
      </p:sp>
      <p:sp>
        <p:nvSpPr>
          <p:cNvPr id="22" name="Text 20"/>
          <p:cNvSpPr/>
          <p:nvPr/>
        </p:nvSpPr>
        <p:spPr>
          <a:xfrm>
            <a:off x="868680" y="5650992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of the slider = T^Rock's take is up 4.6×. </a:t>
            </a:r>
            <a:pPr indent="0" marL="0">
              <a:buNone/>
            </a:pPr>
            <a:r>
              <a:rPr lang="en-US" sz="1500" dirty="0">
                <a:solidFill>
                  <a:srgbClr val="E6E6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higher fee is only ever paid out of jobs that already closed — the plan cannot cost money in a bad quarter.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54864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closed job: $30,000 × 35% margin = $10,500, less slider fee (a job expense), split 50/50 with the PM. 100 delivered leads held constant.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ways to base it — pick one, put it in writing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5394960" cy="3977640"/>
          </a:xfrm>
          <a:prstGeom prst="roundRect">
            <a:avLst>
              <a:gd name="adj" fmla="val 1839"/>
            </a:avLst>
          </a:prstGeom>
          <a:solidFill>
            <a:srgbClr val="F5F5F5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645920"/>
            <a:ext cx="640080" cy="6400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645920" y="166420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 A — % of job profit</a:t>
            </a:r>
            <a:endParaRPr lang="en-US" sz="1700" dirty="0"/>
          </a:p>
        </p:txBody>
      </p:sp>
      <p:sp>
        <p:nvSpPr>
          <p:cNvPr id="6" name="Text 3"/>
          <p:cNvSpPr/>
          <p:nvPr/>
        </p:nvSpPr>
        <p:spPr>
          <a:xfrm>
            <a:off x="1645920" y="2048256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plan as shown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868680" y="2514600"/>
            <a:ext cx="47548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Booked as a job expense, so it splits with the PM like every other job cost — each side effectively carries half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Worked example: $30,000 roof → $10,500 profit → 10% fee = $1,050 → $9,450 splits 50/50 → T^Rock nets $4,725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 shrinks automatically on thin-margin jobs — T^Rock is never overcharged on a bad one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Needs job costing both sides can see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217920" y="1371600"/>
            <a:ext cx="5394960" cy="3977640"/>
          </a:xfrm>
          <a:prstGeom prst="roundRect">
            <a:avLst>
              <a:gd name="adj" fmla="val 1839"/>
            </a:avLst>
          </a:prstGeom>
          <a:solidFill>
            <a:srgbClr val="F5F5F5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645920"/>
            <a:ext cx="640080" cy="64008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7315200" y="166420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 B — % of RCV</a:t>
            </a:r>
            <a:endParaRPr lang="en-US" sz="1700" dirty="0"/>
          </a:p>
        </p:txBody>
      </p:sp>
      <p:sp>
        <p:nvSpPr>
          <p:cNvPr id="11" name="Text 7"/>
          <p:cNvSpPr/>
          <p:nvPr/>
        </p:nvSpPr>
        <p:spPr>
          <a:xfrm>
            <a:off x="7315200" y="2048256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dollars, different base</a:t>
            </a:r>
            <a:endParaRPr lang="en-US" sz="1150" dirty="0"/>
          </a:p>
        </p:txBody>
      </p:sp>
      <p:sp>
        <p:nvSpPr>
          <p:cNvPr id="12" name="Text 8"/>
          <p:cNvSpPr/>
          <p:nvPr/>
        </p:nvSpPr>
        <p:spPr>
          <a:xfrm>
            <a:off x="6537960" y="2514600"/>
            <a:ext cx="47548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Equivalent band at today's margins: 0.7% → 3.5% of contract value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straight off the carrier paperwork — no job-costing disputes, ever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Insulated from cost overruns; the fee holds even if margins slip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this if open-book job costing is a sticking point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548640" y="5532120"/>
            <a:ext cx="11064240" cy="731520"/>
          </a:xfrm>
          <a:prstGeom prst="roundRect">
            <a:avLst>
              <a:gd name="adj" fmla="val 7500"/>
            </a:avLst>
          </a:prstGeom>
          <a:solidFill>
            <a:srgbClr val="FBEAEC"/>
          </a:solidFill>
          <a:ln/>
        </p:spPr>
      </p:sp>
      <p:sp>
        <p:nvSpPr>
          <p:cNvPr id="14" name="Text 10"/>
          <p:cNvSpPr/>
          <p:nvPr/>
        </p:nvSpPr>
        <p:spPr>
          <a:xfrm>
            <a:off x="868680" y="56692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money either way at today's margins. </a:t>
            </a:r>
            <a:pPr indent="0" marL="0">
              <a:buNone/>
            </a:pPr>
            <a:r>
              <a:rPr lang="en-US" sz="145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rides the profit pool and splits with the PM; B is simpler to audit. The only wrong answer is leaving the definition verbal.</a:t>
            </a:r>
            <a:endParaRPr lang="en-US" sz="1450" dirty="0"/>
          </a:p>
        </p:txBody>
      </p:sp>
      <p:sp>
        <p:nvSpPr>
          <p:cNvPr id="15" name="Text 11"/>
          <p:cNvSpPr/>
          <p:nvPr/>
        </p:nvSpPr>
        <p:spPr>
          <a:xfrm>
            <a:off x="54864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this costs vs. the alternatives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other way to buy leads charges up front, win or lose. This one bills only against collected revenue.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520440" cy="3566160"/>
          </a:xfrm>
          <a:prstGeom prst="roundRect">
            <a:avLst>
              <a:gd name="adj" fmla="val 2078"/>
            </a:avLst>
          </a:prstGeom>
          <a:solidFill>
            <a:srgbClr val="F5F5F5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2011680"/>
            <a:ext cx="685800" cy="685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691640" y="2121408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 sellers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868680" y="288036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$150–300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868680" y="3749040"/>
            <a:ext cx="29260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shared Angi-style lead, paid up front whether it closes or not — and the same homeowner is resold to 3–4 competitors.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343400" y="1737360"/>
            <a:ext cx="3520440" cy="3566160"/>
          </a:xfrm>
          <a:prstGeom prst="roundRect">
            <a:avLst>
              <a:gd name="adj" fmla="val 2078"/>
            </a:avLst>
          </a:prstGeom>
          <a:solidFill>
            <a:srgbClr val="F5F5F5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2011680"/>
            <a:ext cx="685800" cy="6858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486400" y="2121408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Paid ads (Google / LSA)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4663440" y="288036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$75–250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663440" y="3749040"/>
            <a:ext cx="29260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inbound lead — spend is committed before anyone knocks, and quality swings wildly from click to click.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8138160" y="1737360"/>
            <a:ext cx="3520440" cy="3566160"/>
          </a:xfrm>
          <a:prstGeom prst="roundRect">
            <a:avLst>
              <a:gd name="adj" fmla="val 2078"/>
            </a:avLst>
          </a:prstGeom>
          <a:solidFill>
            <a:srgbClr val="111111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8200" y="2011680"/>
            <a:ext cx="685800" cy="68580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9281160" y="2121408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plan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8458200" y="288036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458200" y="3749040"/>
            <a:ext cx="29260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until a job closes AND the check clears. Damage-verified, exclusive leads, billed as a job cost on collected revenue.</a:t>
            </a:r>
            <a:endParaRPr lang="en-US" sz="1200" dirty="0"/>
          </a:p>
        </p:txBody>
      </p:sp>
      <p:sp>
        <p:nvSpPr>
          <p:cNvPr id="19" name="Text 14"/>
          <p:cNvSpPr/>
          <p:nvPr/>
        </p:nvSpPr>
        <p:spPr>
          <a:xfrm>
            <a:off x="54864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Per-lead price ranges are typical published figures for roofing, not quotes.</a:t>
            </a:r>
            <a:endParaRPr lang="en-US" sz="900" dirty="0"/>
          </a:p>
        </p:txBody>
      </p:sp>
      <p:sp>
        <p:nvSpPr>
          <p:cNvPr id="20" name="Text 15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4864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steps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685800" y="1600200"/>
            <a:ext cx="3474720" cy="3108960"/>
          </a:xfrm>
          <a:prstGeom prst="roundRect">
            <a:avLst>
              <a:gd name="adj" fmla="val 2353"/>
            </a:avLst>
          </a:prstGeom>
          <a:solidFill>
            <a:srgbClr val="1E1E1E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8408" y="1874520"/>
            <a:ext cx="640080" cy="6400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154680" y="178308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4400" dirty="0"/>
          </a:p>
        </p:txBody>
      </p:sp>
      <p:sp>
        <p:nvSpPr>
          <p:cNvPr id="6" name="Text 3"/>
          <p:cNvSpPr/>
          <p:nvPr/>
        </p:nvSpPr>
        <p:spPr>
          <a:xfrm>
            <a:off x="978408" y="274320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 the metrics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978408" y="3383280"/>
            <a:ext cx="292608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FCF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 rate = funded jobs ÷ delivered leads. A delivered lead = homeowner + property accepted by a rep onto a route; raw map records don't count. A lead belongs to the quarter delivered (180-day window).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4434840" y="1600200"/>
            <a:ext cx="3474720" cy="3108960"/>
          </a:xfrm>
          <a:prstGeom prst="roundRect">
            <a:avLst>
              <a:gd name="adj" fmla="val 2353"/>
            </a:avLst>
          </a:prstGeom>
          <a:solidFill>
            <a:srgbClr val="1E1E1E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7448" y="1874520"/>
            <a:ext cx="640080" cy="64008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903720" y="178308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4400" dirty="0"/>
          </a:p>
        </p:txBody>
      </p:sp>
      <p:sp>
        <p:nvSpPr>
          <p:cNvPr id="11" name="Text 7"/>
          <p:cNvSpPr/>
          <p:nvPr/>
        </p:nvSpPr>
        <p:spPr>
          <a:xfrm>
            <a:off x="4727448" y="274320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the base</a:t>
            </a:r>
            <a:endParaRPr lang="en-US" sz="1700" dirty="0"/>
          </a:p>
        </p:txBody>
      </p:sp>
      <p:sp>
        <p:nvSpPr>
          <p:cNvPr id="12" name="Text 8"/>
          <p:cNvSpPr/>
          <p:nvPr/>
        </p:nvSpPr>
        <p:spPr>
          <a:xfrm>
            <a:off x="4727448" y="3383280"/>
            <a:ext cx="292608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FCF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 A (% of job profit, splits like a job cost) or Option B (% of RCV). One page, signed, with the slider table attached.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8183880" y="1600200"/>
            <a:ext cx="3474720" cy="3108960"/>
          </a:xfrm>
          <a:prstGeom prst="roundRect">
            <a:avLst>
              <a:gd name="adj" fmla="val 2353"/>
            </a:avLst>
          </a:prstGeom>
          <a:solidFill>
            <a:srgbClr val="1E1E1E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6488" y="1874520"/>
            <a:ext cx="640080" cy="6400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0652760" y="178308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4400" dirty="0"/>
          </a:p>
        </p:txBody>
      </p:sp>
      <p:sp>
        <p:nvSpPr>
          <p:cNvPr id="16" name="Text 11"/>
          <p:cNvSpPr/>
          <p:nvPr/>
        </p:nvSpPr>
        <p:spPr>
          <a:xfrm>
            <a:off x="8476488" y="274320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True-up quarterly, review at 6 months</a:t>
            </a:r>
            <a:endParaRPr lang="en-US" sz="1700" dirty="0"/>
          </a:p>
        </p:txBody>
      </p:sp>
      <p:sp>
        <p:nvSpPr>
          <p:cNvPr id="17" name="Text 12"/>
          <p:cNvSpPr/>
          <p:nvPr/>
        </p:nvSpPr>
        <p:spPr>
          <a:xfrm>
            <a:off x="8476488" y="3383280"/>
            <a:ext cx="292608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FCF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2% floor paid as jobs fund; each quarter-end re-rates every open cohort and pays the difference. Six-month check: if the numbers say adjust the curve, adjust it.</a:t>
            </a:r>
            <a:endParaRPr lang="en-US" sz="1150" dirty="0"/>
          </a:p>
        </p:txBody>
      </p:sp>
      <p:sp>
        <p:nvSpPr>
          <p:cNvPr id="18" name="Text 13"/>
          <p:cNvSpPr/>
          <p:nvPr/>
        </p:nvSpPr>
        <p:spPr>
          <a:xfrm>
            <a:off x="685800" y="512064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Paid on collections. Priced by close rate. Free until the check clears.</a:t>
            </a:r>
            <a:endParaRPr lang="en-US" sz="2000" dirty="0"/>
          </a:p>
        </p:txBody>
      </p:sp>
      <p:sp>
        <p:nvSpPr>
          <p:cNvPr id="19" name="Text 14"/>
          <p:cNvSpPr/>
          <p:nvPr/>
        </p:nvSpPr>
        <p:spPr>
          <a:xfrm>
            <a:off x="685800" y="576072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DBD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sides get richer on exactly the same event: a closed, funded roof.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2026-08-21T05:01:48Z</dcterms:created>
  <dcterms:modified xsi:type="dcterms:W3CDTF">2026-08-21T05:01:48Z</dcterms:modified>
</cp:coreProperties>
</file>