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777240"/>
            <a:ext cx="822960" cy="822960"/>
          </a:xfrm>
          <a:prstGeom prst="rect">
            <a:avLst/>
          </a:prstGeom>
        </p:spPr>
      </p:pic>
      <p:sp>
        <p:nvSpPr>
          <p:cNvPr id="3" name="Text 0"/>
          <p:cNvSpPr/>
          <p:nvPr/>
        </p:nvSpPr>
        <p:spPr>
          <a:xfrm>
            <a:off x="685800" y="2148840"/>
            <a:ext cx="10789920" cy="100584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STORM SCOUT  ×  T^ROCK</a:t>
            </a:r>
            <a:endParaRPr lang="en-US" sz="4600" dirty="0"/>
          </a:p>
        </p:txBody>
      </p:sp>
      <p:sp>
        <p:nvSpPr>
          <p:cNvPr id="4" name="Text 1"/>
          <p:cNvSpPr/>
          <p:nvPr/>
        </p:nvSpPr>
        <p:spPr>
          <a:xfrm>
            <a:off x="713232" y="3200400"/>
            <a:ext cx="10515600" cy="548640"/>
          </a:xfrm>
          <a:prstGeom prst="rect">
            <a:avLst/>
          </a:prstGeom>
          <a:noFill/>
          <a:ln/>
        </p:spPr>
        <p:txBody>
          <a:bodyPr wrap="square" lIns="0" tIns="0" rIns="0" bIns="0" rtlCol="0" anchor="ctr"/>
          <a:lstStyle/>
          <a:p>
            <a:pPr indent="0" marL="0">
              <a:buNone/>
            </a:pPr>
            <a:r>
              <a:rPr lang="en-US" sz="2400" dirty="0">
                <a:solidFill>
                  <a:srgbClr val="D9D9D9"/>
                </a:solidFill>
                <a:latin typeface="Arial" pitchFamily="34" charset="0"/>
                <a:ea typeface="Arial" pitchFamily="34" charset="-122"/>
                <a:cs typeface="Arial" pitchFamily="34" charset="-120"/>
              </a:rPr>
              <a:t>The numbers case for data-driven storm leads</a:t>
            </a:r>
            <a:endParaRPr lang="en-US" sz="2400" dirty="0"/>
          </a:p>
        </p:txBody>
      </p:sp>
      <p:sp>
        <p:nvSpPr>
          <p:cNvPr id="5" name="Text 2"/>
          <p:cNvSpPr/>
          <p:nvPr/>
        </p:nvSpPr>
        <p:spPr>
          <a:xfrm>
            <a:off x="713232" y="5394960"/>
            <a:ext cx="105156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T^Rock Contracting</a:t>
            </a:r>
            <a:pPr indent="0" marL="0">
              <a:buNone/>
            </a:pPr>
            <a:r>
              <a:rPr lang="en-US" sz="1400" dirty="0">
                <a:solidFill>
                  <a:srgbClr val="9E9E9E"/>
                </a:solidFill>
                <a:latin typeface="Arial" pitchFamily="34" charset="0"/>
                <a:ea typeface="Arial" pitchFamily="34" charset="-122"/>
                <a:cs typeface="Arial" pitchFamily="34" charset="-120"/>
              </a:rPr>
              <a:t>   ·   August 2026   ·   Source material: stormscout.ai</a:t>
            </a:r>
            <a:endParaRPr lang="en-US" sz="1400" dirty="0"/>
          </a:p>
        </p:txBody>
      </p:sp>
      <p:sp>
        <p:nvSpPr>
          <p:cNvPr id="6" name="Text 3"/>
          <p:cNvSpPr/>
          <p:nvPr/>
        </p:nvSpPr>
        <p:spPr>
          <a:xfrm>
            <a:off x="713232" y="5806440"/>
            <a:ext cx="10515600" cy="365760"/>
          </a:xfrm>
          <a:prstGeom prst="rect">
            <a:avLst/>
          </a:prstGeom>
          <a:noFill/>
          <a:ln/>
        </p:spPr>
        <p:txBody>
          <a:bodyPr wrap="square" lIns="0" tIns="0" rIns="0" bIns="0" rtlCol="0" anchor="ctr"/>
          <a:lstStyle/>
          <a:p>
            <a:pPr indent="0" marL="0">
              <a:buNone/>
            </a:pPr>
            <a:r>
              <a:rPr lang="en-US" sz="1400" i="1" dirty="0">
                <a:solidFill>
                  <a:srgbClr val="C8102E"/>
                </a:solidFill>
                <a:latin typeface="Arial" pitchFamily="34" charset="0"/>
                <a:ea typeface="Arial" pitchFamily="34" charset="-122"/>
                <a:cs typeface="Arial" pitchFamily="34" charset="-120"/>
              </a:rPr>
              <a:t>Published pricing, break-even math, and a 90-day test with kill criteria.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The problem: our real lead cost is rep-hours</a:t>
            </a:r>
            <a:endParaRPr lang="en-US" sz="3200" dirty="0"/>
          </a:p>
        </p:txBody>
      </p:sp>
      <p:sp>
        <p:nvSpPr>
          <p:cNvPr id="3" name="Text 1"/>
          <p:cNvSpPr/>
          <p:nvPr/>
        </p:nvSpPr>
        <p:spPr>
          <a:xfrm>
            <a:off x="548640" y="1097280"/>
            <a:ext cx="10789920" cy="502920"/>
          </a:xfrm>
          <a:prstGeom prst="rect">
            <a:avLst/>
          </a:prstGeom>
          <a:noFill/>
          <a:ln/>
        </p:spPr>
        <p:txBody>
          <a:bodyPr wrap="square" lIns="0" tIns="0" rIns="0" bIns="0" rtlCol="0" anchor="ctr"/>
          <a:lstStyle/>
          <a:p>
            <a:pPr indent="0" marL="0">
              <a:buNone/>
            </a:pPr>
            <a:r>
              <a:rPr lang="en-US" sz="1500" dirty="0">
                <a:solidFill>
                  <a:srgbClr val="6E6E6E"/>
                </a:solidFill>
                <a:latin typeface="Arial" pitchFamily="34" charset="0"/>
                <a:ea typeface="Arial" pitchFamily="34" charset="-122"/>
                <a:cs typeface="Arial" pitchFamily="34" charset="-120"/>
              </a:rPr>
              <a:t>Storm work is a race. Whoever gets a rep to a damaged, insured, owner-occupied roof first usually signs it.</a:t>
            </a:r>
            <a:endParaRPr lang="en-US" sz="1500" dirty="0"/>
          </a:p>
        </p:txBody>
      </p:sp>
      <p:sp>
        <p:nvSpPr>
          <p:cNvPr id="4" name="Shape 2"/>
          <p:cNvSpPr/>
          <p:nvPr/>
        </p:nvSpPr>
        <p:spPr>
          <a:xfrm>
            <a:off x="548640" y="1737360"/>
            <a:ext cx="3520440" cy="3566160"/>
          </a:xfrm>
          <a:prstGeom prst="roundRect">
            <a:avLst>
              <a:gd name="adj" fmla="val 2078"/>
            </a:avLst>
          </a:prstGeom>
          <a:solidFill>
            <a:srgbClr val="F5F5F5"/>
          </a:solidFill>
          <a:ln/>
        </p:spPr>
      </p:sp>
      <p:pic>
        <p:nvPicPr>
          <p:cNvPr id="5" name="Image 0" descr="preencoded.png">    </p:cNvPr>
          <p:cNvPicPr>
            <a:picLocks noChangeAspect="1"/>
          </p:cNvPicPr>
          <p:nvPr/>
        </p:nvPicPr>
        <p:blipFill>
          <a:blip r:embed="rId1"/>
          <a:stretch>
            <a:fillRect/>
          </a:stretch>
        </p:blipFill>
        <p:spPr>
          <a:xfrm>
            <a:off x="868680" y="2057400"/>
            <a:ext cx="685800" cy="685800"/>
          </a:xfrm>
          <a:prstGeom prst="rect">
            <a:avLst/>
          </a:prstGeom>
        </p:spPr>
      </p:pic>
      <p:sp>
        <p:nvSpPr>
          <p:cNvPr id="6" name="Text 3"/>
          <p:cNvSpPr/>
          <p:nvPr/>
        </p:nvSpPr>
        <p:spPr>
          <a:xfrm>
            <a:off x="868680" y="2880360"/>
            <a:ext cx="2926080" cy="868680"/>
          </a:xfrm>
          <a:prstGeom prst="rect">
            <a:avLst/>
          </a:prstGeom>
          <a:noFill/>
          <a:ln/>
        </p:spPr>
        <p:txBody>
          <a:bodyPr wrap="square" lIns="0" tIns="0" rIns="0" bIns="0" rtlCol="0" anchor="ctr"/>
          <a:lstStyle/>
          <a:p>
            <a:pPr indent="0" marL="0">
              <a:buNone/>
            </a:pPr>
            <a:r>
              <a:rPr lang="en-US" sz="4800" b="1" dirty="0">
                <a:solidFill>
                  <a:srgbClr val="C8102E"/>
                </a:solidFill>
                <a:latin typeface="Arial" pitchFamily="34" charset="0"/>
                <a:ea typeface="Arial" pitchFamily="34" charset="-122"/>
                <a:cs typeface="Arial" pitchFamily="34" charset="-120"/>
              </a:rPr>
              <a:t>~100</a:t>
            </a:r>
            <a:endParaRPr lang="en-US" sz="4800" dirty="0"/>
          </a:p>
        </p:txBody>
      </p:sp>
      <p:sp>
        <p:nvSpPr>
          <p:cNvPr id="7" name="Text 4"/>
          <p:cNvSpPr/>
          <p:nvPr/>
        </p:nvSpPr>
        <p:spPr>
          <a:xfrm>
            <a:off x="868680" y="3794760"/>
            <a:ext cx="2926080" cy="1371600"/>
          </a:xfrm>
          <a:prstGeom prst="rect">
            <a:avLst/>
          </a:prstGeom>
          <a:noFill/>
          <a:ln/>
        </p:spPr>
        <p:txBody>
          <a:bodyPr wrap="square" lIns="0" tIns="0" rIns="0" bIns="0" rtlCol="0" anchor="ctr"/>
          <a:lstStyle/>
          <a:p>
            <a:pPr indent="0" marL="0">
              <a:buNone/>
            </a:pPr>
            <a:r>
              <a:rPr lang="en-US" sz="1300" dirty="0">
                <a:solidFill>
                  <a:srgbClr val="2A2A2A"/>
                </a:solidFill>
                <a:latin typeface="Arial" pitchFamily="34" charset="0"/>
                <a:ea typeface="Arial" pitchFamily="34" charset="-122"/>
                <a:cs typeface="Arial" pitchFamily="34" charset="-120"/>
              </a:rPr>
              <a:t>doors a canvasser can knock per day — without a damage map, most are outside the real hail path</a:t>
            </a:r>
            <a:endParaRPr lang="en-US" sz="1300" dirty="0"/>
          </a:p>
        </p:txBody>
      </p:sp>
      <p:sp>
        <p:nvSpPr>
          <p:cNvPr id="8" name="Shape 5"/>
          <p:cNvSpPr/>
          <p:nvPr/>
        </p:nvSpPr>
        <p:spPr>
          <a:xfrm>
            <a:off x="4343400" y="1737360"/>
            <a:ext cx="3520440" cy="3566160"/>
          </a:xfrm>
          <a:prstGeom prst="roundRect">
            <a:avLst>
              <a:gd name="adj" fmla="val 2078"/>
            </a:avLst>
          </a:prstGeom>
          <a:solidFill>
            <a:srgbClr val="F5F5F5"/>
          </a:solidFill>
          <a:ln/>
        </p:spPr>
      </p:sp>
      <p:pic>
        <p:nvPicPr>
          <p:cNvPr id="9" name="Image 1" descr="preencoded.png">    </p:cNvPr>
          <p:cNvPicPr>
            <a:picLocks noChangeAspect="1"/>
          </p:cNvPicPr>
          <p:nvPr/>
        </p:nvPicPr>
        <p:blipFill>
          <a:blip r:embed="rId2"/>
          <a:stretch>
            <a:fillRect/>
          </a:stretch>
        </p:blipFill>
        <p:spPr>
          <a:xfrm>
            <a:off x="4663440" y="2057400"/>
            <a:ext cx="685800" cy="685800"/>
          </a:xfrm>
          <a:prstGeom prst="rect">
            <a:avLst/>
          </a:prstGeom>
        </p:spPr>
      </p:pic>
      <p:sp>
        <p:nvSpPr>
          <p:cNvPr id="10" name="Text 6"/>
          <p:cNvSpPr/>
          <p:nvPr/>
        </p:nvSpPr>
        <p:spPr>
          <a:xfrm>
            <a:off x="4663440" y="2880360"/>
            <a:ext cx="2926080" cy="868680"/>
          </a:xfrm>
          <a:prstGeom prst="rect">
            <a:avLst/>
          </a:prstGeom>
          <a:noFill/>
          <a:ln/>
        </p:spPr>
        <p:txBody>
          <a:bodyPr wrap="square" lIns="0" tIns="0" rIns="0" bIns="0" rtlCol="0" anchor="ctr"/>
          <a:lstStyle/>
          <a:p>
            <a:pPr indent="0" marL="0">
              <a:buNone/>
            </a:pPr>
            <a:r>
              <a:rPr lang="en-US" sz="4800" b="1" dirty="0">
                <a:solidFill>
                  <a:srgbClr val="C8102E"/>
                </a:solidFill>
                <a:latin typeface="Arial" pitchFamily="34" charset="0"/>
                <a:ea typeface="Arial" pitchFamily="34" charset="-122"/>
                <a:cs typeface="Arial" pitchFamily="34" charset="-120"/>
              </a:rPr>
              <a:t>$150–300</a:t>
            </a:r>
            <a:endParaRPr lang="en-US" sz="4800" dirty="0"/>
          </a:p>
        </p:txBody>
      </p:sp>
      <p:sp>
        <p:nvSpPr>
          <p:cNvPr id="11" name="Text 7"/>
          <p:cNvSpPr/>
          <p:nvPr/>
        </p:nvSpPr>
        <p:spPr>
          <a:xfrm>
            <a:off x="4663440" y="3794760"/>
            <a:ext cx="2926080" cy="1371600"/>
          </a:xfrm>
          <a:prstGeom prst="rect">
            <a:avLst/>
          </a:prstGeom>
          <a:noFill/>
          <a:ln/>
        </p:spPr>
        <p:txBody>
          <a:bodyPr wrap="square" lIns="0" tIns="0" rIns="0" bIns="0" rtlCol="0" anchor="ctr"/>
          <a:lstStyle/>
          <a:p>
            <a:pPr indent="0" marL="0">
              <a:buNone/>
            </a:pPr>
            <a:r>
              <a:rPr lang="en-US" sz="1300" dirty="0">
                <a:solidFill>
                  <a:srgbClr val="2A2A2A"/>
                </a:solidFill>
                <a:latin typeface="Arial" pitchFamily="34" charset="0"/>
                <a:ea typeface="Arial" pitchFamily="34" charset="-122"/>
                <a:cs typeface="Arial" pitchFamily="34" charset="-120"/>
              </a:rPr>
              <a:t>typical price per shared roofing lead from lead sellers — often resold to 3–5 competing contractors</a:t>
            </a:r>
            <a:endParaRPr lang="en-US" sz="1300" dirty="0"/>
          </a:p>
        </p:txBody>
      </p:sp>
      <p:sp>
        <p:nvSpPr>
          <p:cNvPr id="12" name="Shape 8"/>
          <p:cNvSpPr/>
          <p:nvPr/>
        </p:nvSpPr>
        <p:spPr>
          <a:xfrm>
            <a:off x="8138160" y="1737360"/>
            <a:ext cx="3520440" cy="3566160"/>
          </a:xfrm>
          <a:prstGeom prst="roundRect">
            <a:avLst>
              <a:gd name="adj" fmla="val 2078"/>
            </a:avLst>
          </a:prstGeom>
          <a:solidFill>
            <a:srgbClr val="F5F5F5"/>
          </a:solidFill>
          <a:ln/>
        </p:spPr>
      </p:sp>
      <p:pic>
        <p:nvPicPr>
          <p:cNvPr id="13" name="Image 2" descr="preencoded.png">    </p:cNvPr>
          <p:cNvPicPr>
            <a:picLocks noChangeAspect="1"/>
          </p:cNvPicPr>
          <p:nvPr/>
        </p:nvPicPr>
        <p:blipFill>
          <a:blip r:embed="rId3"/>
          <a:stretch>
            <a:fillRect/>
          </a:stretch>
        </p:blipFill>
        <p:spPr>
          <a:xfrm>
            <a:off x="8458200" y="2057400"/>
            <a:ext cx="685800" cy="685800"/>
          </a:xfrm>
          <a:prstGeom prst="rect">
            <a:avLst/>
          </a:prstGeom>
        </p:spPr>
      </p:pic>
      <p:sp>
        <p:nvSpPr>
          <p:cNvPr id="14" name="Text 9"/>
          <p:cNvSpPr/>
          <p:nvPr/>
        </p:nvSpPr>
        <p:spPr>
          <a:xfrm>
            <a:off x="8458200" y="2880360"/>
            <a:ext cx="2926080" cy="868680"/>
          </a:xfrm>
          <a:prstGeom prst="rect">
            <a:avLst/>
          </a:prstGeom>
          <a:noFill/>
          <a:ln/>
        </p:spPr>
        <p:txBody>
          <a:bodyPr wrap="square" lIns="0" tIns="0" rIns="0" bIns="0" rtlCol="0" anchor="ctr"/>
          <a:lstStyle/>
          <a:p>
            <a:pPr indent="0" marL="0">
              <a:buNone/>
            </a:pPr>
            <a:r>
              <a:rPr lang="en-US" sz="4800" b="1" dirty="0">
                <a:solidFill>
                  <a:srgbClr val="C8102E"/>
                </a:solidFill>
                <a:latin typeface="Arial" pitchFamily="34" charset="0"/>
                <a:ea typeface="Arial" pitchFamily="34" charset="-122"/>
                <a:cs typeface="Arial" pitchFamily="34" charset="-120"/>
              </a:rPr>
              <a:t>Days</a:t>
            </a:r>
            <a:endParaRPr lang="en-US" sz="4800" dirty="0"/>
          </a:p>
        </p:txBody>
      </p:sp>
      <p:sp>
        <p:nvSpPr>
          <p:cNvPr id="15" name="Text 10"/>
          <p:cNvSpPr/>
          <p:nvPr/>
        </p:nvSpPr>
        <p:spPr>
          <a:xfrm>
            <a:off x="8458200" y="3794760"/>
            <a:ext cx="2926080" cy="1371600"/>
          </a:xfrm>
          <a:prstGeom prst="rect">
            <a:avLst/>
          </a:prstGeom>
          <a:noFill/>
          <a:ln/>
        </p:spPr>
        <p:txBody>
          <a:bodyPr wrap="square" lIns="0" tIns="0" rIns="0" bIns="0" rtlCol="0" anchor="ctr"/>
          <a:lstStyle/>
          <a:p>
            <a:pPr indent="0" marL="0">
              <a:buNone/>
            </a:pPr>
            <a:r>
              <a:rPr lang="en-US" sz="1300" dirty="0">
                <a:solidFill>
                  <a:srgbClr val="2A2A2A"/>
                </a:solidFill>
                <a:latin typeface="Arial" pitchFamily="34" charset="0"/>
                <a:ea typeface="Arial" pitchFamily="34" charset="-122"/>
                <a:cs typeface="Arial" pitchFamily="34" charset="-120"/>
              </a:rPr>
              <a:t>how long a storm market stays open before contingencies are signed — late arrival = leftover doors</a:t>
            </a:r>
            <a:endParaRPr lang="en-US" sz="1300" dirty="0"/>
          </a:p>
        </p:txBody>
      </p:sp>
      <p:sp>
        <p:nvSpPr>
          <p:cNvPr id="16" name="Shape 11"/>
          <p:cNvSpPr/>
          <p:nvPr/>
        </p:nvSpPr>
        <p:spPr>
          <a:xfrm>
            <a:off x="548640" y="5577840"/>
            <a:ext cx="11064240" cy="685800"/>
          </a:xfrm>
          <a:prstGeom prst="roundRect">
            <a:avLst>
              <a:gd name="adj" fmla="val 8000"/>
            </a:avLst>
          </a:prstGeom>
          <a:solidFill>
            <a:srgbClr val="111111"/>
          </a:solidFill>
          <a:ln/>
        </p:spPr>
      </p:sp>
      <p:sp>
        <p:nvSpPr>
          <p:cNvPr id="17" name="Text 12"/>
          <p:cNvSpPr/>
          <p:nvPr/>
        </p:nvSpPr>
        <p:spPr>
          <a:xfrm>
            <a:off x="868680" y="5623560"/>
            <a:ext cx="10515600" cy="56692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The real metric:  </a:t>
            </a:r>
            <a:pPr indent="0" marL="0">
              <a:buNone/>
            </a:pPr>
            <a:r>
              <a:rPr lang="en-US" sz="1350" dirty="0">
                <a:solidFill>
                  <a:srgbClr val="E6E6E6"/>
                </a:solidFill>
                <a:latin typeface="Arial" pitchFamily="34" charset="0"/>
                <a:ea typeface="Arial" pitchFamily="34" charset="-122"/>
                <a:cs typeface="Arial" pitchFamily="34" charset="-120"/>
              </a:rPr>
              <a:t>sold jobs per rep per storm. On a 50/50 split, wasted knocks starve the rep and the company alike — and reps who can't close, quit.</a:t>
            </a:r>
            <a:endParaRPr lang="en-US" sz="1350" dirty="0"/>
          </a:p>
        </p:txBody>
      </p:sp>
      <p:sp>
        <p:nvSpPr>
          <p:cNvPr id="18" name="Text 13"/>
          <p:cNvSpPr/>
          <p:nvPr/>
        </p:nvSpPr>
        <p:spPr>
          <a:xfrm>
            <a:off x="548640" y="6473952"/>
            <a:ext cx="9601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Lead-price and canvassing figures are industry benchmarks, not Storm Scout claims.</a:t>
            </a:r>
            <a:endParaRPr lang="en-US" sz="900" dirty="0"/>
          </a:p>
        </p:txBody>
      </p:sp>
      <p:sp>
        <p:nvSpPr>
          <p:cNvPr id="19" name="Text 1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What Storm Scout actually is</a:t>
            </a:r>
            <a:endParaRPr lang="en-US" sz="3200" dirty="0"/>
          </a:p>
        </p:txBody>
      </p:sp>
      <p:sp>
        <p:nvSpPr>
          <p:cNvPr id="3" name="Text 1"/>
          <p:cNvSpPr/>
          <p:nvPr/>
        </p:nvSpPr>
        <p:spPr>
          <a:xfrm>
            <a:off x="548640" y="1097280"/>
            <a:ext cx="10881360" cy="502920"/>
          </a:xfrm>
          <a:prstGeom prst="rect">
            <a:avLst/>
          </a:prstGeom>
          <a:noFill/>
          <a:ln/>
        </p:spPr>
        <p:txBody>
          <a:bodyPr wrap="square" lIns="0" tIns="0" rIns="0" bIns="0" rtlCol="0" anchor="ctr"/>
          <a:lstStyle/>
          <a:p>
            <a:pPr indent="0" marL="0">
              <a:buNone/>
            </a:pPr>
            <a:r>
              <a:rPr lang="en-US" sz="1500" dirty="0">
                <a:solidFill>
                  <a:srgbClr val="6E6E6E"/>
                </a:solidFill>
                <a:latin typeface="Arial" pitchFamily="34" charset="0"/>
                <a:ea typeface="Arial" pitchFamily="34" charset="-122"/>
                <a:cs typeface="Arial" pitchFamily="34" charset="-120"/>
              </a:rPr>
              <a:t>An app that maps verified storm damage and attaches property + owner data, so crews knock the right doors first. Everything below is from stormscout.ai.</a:t>
            </a:r>
            <a:endParaRPr lang="en-US" sz="1500" dirty="0"/>
          </a:p>
        </p:txBody>
      </p:sp>
      <p:sp>
        <p:nvSpPr>
          <p:cNvPr id="4" name="Shape 2"/>
          <p:cNvSpPr/>
          <p:nvPr/>
        </p:nvSpPr>
        <p:spPr>
          <a:xfrm>
            <a:off x="548640" y="1828800"/>
            <a:ext cx="5394960" cy="1965960"/>
          </a:xfrm>
          <a:prstGeom prst="roundRect">
            <a:avLst>
              <a:gd name="adj" fmla="val 3721"/>
            </a:avLst>
          </a:prstGeom>
          <a:solidFill>
            <a:srgbClr val="F5F5F5"/>
          </a:solidFill>
          <a:ln/>
        </p:spPr>
      </p:sp>
      <p:pic>
        <p:nvPicPr>
          <p:cNvPr id="5" name="Image 0" descr="preencoded.png">    </p:cNvPr>
          <p:cNvPicPr>
            <a:picLocks noChangeAspect="1"/>
          </p:cNvPicPr>
          <p:nvPr/>
        </p:nvPicPr>
        <p:blipFill>
          <a:blip r:embed="rId1"/>
          <a:stretch>
            <a:fillRect/>
          </a:stretch>
        </p:blipFill>
        <p:spPr>
          <a:xfrm>
            <a:off x="822960" y="2103120"/>
            <a:ext cx="640080" cy="640080"/>
          </a:xfrm>
          <a:prstGeom prst="rect">
            <a:avLst/>
          </a:prstGeom>
        </p:spPr>
      </p:pic>
      <p:sp>
        <p:nvSpPr>
          <p:cNvPr id="6" name="Text 3"/>
          <p:cNvSpPr/>
          <p:nvPr/>
        </p:nvSpPr>
        <p:spPr>
          <a:xfrm>
            <a:off x="1645920" y="2048256"/>
            <a:ext cx="4114800" cy="530352"/>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Interactive hail &amp; wind maps</a:t>
            </a:r>
            <a:endParaRPr lang="en-US" sz="1500" dirty="0"/>
          </a:p>
        </p:txBody>
      </p:sp>
      <p:sp>
        <p:nvSpPr>
          <p:cNvPr id="7" name="Text 4"/>
          <p:cNvSpPr/>
          <p:nvPr/>
        </p:nvSpPr>
        <p:spPr>
          <a:xfrm>
            <a:off x="1645920" y="2633472"/>
            <a:ext cx="4114800" cy="109728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Live storm-impact maps showing where verified damage occurred — dispatch teams to affected blocks, not whole ZIP codes.</a:t>
            </a:r>
            <a:endParaRPr lang="en-US" sz="1200" dirty="0"/>
          </a:p>
        </p:txBody>
      </p:sp>
      <p:sp>
        <p:nvSpPr>
          <p:cNvPr id="8" name="Shape 5"/>
          <p:cNvSpPr/>
          <p:nvPr/>
        </p:nvSpPr>
        <p:spPr>
          <a:xfrm>
            <a:off x="6217920" y="1828800"/>
            <a:ext cx="5394960" cy="1965960"/>
          </a:xfrm>
          <a:prstGeom prst="roundRect">
            <a:avLst>
              <a:gd name="adj" fmla="val 3721"/>
            </a:avLst>
          </a:prstGeom>
          <a:solidFill>
            <a:srgbClr val="F5F5F5"/>
          </a:solidFill>
          <a:ln/>
        </p:spPr>
      </p:sp>
      <p:pic>
        <p:nvPicPr>
          <p:cNvPr id="9" name="Image 1" descr="preencoded.png">    </p:cNvPr>
          <p:cNvPicPr>
            <a:picLocks noChangeAspect="1"/>
          </p:cNvPicPr>
          <p:nvPr/>
        </p:nvPicPr>
        <p:blipFill>
          <a:blip r:embed="rId2"/>
          <a:stretch>
            <a:fillRect/>
          </a:stretch>
        </p:blipFill>
        <p:spPr>
          <a:xfrm>
            <a:off x="6492240" y="2103120"/>
            <a:ext cx="640080" cy="640080"/>
          </a:xfrm>
          <a:prstGeom prst="rect">
            <a:avLst/>
          </a:prstGeom>
        </p:spPr>
      </p:pic>
      <p:sp>
        <p:nvSpPr>
          <p:cNvPr id="10" name="Text 6"/>
          <p:cNvSpPr/>
          <p:nvPr/>
        </p:nvSpPr>
        <p:spPr>
          <a:xfrm>
            <a:off x="7315200" y="2048256"/>
            <a:ext cx="4114800" cy="530352"/>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Advanced property filters</a:t>
            </a:r>
            <a:endParaRPr lang="en-US" sz="1500" dirty="0"/>
          </a:p>
        </p:txBody>
      </p:sp>
      <p:sp>
        <p:nvSpPr>
          <p:cNvPr id="11" name="Text 7"/>
          <p:cNvSpPr/>
          <p:nvPr/>
        </p:nvSpPr>
        <p:spPr>
          <a:xfrm>
            <a:off x="7315200" y="2633472"/>
            <a:ext cx="4114800" cy="109728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Filter by storm date, hail size, roof age, shingle type, square footage, median income, owner-occupied vs. rental.</a:t>
            </a:r>
            <a:endParaRPr lang="en-US" sz="1200" dirty="0"/>
          </a:p>
        </p:txBody>
      </p:sp>
      <p:sp>
        <p:nvSpPr>
          <p:cNvPr id="12" name="Shape 8"/>
          <p:cNvSpPr/>
          <p:nvPr/>
        </p:nvSpPr>
        <p:spPr>
          <a:xfrm>
            <a:off x="548640" y="4023360"/>
            <a:ext cx="5394960" cy="1965960"/>
          </a:xfrm>
          <a:prstGeom prst="roundRect">
            <a:avLst>
              <a:gd name="adj" fmla="val 3721"/>
            </a:avLst>
          </a:prstGeom>
          <a:solidFill>
            <a:srgbClr val="F5F5F5"/>
          </a:solidFill>
          <a:ln/>
        </p:spPr>
      </p:sp>
      <p:pic>
        <p:nvPicPr>
          <p:cNvPr id="13" name="Image 2" descr="preencoded.png">    </p:cNvPr>
          <p:cNvPicPr>
            <a:picLocks noChangeAspect="1"/>
          </p:cNvPicPr>
          <p:nvPr/>
        </p:nvPicPr>
        <p:blipFill>
          <a:blip r:embed="rId3"/>
          <a:stretch>
            <a:fillRect/>
          </a:stretch>
        </p:blipFill>
        <p:spPr>
          <a:xfrm>
            <a:off x="822960" y="4297680"/>
            <a:ext cx="640080" cy="640080"/>
          </a:xfrm>
          <a:prstGeom prst="rect">
            <a:avLst/>
          </a:prstGeom>
        </p:spPr>
      </p:pic>
      <p:sp>
        <p:nvSpPr>
          <p:cNvPr id="14" name="Text 9"/>
          <p:cNvSpPr/>
          <p:nvPr/>
        </p:nvSpPr>
        <p:spPr>
          <a:xfrm>
            <a:off x="1645920" y="4242816"/>
            <a:ext cx="4114800" cy="530352"/>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Custom storm alerts</a:t>
            </a:r>
            <a:endParaRPr lang="en-US" sz="1500" dirty="0"/>
          </a:p>
        </p:txBody>
      </p:sp>
      <p:sp>
        <p:nvSpPr>
          <p:cNvPr id="15" name="Text 10"/>
          <p:cNvSpPr/>
          <p:nvPr/>
        </p:nvSpPr>
        <p:spPr>
          <a:xfrm>
            <a:off x="1645920" y="4828032"/>
            <a:ext cx="4114800" cy="109728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Watch our territories and ZIP codes; the moment a storm hits, we know — before competitors are even aware.</a:t>
            </a:r>
            <a:endParaRPr lang="en-US" sz="1200" dirty="0"/>
          </a:p>
        </p:txBody>
      </p:sp>
      <p:sp>
        <p:nvSpPr>
          <p:cNvPr id="16" name="Shape 11"/>
          <p:cNvSpPr/>
          <p:nvPr/>
        </p:nvSpPr>
        <p:spPr>
          <a:xfrm>
            <a:off x="6217920" y="4023360"/>
            <a:ext cx="5394960" cy="1965960"/>
          </a:xfrm>
          <a:prstGeom prst="roundRect">
            <a:avLst>
              <a:gd name="adj" fmla="val 3721"/>
            </a:avLst>
          </a:prstGeom>
          <a:solidFill>
            <a:srgbClr val="F5F5F5"/>
          </a:solidFill>
          <a:ln/>
        </p:spPr>
      </p:sp>
      <p:pic>
        <p:nvPicPr>
          <p:cNvPr id="17" name="Image 3" descr="preencoded.png">    </p:cNvPr>
          <p:cNvPicPr>
            <a:picLocks noChangeAspect="1"/>
          </p:cNvPicPr>
          <p:nvPr/>
        </p:nvPicPr>
        <p:blipFill>
          <a:blip r:embed="rId4"/>
          <a:stretch>
            <a:fillRect/>
          </a:stretch>
        </p:blipFill>
        <p:spPr>
          <a:xfrm>
            <a:off x="6492240" y="4297680"/>
            <a:ext cx="640080" cy="640080"/>
          </a:xfrm>
          <a:prstGeom prst="rect">
            <a:avLst/>
          </a:prstGeom>
        </p:spPr>
      </p:pic>
      <p:sp>
        <p:nvSpPr>
          <p:cNvPr id="18" name="Text 12"/>
          <p:cNvSpPr/>
          <p:nvPr/>
        </p:nvSpPr>
        <p:spPr>
          <a:xfrm>
            <a:off x="7315200" y="4242816"/>
            <a:ext cx="4114800" cy="530352"/>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Automated outreach + in-app leads</a:t>
            </a:r>
            <a:endParaRPr lang="en-US" sz="1500" dirty="0"/>
          </a:p>
        </p:txBody>
      </p:sp>
      <p:sp>
        <p:nvSpPr>
          <p:cNvPr id="19" name="Text 13"/>
          <p:cNvSpPr/>
          <p:nvPr/>
        </p:nvSpPr>
        <p:spPr>
          <a:xfrm>
            <a:off x="7315200" y="4828032"/>
            <a:ext cx="4114800" cy="109728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Push filtered target lists straight into calls, texts, and emails; pre-qualified leads delivered inside our service area.</a:t>
            </a:r>
            <a:endParaRPr lang="en-US" sz="1200" dirty="0"/>
          </a:p>
        </p:txBody>
      </p:sp>
      <p:sp>
        <p:nvSpPr>
          <p:cNvPr id="20" name="Text 14"/>
          <p:cNvSpPr/>
          <p:nvPr/>
        </p:nvSpPr>
        <p:spPr>
          <a:xfrm>
            <a:off x="548640" y="6473952"/>
            <a:ext cx="9601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Feature descriptions paraphrased from stormscout.ai (Home + How It Works pages).</a:t>
            </a:r>
            <a:endParaRPr lang="en-US" sz="900" dirty="0"/>
          </a:p>
        </p:txBody>
      </p:sp>
      <p:sp>
        <p:nvSpPr>
          <p:cNvPr id="21"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How it works: storm to signed contingency in 4 steps</a:t>
            </a:r>
            <a:endParaRPr lang="en-US" sz="3200" dirty="0"/>
          </a:p>
        </p:txBody>
      </p:sp>
      <p:sp>
        <p:nvSpPr>
          <p:cNvPr id="3" name="Shape 1"/>
          <p:cNvSpPr/>
          <p:nvPr/>
        </p:nvSpPr>
        <p:spPr>
          <a:xfrm>
            <a:off x="548640" y="1554480"/>
            <a:ext cx="2670048" cy="3749040"/>
          </a:xfrm>
          <a:prstGeom prst="roundRect">
            <a:avLst>
              <a:gd name="adj" fmla="val 2740"/>
            </a:avLst>
          </a:prstGeom>
          <a:solidFill>
            <a:srgbClr val="F5F5F5"/>
          </a:solidFill>
          <a:ln/>
        </p:spPr>
      </p:sp>
      <p:pic>
        <p:nvPicPr>
          <p:cNvPr id="4" name="Image 0" descr="preencoded.png">    </p:cNvPr>
          <p:cNvPicPr>
            <a:picLocks noChangeAspect="1"/>
          </p:cNvPicPr>
          <p:nvPr/>
        </p:nvPicPr>
        <p:blipFill>
          <a:blip r:embed="rId1"/>
          <a:stretch>
            <a:fillRect/>
          </a:stretch>
        </p:blipFill>
        <p:spPr>
          <a:xfrm>
            <a:off x="822960" y="1828800"/>
            <a:ext cx="640080" cy="640080"/>
          </a:xfrm>
          <a:prstGeom prst="rect">
            <a:avLst/>
          </a:prstGeom>
        </p:spPr>
      </p:pic>
      <p:sp>
        <p:nvSpPr>
          <p:cNvPr id="5" name="Text 2"/>
          <p:cNvSpPr/>
          <p:nvPr/>
        </p:nvSpPr>
        <p:spPr>
          <a:xfrm>
            <a:off x="2286000" y="1783080"/>
            <a:ext cx="731520" cy="731520"/>
          </a:xfrm>
          <a:prstGeom prst="rect">
            <a:avLst/>
          </a:prstGeom>
          <a:noFill/>
          <a:ln/>
        </p:spPr>
        <p:txBody>
          <a:bodyPr wrap="square" lIns="0" tIns="0" rIns="0" bIns="0" rtlCol="0" anchor="ctr"/>
          <a:lstStyle/>
          <a:p>
            <a:pPr algn="r" indent="0" marL="0">
              <a:buNone/>
            </a:pPr>
            <a:r>
              <a:rPr lang="en-US" sz="4000" b="1" dirty="0">
                <a:solidFill>
                  <a:srgbClr val="D0D0D0"/>
                </a:solidFill>
                <a:latin typeface="Arial" pitchFamily="34" charset="0"/>
                <a:ea typeface="Arial" pitchFamily="34" charset="-122"/>
                <a:cs typeface="Arial" pitchFamily="34" charset="-120"/>
              </a:rPr>
              <a:t>1</a:t>
            </a:r>
            <a:endParaRPr lang="en-US" sz="4000" dirty="0"/>
          </a:p>
        </p:txBody>
      </p:sp>
      <p:sp>
        <p:nvSpPr>
          <p:cNvPr id="6" name="Text 3"/>
          <p:cNvSpPr/>
          <p:nvPr/>
        </p:nvSpPr>
        <p:spPr>
          <a:xfrm>
            <a:off x="822960" y="2697480"/>
            <a:ext cx="2148840" cy="685800"/>
          </a:xfrm>
          <a:prstGeom prst="rect">
            <a:avLst/>
          </a:prstGeom>
          <a:noFill/>
          <a:ln/>
        </p:spPr>
        <p:txBody>
          <a:bodyPr wrap="square" lIns="0" tIns="0" rIns="0" bIns="0" rtlCol="0" anchor="ctr"/>
          <a:lstStyle/>
          <a:p>
            <a:pPr indent="0" marL="0">
              <a:buNone/>
            </a:pPr>
            <a:r>
              <a:rPr lang="en-US" sz="1550" b="1" dirty="0">
                <a:solidFill>
                  <a:srgbClr val="111111"/>
                </a:solidFill>
                <a:latin typeface="Arial" pitchFamily="34" charset="0"/>
                <a:ea typeface="Arial" pitchFamily="34" charset="-122"/>
                <a:cs typeface="Arial" pitchFamily="34" charset="-120"/>
              </a:rPr>
              <a:t>Storm hits — alert fires</a:t>
            </a:r>
            <a:endParaRPr lang="en-US" sz="1550" dirty="0"/>
          </a:p>
        </p:txBody>
      </p:sp>
      <p:sp>
        <p:nvSpPr>
          <p:cNvPr id="7" name="Text 4"/>
          <p:cNvSpPr/>
          <p:nvPr/>
        </p:nvSpPr>
        <p:spPr>
          <a:xfrm>
            <a:off x="822960" y="3383280"/>
            <a:ext cx="2148840" cy="173736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Our saved territories trigger an instant alert. We're moving while others are checking the weather news.</a:t>
            </a:r>
            <a:endParaRPr lang="en-US" sz="1200" dirty="0"/>
          </a:p>
        </p:txBody>
      </p:sp>
      <p:sp>
        <p:nvSpPr>
          <p:cNvPr id="8" name="Text 5"/>
          <p:cNvSpPr/>
          <p:nvPr/>
        </p:nvSpPr>
        <p:spPr>
          <a:xfrm>
            <a:off x="3163824" y="3063240"/>
            <a:ext cx="411480" cy="457200"/>
          </a:xfrm>
          <a:prstGeom prst="rect">
            <a:avLst/>
          </a:prstGeom>
          <a:noFill/>
          <a:ln/>
        </p:spPr>
        <p:txBody>
          <a:bodyPr wrap="square" lIns="0" tIns="0" rIns="0" bIns="0" rtlCol="0" anchor="ctr"/>
          <a:lstStyle/>
          <a:p>
            <a:pPr algn="ctr" indent="0" marL="0">
              <a:buNone/>
            </a:pPr>
            <a:r>
              <a:rPr lang="en-US" sz="2400" b="1" dirty="0">
                <a:solidFill>
                  <a:srgbClr val="C8102E"/>
                </a:solidFill>
                <a:latin typeface="Arial" pitchFamily="34" charset="0"/>
                <a:ea typeface="Arial" pitchFamily="34" charset="-122"/>
                <a:cs typeface="Arial" pitchFamily="34" charset="-120"/>
              </a:rPr>
              <a:t>→</a:t>
            </a:r>
            <a:endParaRPr lang="en-US" sz="2400" dirty="0"/>
          </a:p>
        </p:txBody>
      </p:sp>
      <p:sp>
        <p:nvSpPr>
          <p:cNvPr id="9" name="Shape 6"/>
          <p:cNvSpPr/>
          <p:nvPr/>
        </p:nvSpPr>
        <p:spPr>
          <a:xfrm>
            <a:off x="3493008" y="1554480"/>
            <a:ext cx="2670048" cy="3749040"/>
          </a:xfrm>
          <a:prstGeom prst="roundRect">
            <a:avLst>
              <a:gd name="adj" fmla="val 2740"/>
            </a:avLst>
          </a:prstGeom>
          <a:solidFill>
            <a:srgbClr val="F5F5F5"/>
          </a:solidFill>
          <a:ln/>
        </p:spPr>
      </p:sp>
      <p:pic>
        <p:nvPicPr>
          <p:cNvPr id="10" name="Image 1" descr="preencoded.png">    </p:cNvPr>
          <p:cNvPicPr>
            <a:picLocks noChangeAspect="1"/>
          </p:cNvPicPr>
          <p:nvPr/>
        </p:nvPicPr>
        <p:blipFill>
          <a:blip r:embed="rId2"/>
          <a:stretch>
            <a:fillRect/>
          </a:stretch>
        </p:blipFill>
        <p:spPr>
          <a:xfrm>
            <a:off x="3767328" y="1828800"/>
            <a:ext cx="640080" cy="640080"/>
          </a:xfrm>
          <a:prstGeom prst="rect">
            <a:avLst/>
          </a:prstGeom>
        </p:spPr>
      </p:pic>
      <p:sp>
        <p:nvSpPr>
          <p:cNvPr id="11" name="Text 7"/>
          <p:cNvSpPr/>
          <p:nvPr/>
        </p:nvSpPr>
        <p:spPr>
          <a:xfrm>
            <a:off x="5230368" y="1783080"/>
            <a:ext cx="731520" cy="731520"/>
          </a:xfrm>
          <a:prstGeom prst="rect">
            <a:avLst/>
          </a:prstGeom>
          <a:noFill/>
          <a:ln/>
        </p:spPr>
        <p:txBody>
          <a:bodyPr wrap="square" lIns="0" tIns="0" rIns="0" bIns="0" rtlCol="0" anchor="ctr"/>
          <a:lstStyle/>
          <a:p>
            <a:pPr algn="r" indent="0" marL="0">
              <a:buNone/>
            </a:pPr>
            <a:r>
              <a:rPr lang="en-US" sz="4000" b="1" dirty="0">
                <a:solidFill>
                  <a:srgbClr val="D0D0D0"/>
                </a:solidFill>
                <a:latin typeface="Arial" pitchFamily="34" charset="0"/>
                <a:ea typeface="Arial" pitchFamily="34" charset="-122"/>
                <a:cs typeface="Arial" pitchFamily="34" charset="-120"/>
              </a:rPr>
              <a:t>2</a:t>
            </a:r>
            <a:endParaRPr lang="en-US" sz="4000" dirty="0"/>
          </a:p>
        </p:txBody>
      </p:sp>
      <p:sp>
        <p:nvSpPr>
          <p:cNvPr id="12" name="Text 8"/>
          <p:cNvSpPr/>
          <p:nvPr/>
        </p:nvSpPr>
        <p:spPr>
          <a:xfrm>
            <a:off x="3767328" y="2697480"/>
            <a:ext cx="2148840" cy="685800"/>
          </a:xfrm>
          <a:prstGeom prst="rect">
            <a:avLst/>
          </a:prstGeom>
          <a:noFill/>
          <a:ln/>
        </p:spPr>
        <p:txBody>
          <a:bodyPr wrap="square" lIns="0" tIns="0" rIns="0" bIns="0" rtlCol="0" anchor="ctr"/>
          <a:lstStyle/>
          <a:p>
            <a:pPr indent="0" marL="0">
              <a:buNone/>
            </a:pPr>
            <a:r>
              <a:rPr lang="en-US" sz="1550" b="1" dirty="0">
                <a:solidFill>
                  <a:srgbClr val="111111"/>
                </a:solidFill>
                <a:latin typeface="Arial" pitchFamily="34" charset="0"/>
                <a:ea typeface="Arial" pitchFamily="34" charset="-122"/>
                <a:cs typeface="Arial" pitchFamily="34" charset="-120"/>
              </a:rPr>
              <a:t>Open the damage map</a:t>
            </a:r>
            <a:endParaRPr lang="en-US" sz="1550" dirty="0"/>
          </a:p>
        </p:txBody>
      </p:sp>
      <p:sp>
        <p:nvSpPr>
          <p:cNvPr id="13" name="Text 9"/>
          <p:cNvSpPr/>
          <p:nvPr/>
        </p:nvSpPr>
        <p:spPr>
          <a:xfrm>
            <a:off x="3767328" y="3383280"/>
            <a:ext cx="2148840" cy="173736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Verified hail &amp; wind impact, street by street. We see which blocks actually took damage.</a:t>
            </a:r>
            <a:endParaRPr lang="en-US" sz="1200" dirty="0"/>
          </a:p>
        </p:txBody>
      </p:sp>
      <p:sp>
        <p:nvSpPr>
          <p:cNvPr id="14" name="Text 10"/>
          <p:cNvSpPr/>
          <p:nvPr/>
        </p:nvSpPr>
        <p:spPr>
          <a:xfrm>
            <a:off x="6108192" y="3063240"/>
            <a:ext cx="411480" cy="457200"/>
          </a:xfrm>
          <a:prstGeom prst="rect">
            <a:avLst/>
          </a:prstGeom>
          <a:noFill/>
          <a:ln/>
        </p:spPr>
        <p:txBody>
          <a:bodyPr wrap="square" lIns="0" tIns="0" rIns="0" bIns="0" rtlCol="0" anchor="ctr"/>
          <a:lstStyle/>
          <a:p>
            <a:pPr algn="ctr" indent="0" marL="0">
              <a:buNone/>
            </a:pPr>
            <a:r>
              <a:rPr lang="en-US" sz="2400" b="1" dirty="0">
                <a:solidFill>
                  <a:srgbClr val="C8102E"/>
                </a:solidFill>
                <a:latin typeface="Arial" pitchFamily="34" charset="0"/>
                <a:ea typeface="Arial" pitchFamily="34" charset="-122"/>
                <a:cs typeface="Arial" pitchFamily="34" charset="-120"/>
              </a:rPr>
              <a:t>→</a:t>
            </a:r>
            <a:endParaRPr lang="en-US" sz="2400" dirty="0"/>
          </a:p>
        </p:txBody>
      </p:sp>
      <p:sp>
        <p:nvSpPr>
          <p:cNvPr id="15" name="Shape 11"/>
          <p:cNvSpPr/>
          <p:nvPr/>
        </p:nvSpPr>
        <p:spPr>
          <a:xfrm>
            <a:off x="6437376" y="1554480"/>
            <a:ext cx="2670048" cy="3749040"/>
          </a:xfrm>
          <a:prstGeom prst="roundRect">
            <a:avLst>
              <a:gd name="adj" fmla="val 2740"/>
            </a:avLst>
          </a:prstGeom>
          <a:solidFill>
            <a:srgbClr val="F5F5F5"/>
          </a:solidFill>
          <a:ln/>
        </p:spPr>
      </p:sp>
      <p:pic>
        <p:nvPicPr>
          <p:cNvPr id="16" name="Image 2" descr="preencoded.png">    </p:cNvPr>
          <p:cNvPicPr>
            <a:picLocks noChangeAspect="1"/>
          </p:cNvPicPr>
          <p:nvPr/>
        </p:nvPicPr>
        <p:blipFill>
          <a:blip r:embed="rId3"/>
          <a:stretch>
            <a:fillRect/>
          </a:stretch>
        </p:blipFill>
        <p:spPr>
          <a:xfrm>
            <a:off x="6711696" y="1828800"/>
            <a:ext cx="640080" cy="640080"/>
          </a:xfrm>
          <a:prstGeom prst="rect">
            <a:avLst/>
          </a:prstGeom>
        </p:spPr>
      </p:pic>
      <p:sp>
        <p:nvSpPr>
          <p:cNvPr id="17" name="Text 12"/>
          <p:cNvSpPr/>
          <p:nvPr/>
        </p:nvSpPr>
        <p:spPr>
          <a:xfrm>
            <a:off x="8174736" y="1783080"/>
            <a:ext cx="731520" cy="731520"/>
          </a:xfrm>
          <a:prstGeom prst="rect">
            <a:avLst/>
          </a:prstGeom>
          <a:noFill/>
          <a:ln/>
        </p:spPr>
        <p:txBody>
          <a:bodyPr wrap="square" lIns="0" tIns="0" rIns="0" bIns="0" rtlCol="0" anchor="ctr"/>
          <a:lstStyle/>
          <a:p>
            <a:pPr algn="r" indent="0" marL="0">
              <a:buNone/>
            </a:pPr>
            <a:r>
              <a:rPr lang="en-US" sz="4000" b="1" dirty="0">
                <a:solidFill>
                  <a:srgbClr val="D0D0D0"/>
                </a:solidFill>
                <a:latin typeface="Arial" pitchFamily="34" charset="0"/>
                <a:ea typeface="Arial" pitchFamily="34" charset="-122"/>
                <a:cs typeface="Arial" pitchFamily="34" charset="-120"/>
              </a:rPr>
              <a:t>3</a:t>
            </a:r>
            <a:endParaRPr lang="en-US" sz="4000" dirty="0"/>
          </a:p>
        </p:txBody>
      </p:sp>
      <p:sp>
        <p:nvSpPr>
          <p:cNvPr id="18" name="Text 13"/>
          <p:cNvSpPr/>
          <p:nvPr/>
        </p:nvSpPr>
        <p:spPr>
          <a:xfrm>
            <a:off x="6711696" y="2697480"/>
            <a:ext cx="2148840" cy="685800"/>
          </a:xfrm>
          <a:prstGeom prst="rect">
            <a:avLst/>
          </a:prstGeom>
          <a:noFill/>
          <a:ln/>
        </p:spPr>
        <p:txBody>
          <a:bodyPr wrap="square" lIns="0" tIns="0" rIns="0" bIns="0" rtlCol="0" anchor="ctr"/>
          <a:lstStyle/>
          <a:p>
            <a:pPr indent="0" marL="0">
              <a:buNone/>
            </a:pPr>
            <a:r>
              <a:rPr lang="en-US" sz="1550" b="1" dirty="0">
                <a:solidFill>
                  <a:srgbClr val="111111"/>
                </a:solidFill>
                <a:latin typeface="Arial" pitchFamily="34" charset="0"/>
                <a:ea typeface="Arial" pitchFamily="34" charset="-122"/>
                <a:cs typeface="Arial" pitchFamily="34" charset="-120"/>
              </a:rPr>
              <a:t>Filter to our buyer</a:t>
            </a:r>
            <a:endParaRPr lang="en-US" sz="1550" dirty="0"/>
          </a:p>
        </p:txBody>
      </p:sp>
      <p:sp>
        <p:nvSpPr>
          <p:cNvPr id="19" name="Text 14"/>
          <p:cNvSpPr/>
          <p:nvPr/>
        </p:nvSpPr>
        <p:spPr>
          <a:xfrm>
            <a:off x="6711696" y="3383280"/>
            <a:ext cx="2148840" cy="173736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Owner-occupied, roof age, shingle type, hail size, income band — down to a knock list that matches our ideal job.</a:t>
            </a:r>
            <a:endParaRPr lang="en-US" sz="1200" dirty="0"/>
          </a:p>
        </p:txBody>
      </p:sp>
      <p:sp>
        <p:nvSpPr>
          <p:cNvPr id="20" name="Text 15"/>
          <p:cNvSpPr/>
          <p:nvPr/>
        </p:nvSpPr>
        <p:spPr>
          <a:xfrm>
            <a:off x="9052560" y="3063240"/>
            <a:ext cx="411480" cy="457200"/>
          </a:xfrm>
          <a:prstGeom prst="rect">
            <a:avLst/>
          </a:prstGeom>
          <a:noFill/>
          <a:ln/>
        </p:spPr>
        <p:txBody>
          <a:bodyPr wrap="square" lIns="0" tIns="0" rIns="0" bIns="0" rtlCol="0" anchor="ctr"/>
          <a:lstStyle/>
          <a:p>
            <a:pPr algn="ctr" indent="0" marL="0">
              <a:buNone/>
            </a:pPr>
            <a:r>
              <a:rPr lang="en-US" sz="2400" b="1" dirty="0">
                <a:solidFill>
                  <a:srgbClr val="C8102E"/>
                </a:solidFill>
                <a:latin typeface="Arial" pitchFamily="34" charset="0"/>
                <a:ea typeface="Arial" pitchFamily="34" charset="-122"/>
                <a:cs typeface="Arial" pitchFamily="34" charset="-120"/>
              </a:rPr>
              <a:t>→</a:t>
            </a:r>
            <a:endParaRPr lang="en-US" sz="2400" dirty="0"/>
          </a:p>
        </p:txBody>
      </p:sp>
      <p:sp>
        <p:nvSpPr>
          <p:cNvPr id="21" name="Shape 16"/>
          <p:cNvSpPr/>
          <p:nvPr/>
        </p:nvSpPr>
        <p:spPr>
          <a:xfrm>
            <a:off x="9381744" y="1554480"/>
            <a:ext cx="2670048" cy="3749040"/>
          </a:xfrm>
          <a:prstGeom prst="roundRect">
            <a:avLst>
              <a:gd name="adj" fmla="val 2740"/>
            </a:avLst>
          </a:prstGeom>
          <a:solidFill>
            <a:srgbClr val="111111"/>
          </a:solidFill>
          <a:ln/>
        </p:spPr>
      </p:sp>
      <p:pic>
        <p:nvPicPr>
          <p:cNvPr id="22" name="Image 3" descr="preencoded.png">    </p:cNvPr>
          <p:cNvPicPr>
            <a:picLocks noChangeAspect="1"/>
          </p:cNvPicPr>
          <p:nvPr/>
        </p:nvPicPr>
        <p:blipFill>
          <a:blip r:embed="rId4"/>
          <a:stretch>
            <a:fillRect/>
          </a:stretch>
        </p:blipFill>
        <p:spPr>
          <a:xfrm>
            <a:off x="9656064" y="1828800"/>
            <a:ext cx="640080" cy="640080"/>
          </a:xfrm>
          <a:prstGeom prst="rect">
            <a:avLst/>
          </a:prstGeom>
        </p:spPr>
      </p:pic>
      <p:sp>
        <p:nvSpPr>
          <p:cNvPr id="23" name="Text 17"/>
          <p:cNvSpPr/>
          <p:nvPr/>
        </p:nvSpPr>
        <p:spPr>
          <a:xfrm>
            <a:off x="11119104" y="1783080"/>
            <a:ext cx="731520" cy="731520"/>
          </a:xfrm>
          <a:prstGeom prst="rect">
            <a:avLst/>
          </a:prstGeom>
          <a:noFill/>
          <a:ln/>
        </p:spPr>
        <p:txBody>
          <a:bodyPr wrap="square" lIns="0" tIns="0" rIns="0" bIns="0" rtlCol="0" anchor="ctr"/>
          <a:lstStyle/>
          <a:p>
            <a:pPr algn="r" indent="0" marL="0">
              <a:buNone/>
            </a:pPr>
            <a:r>
              <a:rPr lang="en-US" sz="4000" b="1" dirty="0">
                <a:solidFill>
                  <a:srgbClr val="C8102E"/>
                </a:solidFill>
                <a:latin typeface="Arial" pitchFamily="34" charset="0"/>
                <a:ea typeface="Arial" pitchFamily="34" charset="-122"/>
                <a:cs typeface="Arial" pitchFamily="34" charset="-120"/>
              </a:rPr>
              <a:t>4</a:t>
            </a:r>
            <a:endParaRPr lang="en-US" sz="4000" dirty="0"/>
          </a:p>
        </p:txBody>
      </p:sp>
      <p:sp>
        <p:nvSpPr>
          <p:cNvPr id="24" name="Text 18"/>
          <p:cNvSpPr/>
          <p:nvPr/>
        </p:nvSpPr>
        <p:spPr>
          <a:xfrm>
            <a:off x="9656064" y="2697480"/>
            <a:ext cx="2148840" cy="68580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Dispatch + outreach</a:t>
            </a:r>
            <a:endParaRPr lang="en-US" sz="1550" dirty="0"/>
          </a:p>
        </p:txBody>
      </p:sp>
      <p:sp>
        <p:nvSpPr>
          <p:cNvPr id="25" name="Text 19"/>
          <p:cNvSpPr/>
          <p:nvPr/>
        </p:nvSpPr>
        <p:spPr>
          <a:xfrm>
            <a:off x="9656064" y="3383280"/>
            <a:ext cx="2148840" cy="1737360"/>
          </a:xfrm>
          <a:prstGeom prst="rect">
            <a:avLst/>
          </a:prstGeom>
          <a:noFill/>
          <a:ln/>
        </p:spPr>
        <p:txBody>
          <a:bodyPr wrap="square" lIns="0" tIns="0" rIns="0" bIns="0" rtlCol="0" anchor="ctr"/>
          <a:lstStyle/>
          <a:p>
            <a:pPr indent="0" marL="0">
              <a:buNone/>
            </a:pPr>
            <a:r>
              <a:rPr lang="en-US" sz="1200" dirty="0">
                <a:solidFill>
                  <a:srgbClr val="E0E0E0"/>
                </a:solidFill>
                <a:latin typeface="Arial" pitchFamily="34" charset="0"/>
                <a:ea typeface="Arial" pitchFamily="34" charset="-122"/>
                <a:cs typeface="Arial" pitchFamily="34" charset="-120"/>
              </a:rPr>
              <a:t>Reps get routed lists; automated calls, texts, and emails warm the same doors in parallel.</a:t>
            </a:r>
            <a:endParaRPr lang="en-US" sz="1200" dirty="0"/>
          </a:p>
        </p:txBody>
      </p:sp>
      <p:sp>
        <p:nvSpPr>
          <p:cNvPr id="26" name="Text 20"/>
          <p:cNvSpPr/>
          <p:nvPr/>
        </p:nvSpPr>
        <p:spPr>
          <a:xfrm>
            <a:off x="548640" y="5623560"/>
            <a:ext cx="11064240" cy="54864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Net effect: </a:t>
            </a:r>
            <a:pPr indent="0" marL="0">
              <a:buNone/>
            </a:pPr>
            <a:r>
              <a:rPr lang="en-US" sz="1400" dirty="0">
                <a:solidFill>
                  <a:srgbClr val="6E6E6E"/>
                </a:solidFill>
                <a:latin typeface="Arial" pitchFamily="34" charset="0"/>
                <a:ea typeface="Arial" pitchFamily="34" charset="-122"/>
                <a:cs typeface="Arial" pitchFamily="34" charset="-120"/>
              </a:rPr>
              <a:t>the same crew, the same day, working only the doors with verified damage and the right owner profile.</a:t>
            </a:r>
            <a:endParaRPr lang="en-US" sz="1400" dirty="0"/>
          </a:p>
        </p:txBody>
      </p:sp>
      <p:sp>
        <p:nvSpPr>
          <p:cNvPr id="27" name="Text 21"/>
          <p:cNvSpPr/>
          <p:nvPr/>
        </p:nvSpPr>
        <p:spPr>
          <a:xfrm>
            <a:off x="548640" y="6473952"/>
            <a:ext cx="9601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Workflow per stormscout.ai How It Works.</a:t>
            </a:r>
            <a:endParaRPr lang="en-US" sz="900" dirty="0"/>
          </a:p>
        </p:txBody>
      </p:sp>
      <p:sp>
        <p:nvSpPr>
          <p:cNvPr id="28" name="Text 2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Why this is a numbers play, not a gadget</a:t>
            </a:r>
            <a:endParaRPr lang="en-US" sz="3200" dirty="0"/>
          </a:p>
        </p:txBody>
      </p:sp>
      <p:sp>
        <p:nvSpPr>
          <p:cNvPr id="3" name="Text 1"/>
          <p:cNvSpPr/>
          <p:nvPr/>
        </p:nvSpPr>
        <p:spPr>
          <a:xfrm>
            <a:off x="548640" y="1078992"/>
            <a:ext cx="10881360" cy="365760"/>
          </a:xfrm>
          <a:prstGeom prst="rect">
            <a:avLst/>
          </a:prstGeom>
          <a:noFill/>
          <a:ln/>
        </p:spPr>
        <p:txBody>
          <a:bodyPr wrap="square" lIns="0" tIns="0" rIns="0" bIns="0" rtlCol="0" anchor="ctr"/>
          <a:lstStyle/>
          <a:p>
            <a:pPr indent="0" marL="0">
              <a:buNone/>
            </a:pPr>
            <a:r>
              <a:rPr lang="en-US" sz="1500" dirty="0">
                <a:solidFill>
                  <a:srgbClr val="6E6E6E"/>
                </a:solidFill>
                <a:latin typeface="Arial" pitchFamily="34" charset="0"/>
                <a:ea typeface="Arial" pitchFamily="34" charset="-122"/>
                <a:cs typeface="Arial" pitchFamily="34" charset="-120"/>
              </a:rPr>
              <a:t>Each feature maps to one measurable line we already track (or should).</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017520"/>
                <a:gridCol w="4754880"/>
                <a:gridCol w="3291840"/>
              </a:tblGrid>
              <a:tr h="566928">
                <a:tc>
                  <a:txBody>
                    <a:bodyPr/>
                    <a:lstStyle/>
                    <a:p>
                      <a:pPr indent="0" marL="0">
                        <a:buNone/>
                      </a:pPr>
                      <a:r>
                        <a:rPr lang="en-US" sz="1400" b="1" dirty="0">
                          <a:solidFill>
                            <a:srgbClr val="FFFFFF"/>
                          </a:solidFill>
                          <a:latin typeface="Arial" pitchFamily="34" charset="0"/>
                          <a:ea typeface="Arial" pitchFamily="34" charset="-122"/>
                          <a:cs typeface="Arial" pitchFamily="34" charset="-120"/>
                        </a:rPr>
                        <a:t>Feature</a:t>
                      </a:r>
                      <a:endParaRPr lang="en-US" sz="140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What changes on the ground</a:t>
                      </a:r>
                      <a:endParaRPr lang="en-US" sz="140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Metric it moves</a:t>
                      </a:r>
                      <a:endParaRPr lang="en-US" sz="140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r>
              <a:tr h="566928">
                <a:tc>
                  <a:txBody>
                    <a:bodyPr/>
                    <a:lstStyle/>
                    <a:p>
                      <a:pPr indent="0" marL="0">
                        <a:buNone/>
                      </a:pPr>
                      <a:r>
                        <a:rPr lang="en-US" sz="1250" dirty="0">
                          <a:solidFill>
                            <a:srgbClr val="2A2A2A"/>
                          </a:solidFill>
                          <a:latin typeface="Arial" pitchFamily="34" charset="0"/>
                          <a:ea typeface="Arial" pitchFamily="34" charset="-122"/>
                          <a:cs typeface="Arial" pitchFamily="34" charset="-120"/>
                        </a:rPr>
                        <a:t>Verified damage maps</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2A2A2A"/>
                          </a:solidFill>
                          <a:latin typeface="Arial" pitchFamily="34" charset="0"/>
                          <a:ea typeface="Arial" pitchFamily="34" charset="-122"/>
                          <a:cs typeface="Arial" pitchFamily="34" charset="-120"/>
                        </a:rPr>
                        <a:t>Reps stop knocking undamaged streets</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b="1" dirty="0">
                          <a:solidFill>
                            <a:srgbClr val="C8102E"/>
                          </a:solidFill>
                          <a:latin typeface="Arial" pitchFamily="34" charset="0"/>
                          <a:ea typeface="Arial" pitchFamily="34" charset="-122"/>
                          <a:cs typeface="Arial" pitchFamily="34" charset="-120"/>
                        </a:rPr>
                        <a:t>Rep-hours per signed contract ↓</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66928">
                <a:tc>
                  <a:txBody>
                    <a:bodyPr/>
                    <a:lstStyle/>
                    <a:p>
                      <a:pPr indent="0" marL="0">
                        <a:buNone/>
                      </a:pPr>
                      <a:r>
                        <a:rPr lang="en-US" sz="1250" dirty="0">
                          <a:solidFill>
                            <a:srgbClr val="2A2A2A"/>
                          </a:solidFill>
                          <a:latin typeface="Arial" pitchFamily="34" charset="0"/>
                          <a:ea typeface="Arial" pitchFamily="34" charset="-122"/>
                          <a:cs typeface="Arial" pitchFamily="34" charset="-120"/>
                        </a:rPr>
                        <a:t>Owner/roof/income filters</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2A2A2A"/>
                          </a:solidFill>
                          <a:latin typeface="Arial" pitchFamily="34" charset="0"/>
                          <a:ea typeface="Arial" pitchFamily="34" charset="-122"/>
                          <a:cs typeface="Arial" pitchFamily="34" charset="-120"/>
                        </a:rPr>
                        <a:t>Knock list pre-matched to our ideal job profile</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b="1" dirty="0">
                          <a:solidFill>
                            <a:srgbClr val="C8102E"/>
                          </a:solidFill>
                          <a:latin typeface="Arial" pitchFamily="34" charset="0"/>
                          <a:ea typeface="Arial" pitchFamily="34" charset="-122"/>
                          <a:cs typeface="Arial" pitchFamily="34" charset="-120"/>
                        </a:rPr>
                        <a:t>Inspection → contract rate ↑</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66928">
                <a:tc>
                  <a:txBody>
                    <a:bodyPr/>
                    <a:lstStyle/>
                    <a:p>
                      <a:pPr indent="0" marL="0">
                        <a:buNone/>
                      </a:pPr>
                      <a:r>
                        <a:rPr lang="en-US" sz="1250" dirty="0">
                          <a:solidFill>
                            <a:srgbClr val="2A2A2A"/>
                          </a:solidFill>
                          <a:latin typeface="Arial" pitchFamily="34" charset="0"/>
                          <a:ea typeface="Arial" pitchFamily="34" charset="-122"/>
                          <a:cs typeface="Arial" pitchFamily="34" charset="-120"/>
                        </a:rPr>
                        <a:t>Instant storm alerts</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2A2A2A"/>
                          </a:solidFill>
                          <a:latin typeface="Arial" pitchFamily="34" charset="0"/>
                          <a:ea typeface="Arial" pitchFamily="34" charset="-122"/>
                          <a:cs typeface="Arial" pitchFamily="34" charset="-120"/>
                        </a:rPr>
                        <a:t>First trucks in the neighborhood, not third</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b="1" dirty="0">
                          <a:solidFill>
                            <a:srgbClr val="C8102E"/>
                          </a:solidFill>
                          <a:latin typeface="Arial" pitchFamily="34" charset="0"/>
                          <a:ea typeface="Arial" pitchFamily="34" charset="-122"/>
                          <a:cs typeface="Arial" pitchFamily="34" charset="-120"/>
                        </a:rPr>
                        <a:t>Win rate on storm jobs ↑</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66928">
                <a:tc>
                  <a:txBody>
                    <a:bodyPr/>
                    <a:lstStyle/>
                    <a:p>
                      <a:pPr indent="0" marL="0">
                        <a:buNone/>
                      </a:pPr>
                      <a:r>
                        <a:rPr lang="en-US" sz="1250" dirty="0">
                          <a:solidFill>
                            <a:srgbClr val="2A2A2A"/>
                          </a:solidFill>
                          <a:latin typeface="Arial" pitchFamily="34" charset="0"/>
                          <a:ea typeface="Arial" pitchFamily="34" charset="-122"/>
                          <a:cs typeface="Arial" pitchFamily="34" charset="-120"/>
                        </a:rPr>
                        <a:t>Automated calls / texts / emails</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2A2A2A"/>
                          </a:solidFill>
                          <a:latin typeface="Arial" pitchFamily="34" charset="0"/>
                          <a:ea typeface="Arial" pitchFamily="34" charset="-122"/>
                          <a:cs typeface="Arial" pitchFamily="34" charset="-120"/>
                        </a:rPr>
                        <a:t>Follow-up runs with zero extra rep payroll</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b="1" dirty="0">
                          <a:solidFill>
                            <a:srgbClr val="C8102E"/>
                          </a:solidFill>
                          <a:latin typeface="Arial" pitchFamily="34" charset="0"/>
                          <a:ea typeface="Arial" pitchFamily="34" charset="-122"/>
                          <a:cs typeface="Arial" pitchFamily="34" charset="-120"/>
                        </a:rPr>
                        <a:t>Cost per touch ↓</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66928">
                <a:tc>
                  <a:txBody>
                    <a:bodyPr/>
                    <a:lstStyle/>
                    <a:p>
                      <a:pPr indent="0" marL="0">
                        <a:buNone/>
                      </a:pPr>
                      <a:r>
                        <a:rPr lang="en-US" sz="1250" dirty="0">
                          <a:solidFill>
                            <a:srgbClr val="2A2A2A"/>
                          </a:solidFill>
                          <a:latin typeface="Arial" pitchFamily="34" charset="0"/>
                          <a:ea typeface="Arial" pitchFamily="34" charset="-122"/>
                          <a:cs typeface="Arial" pitchFamily="34" charset="-120"/>
                        </a:rPr>
                        <a:t>In-app pre-qualified leads</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2A2A2A"/>
                          </a:solidFill>
                          <a:latin typeface="Arial" pitchFamily="34" charset="0"/>
                          <a:ea typeface="Arial" pitchFamily="34" charset="-122"/>
                          <a:cs typeface="Arial" pitchFamily="34" charset="-120"/>
                        </a:rPr>
                        <a:t>Inbound work in our service area, exclusive to us</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b="1" dirty="0">
                          <a:solidFill>
                            <a:srgbClr val="C8102E"/>
                          </a:solidFill>
                          <a:latin typeface="Arial" pitchFamily="34" charset="0"/>
                          <a:ea typeface="Arial" pitchFamily="34" charset="-122"/>
                          <a:cs typeface="Arial" pitchFamily="34" charset="-120"/>
                        </a:rPr>
                        <a:t>Cost per sold job vs. shared leads ↓</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
        <p:nvSpPr>
          <p:cNvPr id="5" name="Shape 2"/>
          <p:cNvSpPr/>
          <p:nvPr/>
        </p:nvSpPr>
        <p:spPr>
          <a:xfrm>
            <a:off x="548640" y="5532120"/>
            <a:ext cx="11064240" cy="731520"/>
          </a:xfrm>
          <a:prstGeom prst="roundRect">
            <a:avLst>
              <a:gd name="adj" fmla="val 7500"/>
            </a:avLst>
          </a:prstGeom>
          <a:solidFill>
            <a:srgbClr val="FBEAEC"/>
          </a:solidFill>
          <a:ln/>
        </p:spPr>
      </p:sp>
      <p:sp>
        <p:nvSpPr>
          <p:cNvPr id="6" name="Text 3"/>
          <p:cNvSpPr/>
          <p:nvPr/>
        </p:nvSpPr>
        <p:spPr>
          <a:xfrm>
            <a:off x="868680" y="5623560"/>
            <a:ext cx="10515600" cy="566928"/>
          </a:xfrm>
          <a:prstGeom prst="rect">
            <a:avLst/>
          </a:prstGeom>
          <a:noFill/>
          <a:ln/>
        </p:spPr>
        <p:txBody>
          <a:bodyPr wrap="square" lIns="0" tIns="0" rIns="0" bIns="0" rtlCol="0" anchor="ctr"/>
          <a:lstStyle/>
          <a:p>
            <a:pPr indent="0" marL="0">
              <a:buNone/>
            </a:pPr>
            <a:r>
              <a:rPr lang="en-US" sz="1350" b="1" dirty="0">
                <a:solidFill>
                  <a:srgbClr val="111111"/>
                </a:solidFill>
                <a:latin typeface="Arial" pitchFamily="34" charset="0"/>
                <a:ea typeface="Arial" pitchFamily="34" charset="-122"/>
                <a:cs typeface="Arial" pitchFamily="34" charset="-120"/>
              </a:rPr>
              <a:t>Every one of these is already a number in our world. </a:t>
            </a:r>
            <a:pPr indent="0" marL="0">
              <a:buNone/>
            </a:pPr>
            <a:r>
              <a:rPr lang="en-US" sz="1350" dirty="0">
                <a:solidFill>
                  <a:srgbClr val="2A2A2A"/>
                </a:solidFill>
                <a:latin typeface="Arial" pitchFamily="34" charset="0"/>
                <a:ea typeface="Arial" pitchFamily="34" charset="-122"/>
                <a:cs typeface="Arial" pitchFamily="34" charset="-120"/>
              </a:rPr>
              <a:t>That means the tool can be proven — or disproven — with our own data in one quarter.</a:t>
            </a:r>
            <a:endParaRPr lang="en-US" sz="1350" dirty="0"/>
          </a:p>
        </p:txBody>
      </p:sp>
      <p:sp>
        <p:nvSpPr>
          <p:cNvPr id="7" name="Text 4"/>
          <p:cNvSpPr/>
          <p:nvPr/>
        </p:nvSpPr>
        <p:spPr>
          <a:xfrm>
            <a:off x="548640" y="6473952"/>
            <a:ext cx="9601200" cy="274320"/>
          </a:xfrm>
          <a:prstGeom prst="rect">
            <a:avLst/>
          </a:prstGeom>
          <a:noFill/>
          <a:ln/>
        </p:spPr>
        <p:txBody>
          <a:bodyPr wrap="square" lIns="0" tIns="0" rIns="0" bIns="0" rtlCol="0" anchor="ctr"/>
          <a:lstStyle/>
          <a:p>
            <a:pPr indent="0" marL="0">
              <a:buNone/>
            </a:pPr>
            <a:endParaRPr lang="en-US" sz="900" dirty="0"/>
          </a:p>
        </p:txBody>
      </p:sp>
      <p:sp>
        <p:nvSpPr>
          <p:cNvPr id="8" name="Text 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The actual price list</a:t>
            </a:r>
            <a:endParaRPr lang="en-US" sz="3200" dirty="0"/>
          </a:p>
        </p:txBody>
      </p:sp>
      <p:sp>
        <p:nvSpPr>
          <p:cNvPr id="3" name="Text 1"/>
          <p:cNvSpPr/>
          <p:nvPr/>
        </p:nvSpPr>
        <p:spPr>
          <a:xfrm>
            <a:off x="548640" y="932688"/>
            <a:ext cx="10881360" cy="320040"/>
          </a:xfrm>
          <a:prstGeom prst="rect">
            <a:avLst/>
          </a:prstGeom>
          <a:noFill/>
          <a:ln/>
        </p:spPr>
        <p:txBody>
          <a:bodyPr wrap="square" lIns="0" tIns="0" rIns="0" bIns="0" rtlCol="0" anchor="ctr"/>
          <a:lstStyle/>
          <a:p>
            <a:pPr indent="0" marL="0">
              <a:buNone/>
            </a:pPr>
            <a:r>
              <a:rPr lang="en-US" sz="1500" dirty="0">
                <a:solidFill>
                  <a:srgbClr val="6E6E6E"/>
                </a:solidFill>
                <a:latin typeface="Arial" pitchFamily="34" charset="0"/>
                <a:ea typeface="Arial" pitchFamily="34" charset="-122"/>
                <a:cs typeface="Arial" pitchFamily="34" charset="-120"/>
              </a:rPr>
              <a:t>Published on stormscout.ai/pricing — no quote games. Founding Member is the play.</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1691640"/>
                <a:gridCol w="1920240"/>
                <a:gridCol w="1828800"/>
                <a:gridCol w="1965960"/>
                <a:gridCol w="1920240"/>
              </a:tblGrid>
              <a:tr h="475488">
                <a:tc>
                  <a:txBody>
                    <a:bodyPr/>
                    <a:lstStyle/>
                    <a:p>
                      <a:pPr algn="ctr" indent="0" marL="0">
                        <a:buNone/>
                      </a:pPr>
                      <a:endParaRPr lang="en-US" sz="11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Bronze</a:t>
                      </a:r>
                      <a:endParaRPr lang="en-US" sz="11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Silver</a:t>
                      </a:r>
                      <a:endParaRPr lang="en-US" sz="11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Gold</a:t>
                      </a:r>
                      <a:endParaRPr lang="en-US" sz="11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Platinum</a:t>
                      </a:r>
                      <a:endParaRPr lang="en-US" sz="11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Founding*  (our pick)</a:t>
                      </a:r>
                      <a:endParaRPr lang="en-US" sz="11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C8102E"/>
                    </a:solidFill>
                  </a:tcPr>
                </a:tc>
              </a:tr>
              <a:tr h="411480">
                <a:tc>
                  <a:txBody>
                    <a:bodyPr/>
                    <a:lstStyle/>
                    <a:p>
                      <a:pPr indent="0" marL="0">
                        <a:buNone/>
                      </a:pPr>
                      <a:r>
                        <a:rPr lang="en-US" sz="1100" b="1" dirty="0">
                          <a:solidFill>
                            <a:srgbClr val="111111"/>
                          </a:solidFill>
                          <a:latin typeface="Arial" pitchFamily="34" charset="0"/>
                          <a:ea typeface="Arial" pitchFamily="34" charset="-122"/>
                          <a:cs typeface="Arial" pitchFamily="34" charset="-120"/>
                        </a:rPr>
                        <a:t>Price / month</a:t>
                      </a:r>
                      <a:endParaRPr lang="en-US" sz="11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C8102E"/>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C8102E"/>
                          </a:solidFill>
                          <a:latin typeface="Arial" pitchFamily="34" charset="0"/>
                          <a:ea typeface="Arial" pitchFamily="34" charset="-122"/>
                          <a:cs typeface="Arial" pitchFamily="34" charset="-120"/>
                        </a:rPr>
                        <a:t>$500</a:t>
                      </a:r>
                      <a:endParaRPr lang="en-US" sz="13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C8102E"/>
                          </a:solidFill>
                          <a:latin typeface="Arial" pitchFamily="34" charset="0"/>
                          <a:ea typeface="Arial" pitchFamily="34" charset="-122"/>
                          <a:cs typeface="Arial" pitchFamily="34" charset="-120"/>
                        </a:rPr>
                        <a:t>$1,000</a:t>
                      </a:r>
                      <a:endParaRPr lang="en-US" sz="13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C8102E"/>
                          </a:solidFill>
                          <a:latin typeface="Arial" pitchFamily="34" charset="0"/>
                          <a:ea typeface="Arial" pitchFamily="34" charset="-122"/>
                          <a:cs typeface="Arial" pitchFamily="34" charset="-120"/>
                        </a:rPr>
                        <a:t>$2,500</a:t>
                      </a:r>
                      <a:endParaRPr lang="en-US" sz="13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C8102E"/>
                          </a:solidFill>
                          <a:latin typeface="Arial" pitchFamily="34" charset="0"/>
                          <a:ea typeface="Arial" pitchFamily="34" charset="-122"/>
                          <a:cs typeface="Arial" pitchFamily="34" charset="-120"/>
                        </a:rPr>
                        <a:t>$2,000*</a:t>
                      </a:r>
                      <a:endParaRPr lang="en-US" sz="13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BEAEC"/>
                    </a:solidFill>
                  </a:tcPr>
                </a:tc>
              </a:tr>
              <a:tr h="411480">
                <a:tc>
                  <a:txBody>
                    <a:bodyPr/>
                    <a:lstStyle/>
                    <a:p>
                      <a:pPr indent="0" marL="0">
                        <a:buNone/>
                      </a:pPr>
                      <a:r>
                        <a:rPr lang="en-US" sz="1100" b="1" dirty="0">
                          <a:solidFill>
                            <a:srgbClr val="111111"/>
                          </a:solidFill>
                          <a:latin typeface="Arial" pitchFamily="34" charset="0"/>
                          <a:ea typeface="Arial" pitchFamily="34" charset="-122"/>
                          <a:cs typeface="Arial" pitchFamily="34" charset="-120"/>
                        </a:rPr>
                        <a:t>Storm maps</a:t>
                      </a:r>
                      <a:endParaRPr lang="en-US" sz="11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1 / month</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5 / month</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Unlimited</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Unlimited</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Unlimited</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BEAEC"/>
                    </a:solidFill>
                  </a:tcPr>
                </a:tc>
              </a:tr>
              <a:tr h="685800">
                <a:tc>
                  <a:txBody>
                    <a:bodyPr/>
                    <a:lstStyle/>
                    <a:p>
                      <a:pPr indent="0" marL="0">
                        <a:buNone/>
                      </a:pPr>
                      <a:r>
                        <a:rPr lang="en-US" sz="1100" b="1" dirty="0">
                          <a:solidFill>
                            <a:srgbClr val="111111"/>
                          </a:solidFill>
                          <a:latin typeface="Arial" pitchFamily="34" charset="0"/>
                          <a:ea typeface="Arial" pitchFamily="34" charset="-122"/>
                          <a:cs typeface="Arial" pitchFamily="34" charset="-120"/>
                        </a:rPr>
                        <a:t>Filters</a:t>
                      </a:r>
                      <a:endParaRPr lang="en-US" sz="11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Basic (ZIP, storm date)</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Advanced (hail size, roof age…)</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Advanced, unlimited searches</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Custom alerts + territory tracking</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Same as Platinum</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BEAEC"/>
                    </a:solidFill>
                  </a:tcPr>
                </a:tc>
              </a:tr>
              <a:tr h="411480">
                <a:tc>
                  <a:txBody>
                    <a:bodyPr/>
                    <a:lstStyle/>
                    <a:p>
                      <a:pPr indent="0" marL="0">
                        <a:buNone/>
                      </a:pPr>
                      <a:r>
                        <a:rPr lang="en-US" sz="1100" b="1" dirty="0">
                          <a:solidFill>
                            <a:srgbClr val="111111"/>
                          </a:solidFill>
                          <a:latin typeface="Arial" pitchFamily="34" charset="0"/>
                          <a:ea typeface="Arial" pitchFamily="34" charset="-122"/>
                          <a:cs typeface="Arial" pitchFamily="34" charset="-120"/>
                        </a:rPr>
                        <a:t>Homeowner leads</a:t>
                      </a:r>
                      <a:endParaRPr lang="en-US" sz="11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Up to 25</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Up to 150</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Up to 500</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Unlimited</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Unlimited</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BEAEC"/>
                    </a:solidFill>
                  </a:tcPr>
                </a:tc>
              </a:tr>
              <a:tr h="411480">
                <a:tc>
                  <a:txBody>
                    <a:bodyPr/>
                    <a:lstStyle/>
                    <a:p>
                      <a:pPr indent="0" marL="0">
                        <a:buNone/>
                      </a:pPr>
                      <a:r>
                        <a:rPr lang="en-US" sz="1100" b="1" dirty="0">
                          <a:solidFill>
                            <a:srgbClr val="111111"/>
                          </a:solidFill>
                          <a:latin typeface="Arial" pitchFamily="34" charset="0"/>
                          <a:ea typeface="Arial" pitchFamily="34" charset="-122"/>
                          <a:cs typeface="Arial" pitchFamily="34" charset="-120"/>
                        </a:rPr>
                        <a:t>Automated outreach</a:t>
                      </a:r>
                      <a:endParaRPr lang="en-US" sz="11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SMS, email, calls</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SMS, email, calls</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SMS, email, calls</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BEAEC"/>
                    </a:solidFill>
                  </a:tcPr>
                </a:tc>
              </a:tr>
              <a:tr h="685800">
                <a:tc>
                  <a:txBody>
                    <a:bodyPr/>
                    <a:lstStyle/>
                    <a:p>
                      <a:pPr indent="0" marL="0">
                        <a:buNone/>
                      </a:pPr>
                      <a:r>
                        <a:rPr lang="en-US" sz="1100" b="1" dirty="0">
                          <a:solidFill>
                            <a:srgbClr val="111111"/>
                          </a:solidFill>
                          <a:latin typeface="Arial" pitchFamily="34" charset="0"/>
                          <a:ea typeface="Arial" pitchFamily="34" charset="-122"/>
                          <a:cs typeface="Arial" pitchFamily="34" charset="-120"/>
                        </a:rPr>
                        <a:t>Also includes</a:t>
                      </a:r>
                      <a:endParaRPr lang="en-US" sz="110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Mobile &amp; desktop</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Real-time alerts, hail &amp; wind maps</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Property-ownership detail</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Analytics, priority support &amp; onboarding</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050" dirty="0">
                          <a:solidFill>
                            <a:srgbClr val="2A2A2A"/>
                          </a:solidFill>
                          <a:latin typeface="Arial" pitchFamily="34" charset="0"/>
                          <a:ea typeface="Arial" pitchFamily="34" charset="-122"/>
                          <a:cs typeface="Arial" pitchFamily="34" charset="-120"/>
                        </a:rPr>
                        <a:t>Lifetime price lock, partner network</a:t>
                      </a:r>
                      <a:endParaRPr lang="en-US" sz="1050" dirty="0">
                        <a:latin typeface="Arial" charset="0"/>
                        <a:ea typeface="Arial" charset="0"/>
                        <a:cs typeface="Arial" charset="0"/>
                      </a:endParaRPr>
                    </a:p>
                  </a:txBody>
                  <a:tcPr marL="54864" marR="54864"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BEAEC"/>
                    </a:solidFill>
                  </a:tcPr>
                </a:tc>
              </a:tr>
            </a:tbl>
          </a:graphicData>
        </a:graphic>
      </p:graphicFrame>
      <p:sp>
        <p:nvSpPr>
          <p:cNvPr id="5" name="Shape 2"/>
          <p:cNvSpPr/>
          <p:nvPr/>
        </p:nvSpPr>
        <p:spPr>
          <a:xfrm>
            <a:off x="548640" y="5486400"/>
            <a:ext cx="11064240" cy="731520"/>
          </a:xfrm>
          <a:prstGeom prst="roundRect">
            <a:avLst>
              <a:gd name="adj" fmla="val 7500"/>
            </a:avLst>
          </a:prstGeom>
          <a:solidFill>
            <a:srgbClr val="111111"/>
          </a:solidFill>
          <a:ln/>
        </p:spPr>
      </p:sp>
      <p:sp>
        <p:nvSpPr>
          <p:cNvPr id="6" name="Text 3"/>
          <p:cNvSpPr/>
          <p:nvPr/>
        </p:nvSpPr>
        <p:spPr>
          <a:xfrm>
            <a:off x="868680" y="5577840"/>
            <a:ext cx="10515600" cy="56692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Founding = every Platinum feature at $2,000 — $6,000/yr under sticker, locked for life. </a:t>
            </a:r>
            <a:pPr indent="0" marL="0">
              <a:buNone/>
            </a:pPr>
            <a:r>
              <a:rPr lang="en-US" sz="1350" dirty="0">
                <a:solidFill>
                  <a:srgbClr val="E6E6E6"/>
                </a:solidFill>
                <a:latin typeface="Arial" pitchFamily="34" charset="0"/>
                <a:ea typeface="Arial" pitchFamily="34" charset="-122"/>
                <a:cs typeface="Arial" pitchFamily="34" charset="-120"/>
              </a:rPr>
              <a:t>Unlimited maps, leads, and outreach for the whole team, vs. $150–300 per shared lead resold to competitors.</a:t>
            </a:r>
            <a:endParaRPr lang="en-US" sz="1350" dirty="0"/>
          </a:p>
        </p:txBody>
      </p:sp>
      <p:sp>
        <p:nvSpPr>
          <p:cNvPr id="7" name="Text 4"/>
          <p:cNvSpPr/>
          <p:nvPr/>
        </p:nvSpPr>
        <p:spPr>
          <a:xfrm>
            <a:off x="548640" y="6473952"/>
            <a:ext cx="9601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*Founding Member: all Platinum features, $2,000/month locked for life. Get cancellation terms in writing on the demo. Source: stormscout.ai/pricing, Aug 20, 2026.</a:t>
            </a:r>
            <a:endParaRPr lang="en-US" sz="900" dirty="0"/>
          </a:p>
        </p:txBody>
      </p:sp>
      <p:sp>
        <p:nvSpPr>
          <p:cNvPr id="8" name="Text 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Cost per lead vs. the channels we already know</a:t>
            </a:r>
            <a:endParaRPr lang="en-US" sz="3200" dirty="0"/>
          </a:p>
        </p:txBody>
      </p:sp>
      <p:sp>
        <p:nvSpPr>
          <p:cNvPr id="3" name="Text 1"/>
          <p:cNvSpPr/>
          <p:nvPr/>
        </p:nvSpPr>
        <p:spPr>
          <a:xfrm>
            <a:off x="548640" y="1078992"/>
            <a:ext cx="10881360" cy="502920"/>
          </a:xfrm>
          <a:prstGeom prst="rect">
            <a:avLst/>
          </a:prstGeom>
          <a:noFill/>
          <a:ln/>
        </p:spPr>
        <p:txBody>
          <a:bodyPr wrap="square" lIns="0" tIns="0" rIns="0" bIns="0" rtlCol="0" anchor="ctr"/>
          <a:lstStyle/>
          <a:p>
            <a:pPr indent="0" marL="0">
              <a:buNone/>
            </a:pPr>
            <a:r>
              <a:rPr lang="en-US" sz="1500" dirty="0">
                <a:solidFill>
                  <a:srgbClr val="6E6E6E"/>
                </a:solidFill>
                <a:latin typeface="Arial" pitchFamily="34" charset="0"/>
                <a:ea typeface="Arial" pitchFamily="34" charset="-122"/>
                <a:cs typeface="Arial" pitchFamily="34" charset="-120"/>
              </a:rPr>
              <a:t>Typical published per-lead prices for roofing (midpoints charted, ranges at right). Worth checking against our own ad history.</a:t>
            </a:r>
            <a:endParaRPr lang="en-US" sz="1500" dirty="0"/>
          </a:p>
        </p:txBody>
      </p:sp>
      <p:sp>
        <p:nvSpPr>
          <p:cNvPr id="4" name="Text 2"/>
          <p:cNvSpPr/>
          <p:nvPr/>
        </p:nvSpPr>
        <p:spPr>
          <a:xfrm>
            <a:off x="548640" y="1645920"/>
            <a:ext cx="6583680" cy="32004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Typical cost per roofing lead  ($ midpoints)</a:t>
            </a:r>
            <a:endParaRPr lang="en-US" sz="1400" dirty="0"/>
          </a:p>
        </p:txBody>
      </p:sp>
      <p:sp>
        <p:nvSpPr>
          <p:cNvPr id="5" name="Text 3"/>
          <p:cNvSpPr/>
          <p:nvPr/>
        </p:nvSpPr>
        <p:spPr>
          <a:xfrm>
            <a:off x="548640" y="2057400"/>
            <a:ext cx="1737360" cy="457200"/>
          </a:xfrm>
          <a:prstGeom prst="rect">
            <a:avLst/>
          </a:prstGeom>
          <a:noFill/>
          <a:ln/>
        </p:spPr>
        <p:txBody>
          <a:bodyPr wrap="square" lIns="0" tIns="0" rIns="0" bIns="0" rtlCol="0" anchor="ctr"/>
          <a:lstStyle/>
          <a:p>
            <a:pPr algn="r" indent="0" marL="0">
              <a:buNone/>
            </a:pPr>
            <a:r>
              <a:rPr lang="en-US" sz="1250" b="1" dirty="0">
                <a:solidFill>
                  <a:srgbClr val="2A2A2A"/>
                </a:solidFill>
                <a:latin typeface="Arial" pitchFamily="34" charset="0"/>
                <a:ea typeface="Arial" pitchFamily="34" charset="-122"/>
                <a:cs typeface="Arial" pitchFamily="34" charset="-120"/>
              </a:rPr>
              <a:t>Google Ads / LSA</a:t>
            </a:r>
            <a:endParaRPr lang="en-US" sz="1250" dirty="0"/>
          </a:p>
        </p:txBody>
      </p:sp>
      <p:sp>
        <p:nvSpPr>
          <p:cNvPr id="6" name="Shape 4"/>
          <p:cNvSpPr/>
          <p:nvPr/>
        </p:nvSpPr>
        <p:spPr>
          <a:xfrm>
            <a:off x="2377440" y="2103120"/>
            <a:ext cx="4114800" cy="384048"/>
          </a:xfrm>
          <a:prstGeom prst="roundRect">
            <a:avLst>
              <a:gd name="adj" fmla="val 9524"/>
            </a:avLst>
          </a:prstGeom>
          <a:solidFill>
            <a:srgbClr val="9AA0A6"/>
          </a:solidFill>
          <a:ln/>
        </p:spPr>
      </p:sp>
      <p:sp>
        <p:nvSpPr>
          <p:cNvPr id="7" name="Text 5"/>
          <p:cNvSpPr/>
          <p:nvPr/>
        </p:nvSpPr>
        <p:spPr>
          <a:xfrm>
            <a:off x="6583680" y="2057400"/>
            <a:ext cx="822960" cy="45720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$160</a:t>
            </a:r>
            <a:endParaRPr lang="en-US" sz="1400" dirty="0"/>
          </a:p>
        </p:txBody>
      </p:sp>
      <p:sp>
        <p:nvSpPr>
          <p:cNvPr id="8" name="Text 6"/>
          <p:cNvSpPr/>
          <p:nvPr/>
        </p:nvSpPr>
        <p:spPr>
          <a:xfrm>
            <a:off x="548640" y="2715768"/>
            <a:ext cx="1737360" cy="457200"/>
          </a:xfrm>
          <a:prstGeom prst="rect">
            <a:avLst/>
          </a:prstGeom>
          <a:noFill/>
          <a:ln/>
        </p:spPr>
        <p:txBody>
          <a:bodyPr wrap="square" lIns="0" tIns="0" rIns="0" bIns="0" rtlCol="0" anchor="ctr"/>
          <a:lstStyle/>
          <a:p>
            <a:pPr algn="r" indent="0" marL="0">
              <a:buNone/>
            </a:pPr>
            <a:r>
              <a:rPr lang="en-US" sz="1250" b="1" dirty="0">
                <a:solidFill>
                  <a:srgbClr val="2A2A2A"/>
                </a:solidFill>
                <a:latin typeface="Arial" pitchFamily="34" charset="0"/>
                <a:ea typeface="Arial" pitchFamily="34" charset="-122"/>
                <a:cs typeface="Arial" pitchFamily="34" charset="-120"/>
              </a:rPr>
              <a:t>Angi</a:t>
            </a:r>
            <a:endParaRPr lang="en-US" sz="1250" dirty="0"/>
          </a:p>
        </p:txBody>
      </p:sp>
      <p:sp>
        <p:nvSpPr>
          <p:cNvPr id="9" name="Shape 7"/>
          <p:cNvSpPr/>
          <p:nvPr/>
        </p:nvSpPr>
        <p:spPr>
          <a:xfrm>
            <a:off x="2377440" y="2761488"/>
            <a:ext cx="2314575" cy="384048"/>
          </a:xfrm>
          <a:prstGeom prst="roundRect">
            <a:avLst>
              <a:gd name="adj" fmla="val 9524"/>
            </a:avLst>
          </a:prstGeom>
          <a:solidFill>
            <a:srgbClr val="9AA0A6"/>
          </a:solidFill>
          <a:ln/>
        </p:spPr>
      </p:sp>
      <p:sp>
        <p:nvSpPr>
          <p:cNvPr id="10" name="Text 8"/>
          <p:cNvSpPr/>
          <p:nvPr/>
        </p:nvSpPr>
        <p:spPr>
          <a:xfrm>
            <a:off x="4783455" y="2715768"/>
            <a:ext cx="822960" cy="45720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$90</a:t>
            </a:r>
            <a:endParaRPr lang="en-US" sz="1400" dirty="0"/>
          </a:p>
        </p:txBody>
      </p:sp>
      <p:sp>
        <p:nvSpPr>
          <p:cNvPr id="11" name="Text 9"/>
          <p:cNvSpPr/>
          <p:nvPr/>
        </p:nvSpPr>
        <p:spPr>
          <a:xfrm>
            <a:off x="548640" y="3374136"/>
            <a:ext cx="1737360" cy="457200"/>
          </a:xfrm>
          <a:prstGeom prst="rect">
            <a:avLst/>
          </a:prstGeom>
          <a:noFill/>
          <a:ln/>
        </p:spPr>
        <p:txBody>
          <a:bodyPr wrap="square" lIns="0" tIns="0" rIns="0" bIns="0" rtlCol="0" anchor="ctr"/>
          <a:lstStyle/>
          <a:p>
            <a:pPr algn="r" indent="0" marL="0">
              <a:buNone/>
            </a:pPr>
            <a:r>
              <a:rPr lang="en-US" sz="1250" b="1" dirty="0">
                <a:solidFill>
                  <a:srgbClr val="2A2A2A"/>
                </a:solidFill>
                <a:latin typeface="Arial" pitchFamily="34" charset="0"/>
                <a:ea typeface="Arial" pitchFamily="34" charset="-122"/>
                <a:cs typeface="Arial" pitchFamily="34" charset="-120"/>
              </a:rPr>
              <a:t>Thumbtack</a:t>
            </a:r>
            <a:endParaRPr lang="en-US" sz="1250" dirty="0"/>
          </a:p>
        </p:txBody>
      </p:sp>
      <p:sp>
        <p:nvSpPr>
          <p:cNvPr id="12" name="Shape 10"/>
          <p:cNvSpPr/>
          <p:nvPr/>
        </p:nvSpPr>
        <p:spPr>
          <a:xfrm>
            <a:off x="2377440" y="3419856"/>
            <a:ext cx="1491615" cy="384048"/>
          </a:xfrm>
          <a:prstGeom prst="roundRect">
            <a:avLst>
              <a:gd name="adj" fmla="val 9524"/>
            </a:avLst>
          </a:prstGeom>
          <a:solidFill>
            <a:srgbClr val="9AA0A6"/>
          </a:solidFill>
          <a:ln/>
        </p:spPr>
      </p:sp>
      <p:sp>
        <p:nvSpPr>
          <p:cNvPr id="13" name="Text 11"/>
          <p:cNvSpPr/>
          <p:nvPr/>
        </p:nvSpPr>
        <p:spPr>
          <a:xfrm>
            <a:off x="3960495" y="3374136"/>
            <a:ext cx="822960" cy="45720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$58</a:t>
            </a:r>
            <a:endParaRPr lang="en-US" sz="1400" dirty="0"/>
          </a:p>
        </p:txBody>
      </p:sp>
      <p:sp>
        <p:nvSpPr>
          <p:cNvPr id="14" name="Text 12"/>
          <p:cNvSpPr/>
          <p:nvPr/>
        </p:nvSpPr>
        <p:spPr>
          <a:xfrm>
            <a:off x="548640" y="4032504"/>
            <a:ext cx="1737360" cy="457200"/>
          </a:xfrm>
          <a:prstGeom prst="rect">
            <a:avLst/>
          </a:prstGeom>
          <a:noFill/>
          <a:ln/>
        </p:spPr>
        <p:txBody>
          <a:bodyPr wrap="square" lIns="0" tIns="0" rIns="0" bIns="0" rtlCol="0" anchor="ctr"/>
          <a:lstStyle/>
          <a:p>
            <a:pPr algn="r" indent="0" marL="0">
              <a:buNone/>
            </a:pPr>
            <a:r>
              <a:rPr lang="en-US" sz="1250" b="1" dirty="0">
                <a:solidFill>
                  <a:srgbClr val="C8102E"/>
                </a:solidFill>
                <a:latin typeface="Arial" pitchFamily="34" charset="0"/>
                <a:ea typeface="Arial" pitchFamily="34" charset="-122"/>
                <a:cs typeface="Arial" pitchFamily="34" charset="-120"/>
              </a:rPr>
              <a:t>Storm Scout*</a:t>
            </a:r>
            <a:endParaRPr lang="en-US" sz="1250" dirty="0"/>
          </a:p>
        </p:txBody>
      </p:sp>
      <p:sp>
        <p:nvSpPr>
          <p:cNvPr id="15" name="Shape 13"/>
          <p:cNvSpPr/>
          <p:nvPr/>
        </p:nvSpPr>
        <p:spPr>
          <a:xfrm>
            <a:off x="2377440" y="4078224"/>
            <a:ext cx="257175" cy="384048"/>
          </a:xfrm>
          <a:prstGeom prst="roundRect">
            <a:avLst>
              <a:gd name="adj" fmla="val 14222"/>
            </a:avLst>
          </a:prstGeom>
          <a:solidFill>
            <a:srgbClr val="C8102E"/>
          </a:solidFill>
          <a:ln/>
        </p:spPr>
      </p:sp>
      <p:sp>
        <p:nvSpPr>
          <p:cNvPr id="16" name="Text 14"/>
          <p:cNvSpPr/>
          <p:nvPr/>
        </p:nvSpPr>
        <p:spPr>
          <a:xfrm>
            <a:off x="2726055" y="4032504"/>
            <a:ext cx="822960" cy="457200"/>
          </a:xfrm>
          <a:prstGeom prst="rect">
            <a:avLst/>
          </a:prstGeom>
          <a:noFill/>
          <a:ln/>
        </p:spPr>
        <p:txBody>
          <a:bodyPr wrap="square" lIns="0" tIns="0" rIns="0" bIns="0" rtlCol="0" anchor="ctr"/>
          <a:lstStyle/>
          <a:p>
            <a:pPr indent="0" marL="0">
              <a:buNone/>
            </a:pPr>
            <a:r>
              <a:rPr lang="en-US" sz="1400" b="1" dirty="0">
                <a:solidFill>
                  <a:srgbClr val="C8102E"/>
                </a:solidFill>
                <a:latin typeface="Arial" pitchFamily="34" charset="0"/>
                <a:ea typeface="Arial" pitchFamily="34" charset="-122"/>
                <a:cs typeface="Arial" pitchFamily="34" charset="-120"/>
              </a:rPr>
              <a:t>$10</a:t>
            </a:r>
            <a:endParaRPr lang="en-US" sz="1400" dirty="0"/>
          </a:p>
        </p:txBody>
      </p:sp>
      <p:sp>
        <p:nvSpPr>
          <p:cNvPr id="17" name="Text 15"/>
          <p:cNvSpPr/>
          <p:nvPr/>
        </p:nvSpPr>
        <p:spPr>
          <a:xfrm>
            <a:off x="548640" y="4617720"/>
            <a:ext cx="6675120" cy="274320"/>
          </a:xfrm>
          <a:prstGeom prst="rect">
            <a:avLst/>
          </a:prstGeom>
          <a:noFill/>
          <a:ln/>
        </p:spPr>
        <p:txBody>
          <a:bodyPr wrap="square" lIns="0" tIns="0" rIns="0" bIns="0" rtlCol="0" anchor="ctr"/>
          <a:lstStyle/>
          <a:p>
            <a:pPr indent="0" marL="0">
              <a:buNone/>
            </a:pPr>
            <a:r>
              <a:rPr lang="en-US" sz="1100" b="1" dirty="0">
                <a:solidFill>
                  <a:srgbClr val="111111"/>
                </a:solidFill>
                <a:latin typeface="Arial" pitchFamily="34" charset="0"/>
                <a:ea typeface="Arial" pitchFamily="34" charset="-122"/>
                <a:cs typeface="Arial" pitchFamily="34" charset="-120"/>
              </a:rPr>
              <a:t>*Subscription cost per lead falls with volume (leads provided, not closed):</a:t>
            </a:r>
            <a:endParaRPr lang="en-US" sz="1100" dirty="0"/>
          </a:p>
        </p:txBody>
      </p:sp>
      <p:sp>
        <p:nvSpPr>
          <p:cNvPr id="18" name="Shape 16"/>
          <p:cNvSpPr/>
          <p:nvPr/>
        </p:nvSpPr>
        <p:spPr>
          <a:xfrm>
            <a:off x="548640" y="4937760"/>
            <a:ext cx="1627632" cy="411480"/>
          </a:xfrm>
          <a:prstGeom prst="roundRect">
            <a:avLst>
              <a:gd name="adj" fmla="val 13333"/>
            </a:avLst>
          </a:prstGeom>
          <a:solidFill>
            <a:srgbClr val="F5F5F5"/>
          </a:solidFill>
          <a:ln/>
        </p:spPr>
      </p:sp>
      <p:sp>
        <p:nvSpPr>
          <p:cNvPr id="19" name="Text 17"/>
          <p:cNvSpPr/>
          <p:nvPr/>
        </p:nvSpPr>
        <p:spPr>
          <a:xfrm>
            <a:off x="621792" y="4937760"/>
            <a:ext cx="1517904" cy="41148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$20 </a:t>
            </a:r>
            <a:pPr indent="0" marL="0">
              <a:buNone/>
            </a:pPr>
            <a:r>
              <a:rPr lang="en-US" sz="900" dirty="0">
                <a:solidFill>
                  <a:srgbClr val="6E6E6E"/>
                </a:solidFill>
                <a:latin typeface="Arial" pitchFamily="34" charset="0"/>
                <a:ea typeface="Arial" pitchFamily="34" charset="-122"/>
                <a:cs typeface="Arial" pitchFamily="34" charset="-120"/>
              </a:rPr>
              <a:t>100 leads/mo</a:t>
            </a:r>
            <a:endParaRPr lang="en-US" sz="1300" dirty="0"/>
          </a:p>
        </p:txBody>
      </p:sp>
      <p:sp>
        <p:nvSpPr>
          <p:cNvPr id="20" name="Shape 18"/>
          <p:cNvSpPr/>
          <p:nvPr/>
        </p:nvSpPr>
        <p:spPr>
          <a:xfrm>
            <a:off x="2286000" y="4937760"/>
            <a:ext cx="1627632" cy="411480"/>
          </a:xfrm>
          <a:prstGeom prst="roundRect">
            <a:avLst>
              <a:gd name="adj" fmla="val 13333"/>
            </a:avLst>
          </a:prstGeom>
          <a:solidFill>
            <a:srgbClr val="F5F5F5"/>
          </a:solidFill>
          <a:ln/>
        </p:spPr>
      </p:sp>
      <p:sp>
        <p:nvSpPr>
          <p:cNvPr id="21" name="Text 19"/>
          <p:cNvSpPr/>
          <p:nvPr/>
        </p:nvSpPr>
        <p:spPr>
          <a:xfrm>
            <a:off x="2359152" y="4937760"/>
            <a:ext cx="1517904" cy="41148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$10 </a:t>
            </a:r>
            <a:pPr indent="0" marL="0">
              <a:buNone/>
            </a:pPr>
            <a:r>
              <a:rPr lang="en-US" sz="900" dirty="0">
                <a:solidFill>
                  <a:srgbClr val="6E6E6E"/>
                </a:solidFill>
                <a:latin typeface="Arial" pitchFamily="34" charset="0"/>
                <a:ea typeface="Arial" pitchFamily="34" charset="-122"/>
                <a:cs typeface="Arial" pitchFamily="34" charset="-120"/>
              </a:rPr>
              <a:t>200</a:t>
            </a:r>
            <a:endParaRPr lang="en-US" sz="1300" dirty="0"/>
          </a:p>
        </p:txBody>
      </p:sp>
      <p:sp>
        <p:nvSpPr>
          <p:cNvPr id="22" name="Shape 20"/>
          <p:cNvSpPr/>
          <p:nvPr/>
        </p:nvSpPr>
        <p:spPr>
          <a:xfrm>
            <a:off x="4023360" y="4937760"/>
            <a:ext cx="1627632" cy="411480"/>
          </a:xfrm>
          <a:prstGeom prst="roundRect">
            <a:avLst>
              <a:gd name="adj" fmla="val 13333"/>
            </a:avLst>
          </a:prstGeom>
          <a:solidFill>
            <a:srgbClr val="F5F5F5"/>
          </a:solidFill>
          <a:ln/>
        </p:spPr>
      </p:sp>
      <p:sp>
        <p:nvSpPr>
          <p:cNvPr id="23" name="Text 21"/>
          <p:cNvSpPr/>
          <p:nvPr/>
        </p:nvSpPr>
        <p:spPr>
          <a:xfrm>
            <a:off x="4096512" y="4937760"/>
            <a:ext cx="1517904" cy="41148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$4 </a:t>
            </a:r>
            <a:pPr indent="0" marL="0">
              <a:buNone/>
            </a:pPr>
            <a:r>
              <a:rPr lang="en-US" sz="900" dirty="0">
                <a:solidFill>
                  <a:srgbClr val="6E6E6E"/>
                </a:solidFill>
                <a:latin typeface="Arial" pitchFamily="34" charset="0"/>
                <a:ea typeface="Arial" pitchFamily="34" charset="-122"/>
                <a:cs typeface="Arial" pitchFamily="34" charset="-120"/>
              </a:rPr>
              <a:t>500</a:t>
            </a:r>
            <a:endParaRPr lang="en-US" sz="1300" dirty="0"/>
          </a:p>
        </p:txBody>
      </p:sp>
      <p:sp>
        <p:nvSpPr>
          <p:cNvPr id="24" name="Shape 22"/>
          <p:cNvSpPr/>
          <p:nvPr/>
        </p:nvSpPr>
        <p:spPr>
          <a:xfrm>
            <a:off x="5760720" y="4937760"/>
            <a:ext cx="1627632" cy="411480"/>
          </a:xfrm>
          <a:prstGeom prst="roundRect">
            <a:avLst>
              <a:gd name="adj" fmla="val 13333"/>
            </a:avLst>
          </a:prstGeom>
          <a:solidFill>
            <a:srgbClr val="C8102E"/>
          </a:solidFill>
          <a:ln/>
        </p:spPr>
      </p:sp>
      <p:sp>
        <p:nvSpPr>
          <p:cNvPr id="25" name="Text 23"/>
          <p:cNvSpPr/>
          <p:nvPr/>
        </p:nvSpPr>
        <p:spPr>
          <a:xfrm>
            <a:off x="5833872" y="4937760"/>
            <a:ext cx="1517904"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$2 </a:t>
            </a:r>
            <a:pPr indent="0" marL="0">
              <a:buNone/>
            </a:pPr>
            <a:r>
              <a:rPr lang="en-US" sz="900" dirty="0">
                <a:solidFill>
                  <a:srgbClr val="F2C6CD"/>
                </a:solidFill>
                <a:latin typeface="Arial" pitchFamily="34" charset="0"/>
                <a:ea typeface="Arial" pitchFamily="34" charset="-122"/>
                <a:cs typeface="Arial" pitchFamily="34" charset="-120"/>
              </a:rPr>
              <a:t>1,000</a:t>
            </a:r>
            <a:endParaRPr lang="en-US" sz="1300" dirty="0"/>
          </a:p>
        </p:txBody>
      </p:sp>
      <p:sp>
        <p:nvSpPr>
          <p:cNvPr id="26" name="Shape 24"/>
          <p:cNvSpPr/>
          <p:nvPr/>
        </p:nvSpPr>
        <p:spPr>
          <a:xfrm>
            <a:off x="7452360" y="1600200"/>
            <a:ext cx="4160520" cy="3749040"/>
          </a:xfrm>
          <a:prstGeom prst="roundRect">
            <a:avLst>
              <a:gd name="adj" fmla="val 1951"/>
            </a:avLst>
          </a:prstGeom>
          <a:solidFill>
            <a:srgbClr val="F5F5F5"/>
          </a:solidFill>
          <a:ln/>
        </p:spPr>
      </p:sp>
      <p:sp>
        <p:nvSpPr>
          <p:cNvPr id="27" name="Text 25"/>
          <p:cNvSpPr/>
          <p:nvPr/>
        </p:nvSpPr>
        <p:spPr>
          <a:xfrm>
            <a:off x="7772400" y="1783080"/>
            <a:ext cx="3566160" cy="32004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What each dollar buys</a:t>
            </a:r>
            <a:endParaRPr lang="en-US" sz="1500" dirty="0"/>
          </a:p>
        </p:txBody>
      </p:sp>
      <p:sp>
        <p:nvSpPr>
          <p:cNvPr id="28" name="Text 26"/>
          <p:cNvSpPr/>
          <p:nvPr/>
        </p:nvSpPr>
        <p:spPr>
          <a:xfrm>
            <a:off x="7772400" y="2194560"/>
            <a:ext cx="3566160" cy="30175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2A2A2A"/>
                </a:solidFill>
                <a:latin typeface="Arial" pitchFamily="34" charset="0"/>
                <a:ea typeface="Arial" pitchFamily="34" charset="-122"/>
                <a:cs typeface="Arial" pitchFamily="34" charset="-120"/>
              </a:rPr>
              <a:t>Google Ads / LSA — $75–250: exclusive, but intent and quality swing wildly</a:t>
            </a:r>
            <a:endParaRPr lang="en-US" sz="1150" dirty="0"/>
          </a:p>
          <a:p>
            <a:pPr marL="342900" indent="-342900">
              <a:spcAft>
                <a:spcPts val="700"/>
              </a:spcAft>
              <a:buSzPct val="100000"/>
              <a:buChar char="•"/>
            </a:pPr>
            <a:r>
              <a:rPr lang="en-US" sz="1150" dirty="0">
                <a:solidFill>
                  <a:srgbClr val="2A2A2A"/>
                </a:solidFill>
                <a:latin typeface="Arial" pitchFamily="34" charset="0"/>
                <a:ea typeface="Arial" pitchFamily="34" charset="-122"/>
                <a:cs typeface="Arial" pitchFamily="34" charset="-120"/>
              </a:rPr>
              <a:t>Angi — $50–125: same lead sold to 3–4 competing contractors</a:t>
            </a:r>
            <a:endParaRPr lang="en-US" sz="1150" dirty="0"/>
          </a:p>
          <a:p>
            <a:pPr marL="342900" indent="-342900">
              <a:spcAft>
                <a:spcPts val="700"/>
              </a:spcAft>
              <a:buSzPct val="100000"/>
              <a:buChar char="•"/>
            </a:pPr>
            <a:r>
              <a:rPr lang="en-US" sz="1150" dirty="0">
                <a:solidFill>
                  <a:srgbClr val="2A2A2A"/>
                </a:solidFill>
                <a:latin typeface="Arial" pitchFamily="34" charset="0"/>
                <a:ea typeface="Arial" pitchFamily="34" charset="-122"/>
                <a:cs typeface="Arial" pitchFamily="34" charset="-120"/>
              </a:rPr>
              <a:t>Thumbtack — $25–90: pay per contact, homeowner is price-shopping</a:t>
            </a:r>
            <a:endParaRPr lang="en-US" sz="1150" dirty="0"/>
          </a:p>
          <a:p>
            <a:pPr marL="342900" indent="-342900">
              <a:buSzPct val="100000"/>
              <a:buChar char="•"/>
            </a:pPr>
            <a:r>
              <a:rPr lang="en-US" sz="1150" b="1" dirty="0">
                <a:solidFill>
                  <a:srgbClr val="C8102E"/>
                </a:solidFill>
                <a:latin typeface="Arial" pitchFamily="34" charset="0"/>
                <a:ea typeface="Arial" pitchFamily="34" charset="-122"/>
                <a:cs typeface="Arial" pitchFamily="34" charset="-120"/>
              </a:rPr>
              <a:t>Storm Scout — $2,000/mo flat: even a slow 200 records/month prices at $10; every record past that is free, exclusive, and damage-verified</a:t>
            </a:r>
            <a:endParaRPr lang="en-US" sz="1150" dirty="0"/>
          </a:p>
        </p:txBody>
      </p:sp>
      <p:sp>
        <p:nvSpPr>
          <p:cNvPr id="29" name="Shape 27"/>
          <p:cNvSpPr/>
          <p:nvPr/>
        </p:nvSpPr>
        <p:spPr>
          <a:xfrm>
            <a:off x="548640" y="5532120"/>
            <a:ext cx="11064240" cy="731520"/>
          </a:xfrm>
          <a:prstGeom prst="roundRect">
            <a:avLst>
              <a:gd name="adj" fmla="val 7500"/>
            </a:avLst>
          </a:prstGeom>
          <a:solidFill>
            <a:srgbClr val="111111"/>
          </a:solidFill>
          <a:ln/>
        </p:spPr>
      </p:sp>
      <p:sp>
        <p:nvSpPr>
          <p:cNvPr id="30" name="Text 28"/>
          <p:cNvSpPr/>
          <p:nvPr/>
        </p:nvSpPr>
        <p:spPr>
          <a:xfrm>
            <a:off x="868680" y="5650992"/>
            <a:ext cx="10515600" cy="502920"/>
          </a:xfrm>
          <a:prstGeom prst="rect">
            <a:avLst/>
          </a:prstGeom>
          <a:noFill/>
          <a:ln/>
        </p:spPr>
        <p:txBody>
          <a:bodyPr wrap="square" lIns="0" tIns="0" rIns="0" bIns="0" rtlCol="0" anchor="ctr"/>
          <a:lstStyle/>
          <a:p>
            <a:pPr indent="0" marL="0">
              <a:buNone/>
            </a:pPr>
            <a:r>
              <a:rPr lang="en-US" sz="1450" dirty="0">
                <a:solidFill>
                  <a:srgbClr val="E6E6E6"/>
                </a:solidFill>
                <a:latin typeface="Arial" pitchFamily="34" charset="0"/>
                <a:ea typeface="Arial" pitchFamily="34" charset="-122"/>
                <a:cs typeface="Arial" pitchFamily="34" charset="-120"/>
              </a:rPr>
              <a:t>Different animals — inbound requests vs. targeted verified-damage contacts — </a:t>
            </a:r>
            <a:pPr indent="0" marL="0">
              <a:buNone/>
            </a:pPr>
            <a:r>
              <a:rPr lang="en-US" sz="1450" b="1" dirty="0">
                <a:solidFill>
                  <a:srgbClr val="FFFFFF"/>
                </a:solidFill>
                <a:latin typeface="Arial" pitchFamily="34" charset="0"/>
                <a:ea typeface="Arial" pitchFamily="34" charset="-122"/>
                <a:cs typeface="Arial" pitchFamily="34" charset="-120"/>
              </a:rPr>
              <a:t>but they compete for the same marketing dollar, at a 6–16× price gap.</a:t>
            </a:r>
            <a:endParaRPr lang="en-US" sz="1450" dirty="0"/>
          </a:p>
        </p:txBody>
      </p:sp>
      <p:sp>
        <p:nvSpPr>
          <p:cNvPr id="31" name="Text 29"/>
          <p:cNvSpPr/>
          <p:nvPr/>
        </p:nvSpPr>
        <p:spPr>
          <a:xfrm>
            <a:off x="548640" y="6473952"/>
            <a:ext cx="9601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Channel figures are typical published ranges for roofing leads, not quotes — swap in T^Rock's actual per-lead costs where we have history.</a:t>
            </a:r>
            <a:endParaRPr lang="en-US" sz="900" dirty="0"/>
          </a:p>
        </p:txBody>
      </p:sp>
      <p:sp>
        <p:nvSpPr>
          <p:cNvPr id="32" name="Text 3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The break-even math, tier by tier</a:t>
            </a:r>
            <a:endParaRPr lang="en-US" sz="3200" dirty="0"/>
          </a:p>
        </p:txBody>
      </p:sp>
      <p:sp>
        <p:nvSpPr>
          <p:cNvPr id="3" name="Text 1"/>
          <p:cNvSpPr/>
          <p:nvPr/>
        </p:nvSpPr>
        <p:spPr>
          <a:xfrm>
            <a:off x="548640" y="1078992"/>
            <a:ext cx="10881360" cy="365760"/>
          </a:xfrm>
          <a:prstGeom prst="rect">
            <a:avLst/>
          </a:prstGeom>
          <a:noFill/>
          <a:ln/>
        </p:spPr>
        <p:txBody>
          <a:bodyPr wrap="square" lIns="0" tIns="0" rIns="0" bIns="0" rtlCol="0" anchor="ctr"/>
          <a:lstStyle/>
          <a:p>
            <a:pPr indent="0" marL="0">
              <a:buNone/>
            </a:pPr>
            <a:r>
              <a:rPr lang="en-US" sz="1500" dirty="0">
                <a:solidFill>
                  <a:srgbClr val="6E6E6E"/>
                </a:solidFill>
                <a:latin typeface="Arial" pitchFamily="34" charset="0"/>
                <a:ea typeface="Arial" pitchFamily="34" charset="-122"/>
                <a:cs typeface="Arial" pitchFamily="34" charset="-120"/>
              </a:rPr>
              <a:t>Their published prices against T^Rock's actual job economics.</a:t>
            </a:r>
            <a:endParaRPr lang="en-US" sz="1500" dirty="0"/>
          </a:p>
        </p:txBody>
      </p:sp>
      <p:sp>
        <p:nvSpPr>
          <p:cNvPr id="4" name="Shape 2"/>
          <p:cNvSpPr/>
          <p:nvPr/>
        </p:nvSpPr>
        <p:spPr>
          <a:xfrm>
            <a:off x="548640" y="1645920"/>
            <a:ext cx="3931920" cy="3657600"/>
          </a:xfrm>
          <a:prstGeom prst="roundRect">
            <a:avLst>
              <a:gd name="adj" fmla="val 2000"/>
            </a:avLst>
          </a:prstGeom>
          <a:solidFill>
            <a:srgbClr val="F5F5F5"/>
          </a:solidFill>
          <a:ln/>
        </p:spPr>
      </p:sp>
      <p:sp>
        <p:nvSpPr>
          <p:cNvPr id="5" name="Text 3"/>
          <p:cNvSpPr/>
          <p:nvPr/>
        </p:nvSpPr>
        <p:spPr>
          <a:xfrm>
            <a:off x="868680" y="1920240"/>
            <a:ext cx="3291840" cy="36576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T^Rock keeps</a:t>
            </a:r>
            <a:endParaRPr lang="en-US" sz="1700" dirty="0"/>
          </a:p>
        </p:txBody>
      </p:sp>
      <p:sp>
        <p:nvSpPr>
          <p:cNvPr id="6" name="Text 4"/>
          <p:cNvSpPr/>
          <p:nvPr/>
        </p:nvSpPr>
        <p:spPr>
          <a:xfrm>
            <a:off x="868680" y="2267712"/>
            <a:ext cx="3291840" cy="969264"/>
          </a:xfrm>
          <a:prstGeom prst="rect">
            <a:avLst/>
          </a:prstGeom>
          <a:noFill/>
          <a:ln/>
        </p:spPr>
        <p:txBody>
          <a:bodyPr wrap="square" lIns="0" tIns="0" rIns="0" bIns="0" rtlCol="0" anchor="ctr"/>
          <a:lstStyle/>
          <a:p>
            <a:pPr indent="0" marL="0">
              <a:buNone/>
            </a:pPr>
            <a:r>
              <a:rPr lang="en-US" sz="6000" b="1" dirty="0">
                <a:solidFill>
                  <a:srgbClr val="C8102E"/>
                </a:solidFill>
                <a:latin typeface="Arial" pitchFamily="34" charset="0"/>
                <a:ea typeface="Arial" pitchFamily="34" charset="-122"/>
                <a:cs typeface="Arial" pitchFamily="34" charset="-120"/>
              </a:rPr>
              <a:t>$5,145</a:t>
            </a:r>
            <a:endParaRPr lang="en-US" sz="6000" dirty="0"/>
          </a:p>
        </p:txBody>
      </p:sp>
      <p:sp>
        <p:nvSpPr>
          <p:cNvPr id="7" name="Text 5"/>
          <p:cNvSpPr/>
          <p:nvPr/>
        </p:nvSpPr>
        <p:spPr>
          <a:xfrm>
            <a:off x="868680" y="3246120"/>
            <a:ext cx="3291840" cy="36576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of every closed roof</a:t>
            </a:r>
            <a:endParaRPr lang="en-US" sz="1700" dirty="0"/>
          </a:p>
        </p:txBody>
      </p:sp>
      <p:sp>
        <p:nvSpPr>
          <p:cNvPr id="8" name="Text 6"/>
          <p:cNvSpPr/>
          <p:nvPr/>
        </p:nvSpPr>
        <p:spPr>
          <a:xfrm>
            <a:off x="868680" y="3703320"/>
            <a:ext cx="3291840" cy="685800"/>
          </a:xfrm>
          <a:prstGeom prst="rect">
            <a:avLst/>
          </a:prstGeom>
          <a:noFill/>
          <a:ln/>
        </p:spPr>
        <p:txBody>
          <a:bodyPr wrap="square" lIns="0" tIns="0" rIns="0" bIns="0" rtlCol="0" anchor="ctr"/>
          <a:lstStyle/>
          <a:p>
            <a:pPr indent="0" marL="0">
              <a:buNone/>
            </a:pPr>
            <a:r>
              <a:rPr lang="en-US" sz="1200" dirty="0">
                <a:solidFill>
                  <a:srgbClr val="6E6E6E"/>
                </a:solidFill>
                <a:latin typeface="Arial" pitchFamily="34" charset="0"/>
                <a:ea typeface="Arial" pitchFamily="34" charset="-122"/>
                <a:cs typeface="Arial" pitchFamily="34" charset="-120"/>
              </a:rPr>
              <a:t>Company share of each job after all job costs and the 50/50 PM split — full math in the footnote.</a:t>
            </a:r>
            <a:endParaRPr lang="en-US" sz="1200" dirty="0"/>
          </a:p>
        </p:txBody>
      </p:sp>
      <p:sp>
        <p:nvSpPr>
          <p:cNvPr id="9" name="Text 7"/>
          <p:cNvSpPr/>
          <p:nvPr/>
        </p:nvSpPr>
        <p:spPr>
          <a:xfrm>
            <a:off x="868680" y="4526280"/>
            <a:ext cx="3291840" cy="54864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Break even = </a:t>
            </a:r>
            <a:pPr indent="0" marL="0">
              <a:buNone/>
            </a:pPr>
            <a:r>
              <a:rPr lang="en-US" sz="1400" b="1" dirty="0">
                <a:solidFill>
                  <a:srgbClr val="C8102E"/>
                </a:solidFill>
                <a:latin typeface="Arial" pitchFamily="34" charset="0"/>
                <a:ea typeface="Arial" pitchFamily="34" charset="-122"/>
                <a:cs typeface="Arial" pitchFamily="34" charset="-120"/>
              </a:rPr>
              <a:t>annual subscription ÷ $5,145</a:t>
            </a:r>
            <a:endParaRPr lang="en-US" sz="1400" dirty="0"/>
          </a:p>
        </p:txBody>
      </p:sp>
      <p:sp>
        <p:nvSpPr>
          <p:cNvPr id="10" name="Text 8"/>
          <p:cNvSpPr/>
          <p:nvPr/>
        </p:nvSpPr>
        <p:spPr>
          <a:xfrm>
            <a:off x="4937760" y="1645920"/>
            <a:ext cx="6583680" cy="32004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Incremental jobs per year to cover each tier</a:t>
            </a:r>
            <a:endParaRPr lang="en-US" sz="1400" dirty="0"/>
          </a:p>
        </p:txBody>
      </p:sp>
      <p:sp>
        <p:nvSpPr>
          <p:cNvPr id="11" name="Shape 9"/>
          <p:cNvSpPr/>
          <p:nvPr/>
        </p:nvSpPr>
        <p:spPr>
          <a:xfrm>
            <a:off x="4892040" y="4846320"/>
            <a:ext cx="6675120" cy="13716"/>
          </a:xfrm>
          <a:prstGeom prst="rect">
            <a:avLst/>
          </a:prstGeom>
          <a:solidFill>
            <a:srgbClr val="CCCCCC"/>
          </a:solidFill>
          <a:ln/>
        </p:spPr>
      </p:sp>
      <p:sp>
        <p:nvSpPr>
          <p:cNvPr id="12" name="Shape 10"/>
          <p:cNvSpPr/>
          <p:nvPr/>
        </p:nvSpPr>
        <p:spPr>
          <a:xfrm>
            <a:off x="5029200" y="4763874"/>
            <a:ext cx="914400" cy="82446"/>
          </a:xfrm>
          <a:prstGeom prst="roundRect">
            <a:avLst>
              <a:gd name="adj" fmla="val 33273"/>
            </a:avLst>
          </a:prstGeom>
          <a:solidFill>
            <a:srgbClr val="B9BDC2"/>
          </a:solidFill>
          <a:ln/>
        </p:spPr>
      </p:sp>
      <p:sp>
        <p:nvSpPr>
          <p:cNvPr id="13" name="Text 11"/>
          <p:cNvSpPr/>
          <p:nvPr/>
        </p:nvSpPr>
        <p:spPr>
          <a:xfrm>
            <a:off x="4846320" y="4416402"/>
            <a:ext cx="1280160" cy="320040"/>
          </a:xfrm>
          <a:prstGeom prst="rect">
            <a:avLst/>
          </a:prstGeom>
          <a:noFill/>
          <a:ln/>
        </p:spPr>
        <p:txBody>
          <a:bodyPr wrap="square" lIns="0" tIns="0" rIns="0" bIns="0" rtlCol="0" anchor="ctr"/>
          <a:lstStyle/>
          <a:p>
            <a:pPr algn="ctr" indent="0" marL="0">
              <a:buNone/>
            </a:pPr>
            <a:r>
              <a:rPr lang="en-US" sz="1300" b="1" dirty="0">
                <a:solidFill>
                  <a:srgbClr val="2A2A2A"/>
                </a:solidFill>
                <a:latin typeface="Arial" pitchFamily="34" charset="0"/>
                <a:ea typeface="Arial" pitchFamily="34" charset="-122"/>
                <a:cs typeface="Arial" pitchFamily="34" charset="-120"/>
              </a:rPr>
              <a:t>0.2</a:t>
            </a:r>
            <a:endParaRPr lang="en-US" sz="1300" dirty="0"/>
          </a:p>
        </p:txBody>
      </p:sp>
      <p:sp>
        <p:nvSpPr>
          <p:cNvPr id="14" name="Text 12"/>
          <p:cNvSpPr/>
          <p:nvPr/>
        </p:nvSpPr>
        <p:spPr>
          <a:xfrm>
            <a:off x="4846320" y="4919472"/>
            <a:ext cx="1280160" cy="502920"/>
          </a:xfrm>
          <a:prstGeom prst="rect">
            <a:avLst/>
          </a:prstGeom>
          <a:noFill/>
          <a:ln/>
        </p:spPr>
        <p:txBody>
          <a:bodyPr wrap="square" lIns="0" tIns="0" rIns="0" bIns="0" rtlCol="0" anchor="ctr"/>
          <a:lstStyle/>
          <a:p>
            <a:pPr algn="ctr" indent="0" marL="0">
              <a:buNone/>
            </a:pPr>
            <a:r>
              <a:rPr lang="en-US" sz="1100" b="1" dirty="0">
                <a:solidFill>
                  <a:srgbClr val="2A2A2A"/>
                </a:solidFill>
                <a:latin typeface="Arial" pitchFamily="34" charset="0"/>
                <a:ea typeface="Arial" pitchFamily="34" charset="-122"/>
                <a:cs typeface="Arial" pitchFamily="34" charset="-120"/>
              </a:rPr>
              <a:t>Bronze</a:t>
            </a:r>
            <a:endParaRPr lang="en-US" sz="1100" dirty="0"/>
          </a:p>
          <a:p>
            <a:pPr algn="ctr" indent="0" marL="0">
              <a:buNone/>
            </a:pPr>
            <a:r>
              <a:rPr lang="en-US" sz="950" dirty="0">
                <a:solidFill>
                  <a:srgbClr val="6E6E6E"/>
                </a:solidFill>
                <a:latin typeface="Arial" pitchFamily="34" charset="0"/>
                <a:ea typeface="Arial" pitchFamily="34" charset="-122"/>
                <a:cs typeface="Arial" pitchFamily="34" charset="-120"/>
              </a:rPr>
              <a:t>$100/mo</a:t>
            </a:r>
            <a:endParaRPr lang="en-US" sz="1100" dirty="0"/>
          </a:p>
        </p:txBody>
      </p:sp>
      <p:sp>
        <p:nvSpPr>
          <p:cNvPr id="15" name="Shape 13"/>
          <p:cNvSpPr/>
          <p:nvPr/>
        </p:nvSpPr>
        <p:spPr>
          <a:xfrm>
            <a:off x="6355080" y="4351645"/>
            <a:ext cx="914400" cy="494675"/>
          </a:xfrm>
          <a:prstGeom prst="roundRect">
            <a:avLst>
              <a:gd name="adj" fmla="val 5545"/>
            </a:avLst>
          </a:prstGeom>
          <a:solidFill>
            <a:srgbClr val="B9BDC2"/>
          </a:solidFill>
          <a:ln/>
        </p:spPr>
      </p:sp>
      <p:sp>
        <p:nvSpPr>
          <p:cNvPr id="16" name="Text 14"/>
          <p:cNvSpPr/>
          <p:nvPr/>
        </p:nvSpPr>
        <p:spPr>
          <a:xfrm>
            <a:off x="6172200" y="4004173"/>
            <a:ext cx="1280160" cy="320040"/>
          </a:xfrm>
          <a:prstGeom prst="rect">
            <a:avLst/>
          </a:prstGeom>
          <a:noFill/>
          <a:ln/>
        </p:spPr>
        <p:txBody>
          <a:bodyPr wrap="square" lIns="0" tIns="0" rIns="0" bIns="0" rtlCol="0" anchor="ctr"/>
          <a:lstStyle/>
          <a:p>
            <a:pPr algn="ctr" indent="0" marL="0">
              <a:buNone/>
            </a:pPr>
            <a:r>
              <a:rPr lang="en-US" sz="1300" b="1" dirty="0">
                <a:solidFill>
                  <a:srgbClr val="2A2A2A"/>
                </a:solidFill>
                <a:latin typeface="Arial" pitchFamily="34" charset="0"/>
                <a:ea typeface="Arial" pitchFamily="34" charset="-122"/>
                <a:cs typeface="Arial" pitchFamily="34" charset="-120"/>
              </a:rPr>
              <a:t>1.2</a:t>
            </a:r>
            <a:endParaRPr lang="en-US" sz="1300" dirty="0"/>
          </a:p>
        </p:txBody>
      </p:sp>
      <p:sp>
        <p:nvSpPr>
          <p:cNvPr id="17" name="Text 15"/>
          <p:cNvSpPr/>
          <p:nvPr/>
        </p:nvSpPr>
        <p:spPr>
          <a:xfrm>
            <a:off x="6172200" y="4919472"/>
            <a:ext cx="1280160" cy="502920"/>
          </a:xfrm>
          <a:prstGeom prst="rect">
            <a:avLst/>
          </a:prstGeom>
          <a:noFill/>
          <a:ln/>
        </p:spPr>
        <p:txBody>
          <a:bodyPr wrap="square" lIns="0" tIns="0" rIns="0" bIns="0" rtlCol="0" anchor="ctr"/>
          <a:lstStyle/>
          <a:p>
            <a:pPr algn="ctr" indent="0" marL="0">
              <a:buNone/>
            </a:pPr>
            <a:r>
              <a:rPr lang="en-US" sz="1100" b="1" dirty="0">
                <a:solidFill>
                  <a:srgbClr val="2A2A2A"/>
                </a:solidFill>
                <a:latin typeface="Arial" pitchFamily="34" charset="0"/>
                <a:ea typeface="Arial" pitchFamily="34" charset="-122"/>
                <a:cs typeface="Arial" pitchFamily="34" charset="-120"/>
              </a:rPr>
              <a:t>Silver</a:t>
            </a:r>
            <a:endParaRPr lang="en-US" sz="1100" dirty="0"/>
          </a:p>
          <a:p>
            <a:pPr algn="ctr" indent="0" marL="0">
              <a:buNone/>
            </a:pPr>
            <a:r>
              <a:rPr lang="en-US" sz="950" dirty="0">
                <a:solidFill>
                  <a:srgbClr val="6E6E6E"/>
                </a:solidFill>
                <a:latin typeface="Arial" pitchFamily="34" charset="0"/>
                <a:ea typeface="Arial" pitchFamily="34" charset="-122"/>
                <a:cs typeface="Arial" pitchFamily="34" charset="-120"/>
              </a:rPr>
              <a:t>$500/mo</a:t>
            </a:r>
            <a:endParaRPr lang="en-US" sz="1100" dirty="0"/>
          </a:p>
        </p:txBody>
      </p:sp>
      <p:sp>
        <p:nvSpPr>
          <p:cNvPr id="18" name="Shape 16"/>
          <p:cNvSpPr/>
          <p:nvPr/>
        </p:nvSpPr>
        <p:spPr>
          <a:xfrm>
            <a:off x="7680960" y="3898192"/>
            <a:ext cx="914400" cy="948128"/>
          </a:xfrm>
          <a:prstGeom prst="roundRect">
            <a:avLst>
              <a:gd name="adj" fmla="val 3000"/>
            </a:avLst>
          </a:prstGeom>
          <a:solidFill>
            <a:srgbClr val="B9BDC2"/>
          </a:solidFill>
          <a:ln/>
        </p:spPr>
      </p:sp>
      <p:sp>
        <p:nvSpPr>
          <p:cNvPr id="19" name="Text 17"/>
          <p:cNvSpPr/>
          <p:nvPr/>
        </p:nvSpPr>
        <p:spPr>
          <a:xfrm>
            <a:off x="7498080" y="3550720"/>
            <a:ext cx="1280160" cy="320040"/>
          </a:xfrm>
          <a:prstGeom prst="rect">
            <a:avLst/>
          </a:prstGeom>
          <a:noFill/>
          <a:ln/>
        </p:spPr>
        <p:txBody>
          <a:bodyPr wrap="square" lIns="0" tIns="0" rIns="0" bIns="0" rtlCol="0" anchor="ctr"/>
          <a:lstStyle/>
          <a:p>
            <a:pPr algn="ctr" indent="0" marL="0">
              <a:buNone/>
            </a:pPr>
            <a:r>
              <a:rPr lang="en-US" sz="1300" b="1" dirty="0">
                <a:solidFill>
                  <a:srgbClr val="2A2A2A"/>
                </a:solidFill>
                <a:latin typeface="Arial" pitchFamily="34" charset="0"/>
                <a:ea typeface="Arial" pitchFamily="34" charset="-122"/>
                <a:cs typeface="Arial" pitchFamily="34" charset="-120"/>
              </a:rPr>
              <a:t>2.3</a:t>
            </a:r>
            <a:endParaRPr lang="en-US" sz="1300" dirty="0"/>
          </a:p>
        </p:txBody>
      </p:sp>
      <p:sp>
        <p:nvSpPr>
          <p:cNvPr id="20" name="Text 18"/>
          <p:cNvSpPr/>
          <p:nvPr/>
        </p:nvSpPr>
        <p:spPr>
          <a:xfrm>
            <a:off x="7498080" y="4919472"/>
            <a:ext cx="1280160" cy="502920"/>
          </a:xfrm>
          <a:prstGeom prst="rect">
            <a:avLst/>
          </a:prstGeom>
          <a:noFill/>
          <a:ln/>
        </p:spPr>
        <p:txBody>
          <a:bodyPr wrap="square" lIns="0" tIns="0" rIns="0" bIns="0" rtlCol="0" anchor="ctr"/>
          <a:lstStyle/>
          <a:p>
            <a:pPr algn="ctr" indent="0" marL="0">
              <a:buNone/>
            </a:pPr>
            <a:r>
              <a:rPr lang="en-US" sz="1100" b="1" dirty="0">
                <a:solidFill>
                  <a:srgbClr val="2A2A2A"/>
                </a:solidFill>
                <a:latin typeface="Arial" pitchFamily="34" charset="0"/>
                <a:ea typeface="Arial" pitchFamily="34" charset="-122"/>
                <a:cs typeface="Arial" pitchFamily="34" charset="-120"/>
              </a:rPr>
              <a:t>Gold</a:t>
            </a:r>
            <a:endParaRPr lang="en-US" sz="1100" dirty="0"/>
          </a:p>
          <a:p>
            <a:pPr algn="ctr" indent="0" marL="0">
              <a:buNone/>
            </a:pPr>
            <a:r>
              <a:rPr lang="en-US" sz="950" dirty="0">
                <a:solidFill>
                  <a:srgbClr val="6E6E6E"/>
                </a:solidFill>
                <a:latin typeface="Arial" pitchFamily="34" charset="0"/>
                <a:ea typeface="Arial" pitchFamily="34" charset="-122"/>
                <a:cs typeface="Arial" pitchFamily="34" charset="-120"/>
              </a:rPr>
              <a:t>$1,000/mo</a:t>
            </a:r>
            <a:endParaRPr lang="en-US" sz="1100" dirty="0"/>
          </a:p>
        </p:txBody>
      </p:sp>
      <p:sp>
        <p:nvSpPr>
          <p:cNvPr id="21" name="Shape 19"/>
          <p:cNvSpPr/>
          <p:nvPr/>
        </p:nvSpPr>
        <p:spPr>
          <a:xfrm>
            <a:off x="9006840" y="2908841"/>
            <a:ext cx="914400" cy="1937479"/>
          </a:xfrm>
          <a:prstGeom prst="roundRect">
            <a:avLst>
              <a:gd name="adj" fmla="val 3000"/>
            </a:avLst>
          </a:prstGeom>
          <a:solidFill>
            <a:srgbClr val="C8102E"/>
          </a:solidFill>
          <a:ln/>
        </p:spPr>
      </p:sp>
      <p:sp>
        <p:nvSpPr>
          <p:cNvPr id="22" name="Text 20"/>
          <p:cNvSpPr/>
          <p:nvPr/>
        </p:nvSpPr>
        <p:spPr>
          <a:xfrm>
            <a:off x="8823960" y="2561369"/>
            <a:ext cx="1280160" cy="320040"/>
          </a:xfrm>
          <a:prstGeom prst="rect">
            <a:avLst/>
          </a:prstGeom>
          <a:noFill/>
          <a:ln/>
        </p:spPr>
        <p:txBody>
          <a:bodyPr wrap="square" lIns="0" tIns="0" rIns="0" bIns="0" rtlCol="0" anchor="ctr"/>
          <a:lstStyle/>
          <a:p>
            <a:pPr algn="ctr" indent="0" marL="0">
              <a:buNone/>
            </a:pPr>
            <a:r>
              <a:rPr lang="en-US" sz="1600" b="1" dirty="0">
                <a:solidFill>
                  <a:srgbClr val="C8102E"/>
                </a:solidFill>
                <a:latin typeface="Arial" pitchFamily="34" charset="0"/>
                <a:ea typeface="Arial" pitchFamily="34" charset="-122"/>
                <a:cs typeface="Arial" pitchFamily="34" charset="-120"/>
              </a:rPr>
              <a:t>4.7</a:t>
            </a:r>
            <a:endParaRPr lang="en-US" sz="1600" dirty="0"/>
          </a:p>
        </p:txBody>
      </p:sp>
      <p:sp>
        <p:nvSpPr>
          <p:cNvPr id="23" name="Text 21"/>
          <p:cNvSpPr/>
          <p:nvPr/>
        </p:nvSpPr>
        <p:spPr>
          <a:xfrm>
            <a:off x="8823960" y="4919472"/>
            <a:ext cx="1280160" cy="502920"/>
          </a:xfrm>
          <a:prstGeom prst="rect">
            <a:avLst/>
          </a:prstGeom>
          <a:noFill/>
          <a:ln/>
        </p:spPr>
        <p:txBody>
          <a:bodyPr wrap="square" lIns="0" tIns="0" rIns="0" bIns="0" rtlCol="0" anchor="ctr"/>
          <a:lstStyle/>
          <a:p>
            <a:pPr algn="ctr" indent="0" marL="0">
              <a:buNone/>
            </a:pPr>
            <a:r>
              <a:rPr lang="en-US" sz="1100" b="1" dirty="0">
                <a:solidFill>
                  <a:srgbClr val="C8102E"/>
                </a:solidFill>
                <a:latin typeface="Arial" pitchFamily="34" charset="0"/>
                <a:ea typeface="Arial" pitchFamily="34" charset="-122"/>
                <a:cs typeface="Arial" pitchFamily="34" charset="-120"/>
              </a:rPr>
              <a:t>Founding</a:t>
            </a:r>
            <a:endParaRPr lang="en-US" sz="1100" dirty="0"/>
          </a:p>
          <a:p>
            <a:pPr algn="ctr" indent="0" marL="0">
              <a:buNone/>
            </a:pPr>
            <a:r>
              <a:rPr lang="en-US" sz="950" dirty="0">
                <a:solidFill>
                  <a:srgbClr val="6E6E6E"/>
                </a:solidFill>
                <a:latin typeface="Arial" pitchFamily="34" charset="0"/>
                <a:ea typeface="Arial" pitchFamily="34" charset="-122"/>
                <a:cs typeface="Arial" pitchFamily="34" charset="-120"/>
              </a:rPr>
              <a:t>$2,000/mo</a:t>
            </a:r>
            <a:endParaRPr lang="en-US" sz="1100" dirty="0"/>
          </a:p>
        </p:txBody>
      </p:sp>
      <p:sp>
        <p:nvSpPr>
          <p:cNvPr id="24" name="Shape 22"/>
          <p:cNvSpPr/>
          <p:nvPr/>
        </p:nvSpPr>
        <p:spPr>
          <a:xfrm>
            <a:off x="10332720" y="2455389"/>
            <a:ext cx="914400" cy="2390931"/>
          </a:xfrm>
          <a:prstGeom prst="roundRect">
            <a:avLst>
              <a:gd name="adj" fmla="val 3000"/>
            </a:avLst>
          </a:prstGeom>
          <a:solidFill>
            <a:srgbClr val="B9BDC2"/>
          </a:solidFill>
          <a:ln/>
        </p:spPr>
      </p:sp>
      <p:sp>
        <p:nvSpPr>
          <p:cNvPr id="25" name="Text 23"/>
          <p:cNvSpPr/>
          <p:nvPr/>
        </p:nvSpPr>
        <p:spPr>
          <a:xfrm>
            <a:off x="10149840" y="2107917"/>
            <a:ext cx="1280160" cy="320040"/>
          </a:xfrm>
          <a:prstGeom prst="rect">
            <a:avLst/>
          </a:prstGeom>
          <a:noFill/>
          <a:ln/>
        </p:spPr>
        <p:txBody>
          <a:bodyPr wrap="square" lIns="0" tIns="0" rIns="0" bIns="0" rtlCol="0" anchor="ctr"/>
          <a:lstStyle/>
          <a:p>
            <a:pPr algn="ctr" indent="0" marL="0">
              <a:buNone/>
            </a:pPr>
            <a:r>
              <a:rPr lang="en-US" sz="1300" b="1" dirty="0">
                <a:solidFill>
                  <a:srgbClr val="2A2A2A"/>
                </a:solidFill>
                <a:latin typeface="Arial" pitchFamily="34" charset="0"/>
                <a:ea typeface="Arial" pitchFamily="34" charset="-122"/>
                <a:cs typeface="Arial" pitchFamily="34" charset="-120"/>
              </a:rPr>
              <a:t>5.8</a:t>
            </a:r>
            <a:endParaRPr lang="en-US" sz="1300" dirty="0"/>
          </a:p>
        </p:txBody>
      </p:sp>
      <p:sp>
        <p:nvSpPr>
          <p:cNvPr id="26" name="Text 24"/>
          <p:cNvSpPr/>
          <p:nvPr/>
        </p:nvSpPr>
        <p:spPr>
          <a:xfrm>
            <a:off x="10149840" y="4919472"/>
            <a:ext cx="1280160" cy="502920"/>
          </a:xfrm>
          <a:prstGeom prst="rect">
            <a:avLst/>
          </a:prstGeom>
          <a:noFill/>
          <a:ln/>
        </p:spPr>
        <p:txBody>
          <a:bodyPr wrap="square" lIns="0" tIns="0" rIns="0" bIns="0" rtlCol="0" anchor="ctr"/>
          <a:lstStyle/>
          <a:p>
            <a:pPr algn="ctr" indent="0" marL="0">
              <a:buNone/>
            </a:pPr>
            <a:r>
              <a:rPr lang="en-US" sz="1100" b="1" dirty="0">
                <a:solidFill>
                  <a:srgbClr val="2A2A2A"/>
                </a:solidFill>
                <a:latin typeface="Arial" pitchFamily="34" charset="0"/>
                <a:ea typeface="Arial" pitchFamily="34" charset="-122"/>
                <a:cs typeface="Arial" pitchFamily="34" charset="-120"/>
              </a:rPr>
              <a:t>Platinum</a:t>
            </a:r>
            <a:endParaRPr lang="en-US" sz="1100" dirty="0"/>
          </a:p>
          <a:p>
            <a:pPr algn="ctr" indent="0" marL="0">
              <a:buNone/>
            </a:pPr>
            <a:r>
              <a:rPr lang="en-US" sz="950" dirty="0">
                <a:solidFill>
                  <a:srgbClr val="6E6E6E"/>
                </a:solidFill>
                <a:latin typeface="Arial" pitchFamily="34" charset="0"/>
                <a:ea typeface="Arial" pitchFamily="34" charset="-122"/>
                <a:cs typeface="Arial" pitchFamily="34" charset="-120"/>
              </a:rPr>
              <a:t>$2,500/mo</a:t>
            </a:r>
            <a:endParaRPr lang="en-US" sz="1100" dirty="0"/>
          </a:p>
        </p:txBody>
      </p:sp>
      <p:sp>
        <p:nvSpPr>
          <p:cNvPr id="27" name="Shape 25"/>
          <p:cNvSpPr/>
          <p:nvPr/>
        </p:nvSpPr>
        <p:spPr>
          <a:xfrm>
            <a:off x="548640" y="5532120"/>
            <a:ext cx="11064240" cy="731520"/>
          </a:xfrm>
          <a:prstGeom prst="roundRect">
            <a:avLst>
              <a:gd name="adj" fmla="val 7500"/>
            </a:avLst>
          </a:prstGeom>
          <a:solidFill>
            <a:srgbClr val="111111"/>
          </a:solidFill>
          <a:ln/>
        </p:spPr>
      </p:sp>
      <p:sp>
        <p:nvSpPr>
          <p:cNvPr id="28" name="Text 26"/>
          <p:cNvSpPr/>
          <p:nvPr/>
        </p:nvSpPr>
        <p:spPr>
          <a:xfrm>
            <a:off x="868680" y="5623560"/>
            <a:ext cx="10515600" cy="56692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Founding breaks even at 4.7 jobs a year — one incremental roof every ~11 weeks — on T^Rock's share alone. </a:t>
            </a:r>
            <a:pPr indent="0" marL="0">
              <a:buNone/>
            </a:pPr>
            <a:r>
              <a:rPr lang="en-US" sz="1350" dirty="0">
                <a:solidFill>
                  <a:srgbClr val="E6E6E6"/>
                </a:solidFill>
                <a:latin typeface="Arial" pitchFamily="34" charset="0"/>
                <a:ea typeface="Arial" pitchFamily="34" charset="-122"/>
                <a:cs typeface="Arial" pitchFamily="34" charset="-120"/>
              </a:rPr>
              <a:t>Past that it's margin, at $500/mo under Platinum sticker forever.</a:t>
            </a:r>
            <a:endParaRPr lang="en-US" sz="1350" dirty="0"/>
          </a:p>
        </p:txBody>
      </p:sp>
      <p:sp>
        <p:nvSpPr>
          <p:cNvPr id="29" name="Text 27"/>
          <p:cNvSpPr/>
          <p:nvPr/>
        </p:nvSpPr>
        <p:spPr>
          <a:xfrm>
            <a:off x="548640" y="6473952"/>
            <a:ext cx="9601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Per job: $30,000 × 35% = $10,500, less 2%-of-profit lead fee ($210) = $10,290, split 50/50 with the PM → $5,145 to T^Rock.</a:t>
            </a:r>
            <a:endParaRPr lang="en-US" sz="900" dirty="0"/>
          </a:p>
        </p:txBody>
      </p:sp>
      <p:sp>
        <p:nvSpPr>
          <p:cNvPr id="30" name="Text 2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Company A: real numbers, 128 days on the system</a:t>
            </a:r>
            <a:endParaRPr lang="en-US" sz="3200" dirty="0"/>
          </a:p>
        </p:txBody>
      </p:sp>
      <p:sp>
        <p:nvSpPr>
          <p:cNvPr id="3" name="Text 1"/>
          <p:cNvSpPr/>
          <p:nvPr/>
        </p:nvSpPr>
        <p:spPr>
          <a:xfrm>
            <a:off x="548640" y="1078992"/>
            <a:ext cx="10881360" cy="502920"/>
          </a:xfrm>
          <a:prstGeom prst="rect">
            <a:avLst/>
          </a:prstGeom>
          <a:noFill/>
          <a:ln/>
        </p:spPr>
        <p:txBody>
          <a:bodyPr wrap="square" lIns="0" tIns="0" rIns="0" bIns="0" rtlCol="0" anchor="ctr"/>
          <a:lstStyle/>
          <a:p>
            <a:pPr indent="0" marL="0">
              <a:buNone/>
            </a:pPr>
            <a:r>
              <a:rPr lang="en-US" sz="1500" dirty="0">
                <a:solidFill>
                  <a:srgbClr val="6E6E6E"/>
                </a:solidFill>
                <a:latin typeface="Arial" pitchFamily="34" charset="0"/>
                <a:ea typeface="Arial" pitchFamily="34" charset="-122"/>
                <a:cs typeface="Arial" pitchFamily="34" charset="-120"/>
              </a:rPr>
              <a:t>A roofing company just 6 months old, running 2 dialers (a mix of VA callers and in-house), after a 30-day ramp-up. Their numbers, shared with us directly:</a:t>
            </a:r>
            <a:endParaRPr lang="en-US" sz="1500" dirty="0"/>
          </a:p>
        </p:txBody>
      </p:sp>
      <p:sp>
        <p:nvSpPr>
          <p:cNvPr id="4" name="Shape 2"/>
          <p:cNvSpPr/>
          <p:nvPr/>
        </p:nvSpPr>
        <p:spPr>
          <a:xfrm>
            <a:off x="548640" y="1737360"/>
            <a:ext cx="3520440" cy="1691640"/>
          </a:xfrm>
          <a:prstGeom prst="roundRect">
            <a:avLst>
              <a:gd name="adj" fmla="val 4324"/>
            </a:avLst>
          </a:prstGeom>
          <a:solidFill>
            <a:srgbClr val="F5F5F5"/>
          </a:solidFill>
          <a:ln/>
        </p:spPr>
      </p:sp>
      <p:pic>
        <p:nvPicPr>
          <p:cNvPr id="5" name="Image 0" descr="preencoded.png">    </p:cNvPr>
          <p:cNvPicPr>
            <a:picLocks noChangeAspect="1"/>
          </p:cNvPicPr>
          <p:nvPr/>
        </p:nvPicPr>
        <p:blipFill>
          <a:blip r:embed="rId1"/>
          <a:stretch>
            <a:fillRect/>
          </a:stretch>
        </p:blipFill>
        <p:spPr>
          <a:xfrm>
            <a:off x="822960" y="1938528"/>
            <a:ext cx="457200" cy="457200"/>
          </a:xfrm>
          <a:prstGeom prst="rect">
            <a:avLst/>
          </a:prstGeom>
        </p:spPr>
      </p:pic>
      <p:sp>
        <p:nvSpPr>
          <p:cNvPr id="6" name="Text 3"/>
          <p:cNvSpPr/>
          <p:nvPr/>
        </p:nvSpPr>
        <p:spPr>
          <a:xfrm>
            <a:off x="1463040" y="1810512"/>
            <a:ext cx="2514600" cy="731520"/>
          </a:xfrm>
          <a:prstGeom prst="rect">
            <a:avLst/>
          </a:prstGeom>
          <a:noFill/>
          <a:ln/>
        </p:spPr>
        <p:txBody>
          <a:bodyPr wrap="square" lIns="0" tIns="0" rIns="0" bIns="0" rtlCol="0" anchor="ctr"/>
          <a:lstStyle/>
          <a:p>
            <a:pPr indent="0" marL="0">
              <a:buNone/>
            </a:pPr>
            <a:r>
              <a:rPr lang="en-US" sz="3400" b="1" dirty="0">
                <a:solidFill>
                  <a:srgbClr val="C8102E"/>
                </a:solidFill>
                <a:latin typeface="Arial" pitchFamily="34" charset="0"/>
                <a:ea typeface="Arial" pitchFamily="34" charset="-122"/>
                <a:cs typeface="Arial" pitchFamily="34" charset="-120"/>
              </a:rPr>
              <a:t>31</a:t>
            </a:r>
            <a:endParaRPr lang="en-US" sz="3400" dirty="0"/>
          </a:p>
        </p:txBody>
      </p:sp>
      <p:sp>
        <p:nvSpPr>
          <p:cNvPr id="7" name="Text 4"/>
          <p:cNvSpPr/>
          <p:nvPr/>
        </p:nvSpPr>
        <p:spPr>
          <a:xfrm>
            <a:off x="822960" y="2606040"/>
            <a:ext cx="2971800" cy="731520"/>
          </a:xfrm>
          <a:prstGeom prst="rect">
            <a:avLst/>
          </a:prstGeom>
          <a:noFill/>
          <a:ln/>
        </p:spPr>
        <p:txBody>
          <a:bodyPr wrap="square" lIns="0" tIns="0" rIns="0" bIns="0" rtlCol="0" anchor="ctr"/>
          <a:lstStyle/>
          <a:p>
            <a:pPr indent="0" marL="0">
              <a:buNone/>
            </a:pPr>
            <a:r>
              <a:rPr lang="en-US" sz="1150" dirty="0">
                <a:solidFill>
                  <a:srgbClr val="2A2A2A"/>
                </a:solidFill>
                <a:latin typeface="Arial" pitchFamily="34" charset="0"/>
                <a:ea typeface="Arial" pitchFamily="34" charset="-122"/>
                <a:cs typeface="Arial" pitchFamily="34" charset="-120"/>
              </a:rPr>
              <a:t>extra roofs signed in 128 selling days</a:t>
            </a:r>
            <a:endParaRPr lang="en-US" sz="1150" dirty="0"/>
          </a:p>
        </p:txBody>
      </p:sp>
      <p:sp>
        <p:nvSpPr>
          <p:cNvPr id="8" name="Shape 5"/>
          <p:cNvSpPr/>
          <p:nvPr/>
        </p:nvSpPr>
        <p:spPr>
          <a:xfrm>
            <a:off x="4343400" y="1737360"/>
            <a:ext cx="3520440" cy="1691640"/>
          </a:xfrm>
          <a:prstGeom prst="roundRect">
            <a:avLst>
              <a:gd name="adj" fmla="val 4324"/>
            </a:avLst>
          </a:prstGeom>
          <a:solidFill>
            <a:srgbClr val="F5F5F5"/>
          </a:solidFill>
          <a:ln/>
        </p:spPr>
      </p:sp>
      <p:pic>
        <p:nvPicPr>
          <p:cNvPr id="9" name="Image 1" descr="preencoded.png">    </p:cNvPr>
          <p:cNvPicPr>
            <a:picLocks noChangeAspect="1"/>
          </p:cNvPicPr>
          <p:nvPr/>
        </p:nvPicPr>
        <p:blipFill>
          <a:blip r:embed="rId2"/>
          <a:stretch>
            <a:fillRect/>
          </a:stretch>
        </p:blipFill>
        <p:spPr>
          <a:xfrm>
            <a:off x="4617720" y="1938528"/>
            <a:ext cx="457200" cy="457200"/>
          </a:xfrm>
          <a:prstGeom prst="rect">
            <a:avLst/>
          </a:prstGeom>
        </p:spPr>
      </p:pic>
      <p:sp>
        <p:nvSpPr>
          <p:cNvPr id="10" name="Text 6"/>
          <p:cNvSpPr/>
          <p:nvPr/>
        </p:nvSpPr>
        <p:spPr>
          <a:xfrm>
            <a:off x="5257800" y="1810512"/>
            <a:ext cx="2514600" cy="731520"/>
          </a:xfrm>
          <a:prstGeom prst="rect">
            <a:avLst/>
          </a:prstGeom>
          <a:noFill/>
          <a:ln/>
        </p:spPr>
        <p:txBody>
          <a:bodyPr wrap="square" lIns="0" tIns="0" rIns="0" bIns="0" rtlCol="0" anchor="ctr"/>
          <a:lstStyle/>
          <a:p>
            <a:pPr indent="0" marL="0">
              <a:buNone/>
            </a:pPr>
            <a:r>
              <a:rPr lang="en-US" sz="3400" b="1" dirty="0">
                <a:solidFill>
                  <a:srgbClr val="C8102E"/>
                </a:solidFill>
                <a:latin typeface="Arial" pitchFamily="34" charset="0"/>
                <a:ea typeface="Arial" pitchFamily="34" charset="-122"/>
                <a:cs typeface="Arial" pitchFamily="34" charset="-120"/>
              </a:rPr>
              <a:t>$627,000</a:t>
            </a:r>
            <a:endParaRPr lang="en-US" sz="3400" dirty="0"/>
          </a:p>
        </p:txBody>
      </p:sp>
      <p:sp>
        <p:nvSpPr>
          <p:cNvPr id="11" name="Text 7"/>
          <p:cNvSpPr/>
          <p:nvPr/>
        </p:nvSpPr>
        <p:spPr>
          <a:xfrm>
            <a:off x="4617720" y="2606040"/>
            <a:ext cx="2971800" cy="731520"/>
          </a:xfrm>
          <a:prstGeom prst="rect">
            <a:avLst/>
          </a:prstGeom>
          <a:noFill/>
          <a:ln/>
        </p:spPr>
        <p:txBody>
          <a:bodyPr wrap="square" lIns="0" tIns="0" rIns="0" bIns="0" rtlCol="0" anchor="ctr"/>
          <a:lstStyle/>
          <a:p>
            <a:pPr indent="0" marL="0">
              <a:buNone/>
            </a:pPr>
            <a:r>
              <a:rPr lang="en-US" sz="1150" dirty="0">
                <a:solidFill>
                  <a:srgbClr val="2A2A2A"/>
                </a:solidFill>
                <a:latin typeface="Arial" pitchFamily="34" charset="0"/>
                <a:ea typeface="Arial" pitchFamily="34" charset="-122"/>
                <a:cs typeface="Arial" pitchFamily="34" charset="-120"/>
              </a:rPr>
              <a:t>in extra revenue those roofs produced</a:t>
            </a:r>
            <a:endParaRPr lang="en-US" sz="1150" dirty="0"/>
          </a:p>
        </p:txBody>
      </p:sp>
      <p:sp>
        <p:nvSpPr>
          <p:cNvPr id="12" name="Shape 8"/>
          <p:cNvSpPr/>
          <p:nvPr/>
        </p:nvSpPr>
        <p:spPr>
          <a:xfrm>
            <a:off x="8138160" y="1737360"/>
            <a:ext cx="3520440" cy="1691640"/>
          </a:xfrm>
          <a:prstGeom prst="roundRect">
            <a:avLst>
              <a:gd name="adj" fmla="val 4324"/>
            </a:avLst>
          </a:prstGeom>
          <a:solidFill>
            <a:srgbClr val="F5F5F5"/>
          </a:solidFill>
          <a:ln/>
        </p:spPr>
      </p:sp>
      <p:pic>
        <p:nvPicPr>
          <p:cNvPr id="13" name="Image 2" descr="preencoded.png">    </p:cNvPr>
          <p:cNvPicPr>
            <a:picLocks noChangeAspect="1"/>
          </p:cNvPicPr>
          <p:nvPr/>
        </p:nvPicPr>
        <p:blipFill>
          <a:blip r:embed="rId3"/>
          <a:stretch>
            <a:fillRect/>
          </a:stretch>
        </p:blipFill>
        <p:spPr>
          <a:xfrm>
            <a:off x="8412480" y="1938528"/>
            <a:ext cx="457200" cy="457200"/>
          </a:xfrm>
          <a:prstGeom prst="rect">
            <a:avLst/>
          </a:prstGeom>
        </p:spPr>
      </p:pic>
      <p:sp>
        <p:nvSpPr>
          <p:cNvPr id="14" name="Text 9"/>
          <p:cNvSpPr/>
          <p:nvPr/>
        </p:nvSpPr>
        <p:spPr>
          <a:xfrm>
            <a:off x="9052560" y="1810512"/>
            <a:ext cx="2514600" cy="731520"/>
          </a:xfrm>
          <a:prstGeom prst="rect">
            <a:avLst/>
          </a:prstGeom>
          <a:noFill/>
          <a:ln/>
        </p:spPr>
        <p:txBody>
          <a:bodyPr wrap="square" lIns="0" tIns="0" rIns="0" bIns="0" rtlCol="0" anchor="ctr"/>
          <a:lstStyle/>
          <a:p>
            <a:pPr indent="0" marL="0">
              <a:buNone/>
            </a:pPr>
            <a:r>
              <a:rPr lang="en-US" sz="3400" b="1" dirty="0">
                <a:solidFill>
                  <a:srgbClr val="C8102E"/>
                </a:solidFill>
                <a:latin typeface="Arial" pitchFamily="34" charset="0"/>
                <a:ea typeface="Arial" pitchFamily="34" charset="-122"/>
                <a:cs typeface="Arial" pitchFamily="34" charset="-120"/>
              </a:rPr>
              <a:t>$7,100</a:t>
            </a:r>
            <a:endParaRPr lang="en-US" sz="3400" dirty="0"/>
          </a:p>
        </p:txBody>
      </p:sp>
      <p:sp>
        <p:nvSpPr>
          <p:cNvPr id="15" name="Text 10"/>
          <p:cNvSpPr/>
          <p:nvPr/>
        </p:nvSpPr>
        <p:spPr>
          <a:xfrm>
            <a:off x="8412480" y="2606040"/>
            <a:ext cx="2971800" cy="731520"/>
          </a:xfrm>
          <a:prstGeom prst="rect">
            <a:avLst/>
          </a:prstGeom>
          <a:noFill/>
          <a:ln/>
        </p:spPr>
        <p:txBody>
          <a:bodyPr wrap="square" lIns="0" tIns="0" rIns="0" bIns="0" rtlCol="0" anchor="ctr"/>
          <a:lstStyle/>
          <a:p>
            <a:pPr indent="0" marL="0">
              <a:buNone/>
            </a:pPr>
            <a:r>
              <a:rPr lang="en-US" sz="1150" dirty="0">
                <a:solidFill>
                  <a:srgbClr val="2A2A2A"/>
                </a:solidFill>
                <a:latin typeface="Arial" pitchFamily="34" charset="0"/>
                <a:ea typeface="Arial" pitchFamily="34" charset="-122"/>
                <a:cs typeface="Arial" pitchFamily="34" charset="-120"/>
              </a:rPr>
              <a:t>total data + outreach cost — 1.1% of the revenue it generated</a:t>
            </a:r>
            <a:endParaRPr lang="en-US" sz="1150" dirty="0"/>
          </a:p>
        </p:txBody>
      </p:sp>
      <p:sp>
        <p:nvSpPr>
          <p:cNvPr id="16" name="Shape 11"/>
          <p:cNvSpPr/>
          <p:nvPr/>
        </p:nvSpPr>
        <p:spPr>
          <a:xfrm>
            <a:off x="548640" y="3657600"/>
            <a:ext cx="3291840" cy="1325880"/>
          </a:xfrm>
          <a:prstGeom prst="roundRect">
            <a:avLst>
              <a:gd name="adj" fmla="val 5517"/>
            </a:avLst>
          </a:prstGeom>
          <a:solidFill>
            <a:srgbClr val="F5F5F5"/>
          </a:solidFill>
          <a:ln/>
        </p:spPr>
      </p:sp>
      <p:sp>
        <p:nvSpPr>
          <p:cNvPr id="17" name="Text 12"/>
          <p:cNvSpPr/>
          <p:nvPr/>
        </p:nvSpPr>
        <p:spPr>
          <a:xfrm>
            <a:off x="822960" y="3767328"/>
            <a:ext cx="2743200" cy="548640"/>
          </a:xfrm>
          <a:prstGeom prst="rect">
            <a:avLst/>
          </a:prstGeom>
          <a:noFill/>
          <a:ln/>
        </p:spPr>
        <p:txBody>
          <a:bodyPr wrap="square" lIns="0" tIns="0" rIns="0" bIns="0" rtlCol="0" anchor="ctr"/>
          <a:lstStyle/>
          <a:p>
            <a:pPr indent="0" marL="0">
              <a:buNone/>
            </a:pPr>
            <a:r>
              <a:rPr lang="en-US" sz="2800" b="1" dirty="0">
                <a:solidFill>
                  <a:srgbClr val="C8102E"/>
                </a:solidFill>
                <a:latin typeface="Arial" pitchFamily="34" charset="0"/>
                <a:ea typeface="Arial" pitchFamily="34" charset="-122"/>
                <a:cs typeface="Arial" pitchFamily="34" charset="-120"/>
              </a:rPr>
              <a:t>3,177</a:t>
            </a:r>
            <a:endParaRPr lang="en-US" sz="2800" dirty="0"/>
          </a:p>
        </p:txBody>
      </p:sp>
      <p:sp>
        <p:nvSpPr>
          <p:cNvPr id="18" name="Text 13"/>
          <p:cNvSpPr/>
          <p:nvPr/>
        </p:nvSpPr>
        <p:spPr>
          <a:xfrm>
            <a:off x="822960" y="4315968"/>
            <a:ext cx="2743200"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homeowners called</a:t>
            </a:r>
            <a:endParaRPr lang="en-US" sz="1250" dirty="0"/>
          </a:p>
        </p:txBody>
      </p:sp>
      <p:sp>
        <p:nvSpPr>
          <p:cNvPr id="19" name="Text 14"/>
          <p:cNvSpPr/>
          <p:nvPr/>
        </p:nvSpPr>
        <p:spPr>
          <a:xfrm>
            <a:off x="822960" y="4617720"/>
            <a:ext cx="2743200" cy="292608"/>
          </a:xfrm>
          <a:prstGeom prst="rect">
            <a:avLst/>
          </a:prstGeom>
          <a:noFill/>
          <a:ln/>
        </p:spPr>
        <p:txBody>
          <a:bodyPr wrap="square" lIns="0" tIns="0" rIns="0" bIns="0" rtlCol="0" anchor="ctr"/>
          <a:lstStyle/>
          <a:p>
            <a:pPr indent="0" marL="0">
              <a:buNone/>
            </a:pPr>
            <a:r>
              <a:rPr lang="en-US" sz="1050" dirty="0">
                <a:solidFill>
                  <a:srgbClr val="6E6E6E"/>
                </a:solidFill>
                <a:latin typeface="Arial" pitchFamily="34" charset="0"/>
                <a:ea typeface="Arial" pitchFamily="34" charset="-122"/>
                <a:cs typeface="Arial" pitchFamily="34" charset="-120"/>
              </a:rPr>
              <a:t>2 dialers, verified-damage lists</a:t>
            </a:r>
            <a:endParaRPr lang="en-US" sz="1050" dirty="0"/>
          </a:p>
        </p:txBody>
      </p:sp>
      <p:sp>
        <p:nvSpPr>
          <p:cNvPr id="20" name="Text 15"/>
          <p:cNvSpPr/>
          <p:nvPr/>
        </p:nvSpPr>
        <p:spPr>
          <a:xfrm>
            <a:off x="3858768" y="4069080"/>
            <a:ext cx="457200" cy="457200"/>
          </a:xfrm>
          <a:prstGeom prst="rect">
            <a:avLst/>
          </a:prstGeom>
          <a:noFill/>
          <a:ln/>
        </p:spPr>
        <p:txBody>
          <a:bodyPr wrap="square" lIns="0" tIns="0" rIns="0" bIns="0" rtlCol="0" anchor="ctr"/>
          <a:lstStyle/>
          <a:p>
            <a:pPr algn="ctr" indent="0" marL="0">
              <a:buNone/>
            </a:pPr>
            <a:r>
              <a:rPr lang="en-US" sz="2200" b="1" dirty="0">
                <a:solidFill>
                  <a:srgbClr val="C8102E"/>
                </a:solidFill>
                <a:latin typeface="Arial" pitchFamily="34" charset="0"/>
                <a:ea typeface="Arial" pitchFamily="34" charset="-122"/>
                <a:cs typeface="Arial" pitchFamily="34" charset="-120"/>
              </a:rPr>
              <a:t>→</a:t>
            </a:r>
            <a:endParaRPr lang="en-US" sz="2200" dirty="0"/>
          </a:p>
        </p:txBody>
      </p:sp>
      <p:sp>
        <p:nvSpPr>
          <p:cNvPr id="21" name="Shape 16"/>
          <p:cNvSpPr/>
          <p:nvPr/>
        </p:nvSpPr>
        <p:spPr>
          <a:xfrm>
            <a:off x="4343400" y="3657600"/>
            <a:ext cx="3291840" cy="1325880"/>
          </a:xfrm>
          <a:prstGeom prst="roundRect">
            <a:avLst>
              <a:gd name="adj" fmla="val 5517"/>
            </a:avLst>
          </a:prstGeom>
          <a:solidFill>
            <a:srgbClr val="F5F5F5"/>
          </a:solidFill>
          <a:ln/>
        </p:spPr>
      </p:sp>
      <p:sp>
        <p:nvSpPr>
          <p:cNvPr id="22" name="Text 17"/>
          <p:cNvSpPr/>
          <p:nvPr/>
        </p:nvSpPr>
        <p:spPr>
          <a:xfrm>
            <a:off x="4617720" y="3767328"/>
            <a:ext cx="2743200" cy="548640"/>
          </a:xfrm>
          <a:prstGeom prst="rect">
            <a:avLst/>
          </a:prstGeom>
          <a:noFill/>
          <a:ln/>
        </p:spPr>
        <p:txBody>
          <a:bodyPr wrap="square" lIns="0" tIns="0" rIns="0" bIns="0" rtlCol="0" anchor="ctr"/>
          <a:lstStyle/>
          <a:p>
            <a:pPr indent="0" marL="0">
              <a:buNone/>
            </a:pPr>
            <a:r>
              <a:rPr lang="en-US" sz="2800" b="1" dirty="0">
                <a:solidFill>
                  <a:srgbClr val="C8102E"/>
                </a:solidFill>
                <a:latin typeface="Arial" pitchFamily="34" charset="0"/>
                <a:ea typeface="Arial" pitchFamily="34" charset="-122"/>
                <a:cs typeface="Arial" pitchFamily="34" charset="-120"/>
              </a:rPr>
              <a:t>105</a:t>
            </a:r>
            <a:endParaRPr lang="en-US" sz="2800" dirty="0"/>
          </a:p>
        </p:txBody>
      </p:sp>
      <p:sp>
        <p:nvSpPr>
          <p:cNvPr id="23" name="Text 18"/>
          <p:cNvSpPr/>
          <p:nvPr/>
        </p:nvSpPr>
        <p:spPr>
          <a:xfrm>
            <a:off x="4617720" y="4315968"/>
            <a:ext cx="2743200"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inspections booked</a:t>
            </a:r>
            <a:endParaRPr lang="en-US" sz="1250" dirty="0"/>
          </a:p>
        </p:txBody>
      </p:sp>
      <p:sp>
        <p:nvSpPr>
          <p:cNvPr id="24" name="Text 19"/>
          <p:cNvSpPr/>
          <p:nvPr/>
        </p:nvSpPr>
        <p:spPr>
          <a:xfrm>
            <a:off x="4617720" y="4617720"/>
            <a:ext cx="2743200" cy="292608"/>
          </a:xfrm>
          <a:prstGeom prst="rect">
            <a:avLst/>
          </a:prstGeom>
          <a:noFill/>
          <a:ln/>
        </p:spPr>
        <p:txBody>
          <a:bodyPr wrap="square" lIns="0" tIns="0" rIns="0" bIns="0" rtlCol="0" anchor="ctr"/>
          <a:lstStyle/>
          <a:p>
            <a:pPr indent="0" marL="0">
              <a:buNone/>
            </a:pPr>
            <a:r>
              <a:rPr lang="en-US" sz="1050" dirty="0">
                <a:solidFill>
                  <a:srgbClr val="6E6E6E"/>
                </a:solidFill>
                <a:latin typeface="Arial" pitchFamily="34" charset="0"/>
                <a:ea typeface="Arial" pitchFamily="34" charset="-122"/>
                <a:cs typeface="Arial" pitchFamily="34" charset="-120"/>
              </a:rPr>
              <a:t>3.3% of calls</a:t>
            </a:r>
            <a:endParaRPr lang="en-US" sz="1050" dirty="0"/>
          </a:p>
        </p:txBody>
      </p:sp>
      <p:sp>
        <p:nvSpPr>
          <p:cNvPr id="25" name="Text 20"/>
          <p:cNvSpPr/>
          <p:nvPr/>
        </p:nvSpPr>
        <p:spPr>
          <a:xfrm>
            <a:off x="7653528" y="4069080"/>
            <a:ext cx="457200" cy="457200"/>
          </a:xfrm>
          <a:prstGeom prst="rect">
            <a:avLst/>
          </a:prstGeom>
          <a:noFill/>
          <a:ln/>
        </p:spPr>
        <p:txBody>
          <a:bodyPr wrap="square" lIns="0" tIns="0" rIns="0" bIns="0" rtlCol="0" anchor="ctr"/>
          <a:lstStyle/>
          <a:p>
            <a:pPr algn="ctr" indent="0" marL="0">
              <a:buNone/>
            </a:pPr>
            <a:r>
              <a:rPr lang="en-US" sz="2200" b="1" dirty="0">
                <a:solidFill>
                  <a:srgbClr val="C8102E"/>
                </a:solidFill>
                <a:latin typeface="Arial" pitchFamily="34" charset="0"/>
                <a:ea typeface="Arial" pitchFamily="34" charset="-122"/>
                <a:cs typeface="Arial" pitchFamily="34" charset="-120"/>
              </a:rPr>
              <a:t>→</a:t>
            </a:r>
            <a:endParaRPr lang="en-US" sz="2200" dirty="0"/>
          </a:p>
        </p:txBody>
      </p:sp>
      <p:sp>
        <p:nvSpPr>
          <p:cNvPr id="26" name="Shape 21"/>
          <p:cNvSpPr/>
          <p:nvPr/>
        </p:nvSpPr>
        <p:spPr>
          <a:xfrm>
            <a:off x="8138160" y="3657600"/>
            <a:ext cx="3291840" cy="1325880"/>
          </a:xfrm>
          <a:prstGeom prst="roundRect">
            <a:avLst>
              <a:gd name="adj" fmla="val 5517"/>
            </a:avLst>
          </a:prstGeom>
          <a:solidFill>
            <a:srgbClr val="111111"/>
          </a:solidFill>
          <a:ln/>
        </p:spPr>
      </p:sp>
      <p:sp>
        <p:nvSpPr>
          <p:cNvPr id="27" name="Text 22"/>
          <p:cNvSpPr/>
          <p:nvPr/>
        </p:nvSpPr>
        <p:spPr>
          <a:xfrm>
            <a:off x="8412480" y="3767328"/>
            <a:ext cx="2743200" cy="548640"/>
          </a:xfrm>
          <a:prstGeom prst="rect">
            <a:avLst/>
          </a:prstGeom>
          <a:noFill/>
          <a:ln/>
        </p:spPr>
        <p:txBody>
          <a:bodyPr wrap="square" lIns="0" tIns="0" rIns="0" bIns="0" rtlCol="0" anchor="ctr"/>
          <a:lstStyle/>
          <a:p>
            <a:pPr indent="0" marL="0">
              <a:buNone/>
            </a:pPr>
            <a:r>
              <a:rPr lang="en-US" sz="2800" b="1" dirty="0">
                <a:solidFill>
                  <a:srgbClr val="C8102E"/>
                </a:solidFill>
                <a:latin typeface="Arial" pitchFamily="34" charset="0"/>
                <a:ea typeface="Arial" pitchFamily="34" charset="-122"/>
                <a:cs typeface="Arial" pitchFamily="34" charset="-120"/>
              </a:rPr>
              <a:t>31</a:t>
            </a:r>
            <a:endParaRPr lang="en-US" sz="2800" dirty="0"/>
          </a:p>
        </p:txBody>
      </p:sp>
      <p:sp>
        <p:nvSpPr>
          <p:cNvPr id="28" name="Text 23"/>
          <p:cNvSpPr/>
          <p:nvPr/>
        </p:nvSpPr>
        <p:spPr>
          <a:xfrm>
            <a:off x="8412480" y="4315968"/>
            <a:ext cx="2743200" cy="29260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contracts signed</a:t>
            </a:r>
            <a:endParaRPr lang="en-US" sz="1250" dirty="0"/>
          </a:p>
        </p:txBody>
      </p:sp>
      <p:sp>
        <p:nvSpPr>
          <p:cNvPr id="29" name="Text 24"/>
          <p:cNvSpPr/>
          <p:nvPr/>
        </p:nvSpPr>
        <p:spPr>
          <a:xfrm>
            <a:off x="8412480" y="4617720"/>
            <a:ext cx="2743200" cy="292608"/>
          </a:xfrm>
          <a:prstGeom prst="rect">
            <a:avLst/>
          </a:prstGeom>
          <a:noFill/>
          <a:ln/>
        </p:spPr>
        <p:txBody>
          <a:bodyPr wrap="square" lIns="0" tIns="0" rIns="0" bIns="0" rtlCol="0" anchor="ctr"/>
          <a:lstStyle/>
          <a:p>
            <a:pPr indent="0" marL="0">
              <a:buNone/>
            </a:pPr>
            <a:r>
              <a:rPr lang="en-US" sz="1050" dirty="0">
                <a:solidFill>
                  <a:srgbClr val="CFCFCF"/>
                </a:solidFill>
                <a:latin typeface="Arial" pitchFamily="34" charset="0"/>
                <a:ea typeface="Arial" pitchFamily="34" charset="-122"/>
                <a:cs typeface="Arial" pitchFamily="34" charset="-120"/>
              </a:rPr>
              <a:t>29.5% of inspections</a:t>
            </a:r>
            <a:endParaRPr lang="en-US" sz="1050" dirty="0"/>
          </a:p>
        </p:txBody>
      </p:sp>
      <p:sp>
        <p:nvSpPr>
          <p:cNvPr id="30" name="Text 25"/>
          <p:cNvSpPr/>
          <p:nvPr/>
        </p:nvSpPr>
        <p:spPr>
          <a:xfrm>
            <a:off x="548640" y="5047488"/>
            <a:ext cx="11064240" cy="438912"/>
          </a:xfrm>
          <a:prstGeom prst="rect">
            <a:avLst/>
          </a:prstGeom>
          <a:noFill/>
          <a:ln/>
        </p:spPr>
        <p:txBody>
          <a:bodyPr wrap="square" lIns="0" tIns="0" rIns="0" bIns="0" rtlCol="0" anchor="ctr"/>
          <a:lstStyle/>
          <a:p>
            <a:pPr indent="0" marL="0">
              <a:buNone/>
            </a:pPr>
            <a:r>
              <a:rPr lang="en-US" sz="1200" i="1" dirty="0">
                <a:solidFill>
                  <a:srgbClr val="2A2A2A"/>
                </a:solidFill>
                <a:latin typeface="Arial" pitchFamily="34" charset="0"/>
                <a:ea typeface="Arial" pitchFamily="34" charset="-122"/>
                <a:cs typeface="Arial" pitchFamily="34" charset="-120"/>
              </a:rPr>
              <a:t>Their average ticket: ~$20,200. The same 31 roofs at T^Rock's $30,000 ticket ≈ $930,000 revenue — ~$159,000 net to T^Rock.</a:t>
            </a:r>
            <a:endParaRPr lang="en-US" sz="1200" dirty="0"/>
          </a:p>
        </p:txBody>
      </p:sp>
      <p:sp>
        <p:nvSpPr>
          <p:cNvPr id="31" name="Shape 26"/>
          <p:cNvSpPr/>
          <p:nvPr/>
        </p:nvSpPr>
        <p:spPr>
          <a:xfrm>
            <a:off x="548640" y="5532120"/>
            <a:ext cx="11064240" cy="731520"/>
          </a:xfrm>
          <a:prstGeom prst="roundRect">
            <a:avLst>
              <a:gd name="adj" fmla="val 7500"/>
            </a:avLst>
          </a:prstGeom>
          <a:solidFill>
            <a:srgbClr val="111111"/>
          </a:solidFill>
          <a:ln/>
        </p:spPr>
      </p:sp>
      <p:sp>
        <p:nvSpPr>
          <p:cNvPr id="32" name="Text 27"/>
          <p:cNvSpPr/>
          <p:nvPr/>
        </p:nvSpPr>
        <p:spPr>
          <a:xfrm>
            <a:off x="868680" y="5623560"/>
            <a:ext cx="10515600" cy="56692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$7,100 in, $627,000 out — an 88× return, at $229 per signed roof. </a:t>
            </a:r>
            <a:pPr indent="0" marL="0">
              <a:buNone/>
            </a:pPr>
            <a:r>
              <a:rPr lang="en-US" sz="1350" dirty="0">
                <a:solidFill>
                  <a:srgbClr val="E6E6E6"/>
                </a:solidFill>
                <a:latin typeface="Arial" pitchFamily="34" charset="0"/>
                <a:ea typeface="Arial" pitchFamily="34" charset="-122"/>
                <a:cs typeface="Arial" pitchFamily="34" charset="-120"/>
              </a:rPr>
              <a:t>That's the benchmark our 90-day scorecard is aiming at.</a:t>
            </a:r>
            <a:endParaRPr lang="en-US" sz="1350" dirty="0"/>
          </a:p>
        </p:txBody>
      </p:sp>
      <p:sp>
        <p:nvSpPr>
          <p:cNvPr id="33" name="Text 28"/>
          <p:cNvSpPr/>
          <p:nvPr/>
        </p:nvSpPr>
        <p:spPr>
          <a:xfrm>
            <a:off x="548640" y="6473952"/>
            <a:ext cx="9601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Operator-reported figures shared with us directly; company name withheld at their request. 128 selling days followed a 30-day ramp — roughly their first 4 months on the system.</a:t>
            </a:r>
            <a:endParaRPr lang="en-US" sz="900" dirty="0"/>
          </a:p>
        </p:txBody>
      </p:sp>
      <p:sp>
        <p:nvSpPr>
          <p:cNvPr id="34" name="Text 2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What T^Rock can expect: the first five months</a:t>
            </a:r>
            <a:endParaRPr lang="en-US" sz="3200" dirty="0"/>
          </a:p>
        </p:txBody>
      </p:sp>
      <p:sp>
        <p:nvSpPr>
          <p:cNvPr id="3" name="Text 1"/>
          <p:cNvSpPr/>
          <p:nvPr/>
        </p:nvSpPr>
        <p:spPr>
          <a:xfrm>
            <a:off x="548640" y="1078992"/>
            <a:ext cx="10881360" cy="502920"/>
          </a:xfrm>
          <a:prstGeom prst="rect">
            <a:avLst/>
          </a:prstGeom>
          <a:noFill/>
          <a:ln/>
        </p:spPr>
        <p:txBody>
          <a:bodyPr wrap="square" lIns="0" tIns="0" rIns="0" bIns="0" rtlCol="0" anchor="ctr"/>
          <a:lstStyle/>
          <a:p>
            <a:pPr indent="0" marL="0">
              <a:buNone/>
            </a:pPr>
            <a:r>
              <a:rPr lang="en-US" sz="1500" dirty="0">
                <a:solidFill>
                  <a:srgbClr val="6E6E6E"/>
                </a:solidFill>
                <a:latin typeface="Arial" pitchFamily="34" charset="0"/>
                <a:ea typeface="Arial" pitchFamily="34" charset="-122"/>
                <a:cs typeface="Arial" pitchFamily="34" charset="-120"/>
              </a:rPr>
              <a:t>Company A's observed funnel, applied to T^Rock's ticket at the same effort level — 2 dialers, ~12 dials a day each.</a:t>
            </a:r>
            <a:endParaRPr lang="en-US" sz="1500" dirty="0"/>
          </a:p>
        </p:txBody>
      </p:sp>
      <p:sp>
        <p:nvSpPr>
          <p:cNvPr id="4" name="Shape 2"/>
          <p:cNvSpPr/>
          <p:nvPr/>
        </p:nvSpPr>
        <p:spPr>
          <a:xfrm>
            <a:off x="548640" y="1737360"/>
            <a:ext cx="4206240" cy="1097280"/>
          </a:xfrm>
          <a:prstGeom prst="roundRect">
            <a:avLst>
              <a:gd name="adj" fmla="val 6667"/>
            </a:avLst>
          </a:prstGeom>
          <a:solidFill>
            <a:srgbClr val="F5F5F5"/>
          </a:solidFill>
          <a:ln/>
        </p:spPr>
      </p:sp>
      <p:sp>
        <p:nvSpPr>
          <p:cNvPr id="5" name="Text 3"/>
          <p:cNvSpPr/>
          <p:nvPr/>
        </p:nvSpPr>
        <p:spPr>
          <a:xfrm>
            <a:off x="822960" y="1828800"/>
            <a:ext cx="3657600" cy="457200"/>
          </a:xfrm>
          <a:prstGeom prst="rect">
            <a:avLst/>
          </a:prstGeom>
          <a:noFill/>
          <a:ln/>
        </p:spPr>
        <p:txBody>
          <a:bodyPr wrap="square" lIns="0" tIns="0" rIns="0" bIns="0" rtlCol="0" anchor="ctr"/>
          <a:lstStyle/>
          <a:p>
            <a:pPr indent="0" marL="0">
              <a:buNone/>
            </a:pPr>
            <a:r>
              <a:rPr lang="en-US" sz="1250" b="1" dirty="0">
                <a:solidFill>
                  <a:srgbClr val="C8102E"/>
                </a:solidFill>
                <a:latin typeface="Arial" pitchFamily="34" charset="0"/>
                <a:ea typeface="Arial" pitchFamily="34" charset="-122"/>
                <a:cs typeface="Arial" pitchFamily="34" charset="-120"/>
              </a:rPr>
              <a:t>Days 0–30 — Ramp</a:t>
            </a:r>
            <a:endParaRPr lang="en-US" sz="1250" dirty="0"/>
          </a:p>
        </p:txBody>
      </p:sp>
      <p:sp>
        <p:nvSpPr>
          <p:cNvPr id="6" name="Text 4"/>
          <p:cNvSpPr/>
          <p:nvPr/>
        </p:nvSpPr>
        <p:spPr>
          <a:xfrm>
            <a:off x="822960" y="2267712"/>
            <a:ext cx="3657600" cy="530352"/>
          </a:xfrm>
          <a:prstGeom prst="rect">
            <a:avLst/>
          </a:prstGeom>
          <a:noFill/>
          <a:ln/>
        </p:spPr>
        <p:txBody>
          <a:bodyPr wrap="square" lIns="0" tIns="0" rIns="0" bIns="0" rtlCol="0" anchor="ctr"/>
          <a:lstStyle/>
          <a:p>
            <a:pPr indent="0" marL="0">
              <a:buNone/>
            </a:pPr>
            <a:r>
              <a:rPr lang="en-US" sz="1050" dirty="0">
                <a:solidFill>
                  <a:srgbClr val="2A2A2A"/>
                </a:solidFill>
                <a:latin typeface="Arial" pitchFamily="34" charset="0"/>
                <a:ea typeface="Arial" pitchFamily="34" charset="-122"/>
                <a:cs typeface="Arial" pitchFamily="34" charset="-120"/>
              </a:rPr>
              <a:t>Lists built, territories set, dialers trained. Expect $0 signed. Company A saw the same.</a:t>
            </a:r>
            <a:endParaRPr lang="en-US" sz="1050" dirty="0"/>
          </a:p>
        </p:txBody>
      </p:sp>
      <p:sp>
        <p:nvSpPr>
          <p:cNvPr id="7" name="Shape 5"/>
          <p:cNvSpPr/>
          <p:nvPr/>
        </p:nvSpPr>
        <p:spPr>
          <a:xfrm>
            <a:off x="548640" y="2971800"/>
            <a:ext cx="4206240" cy="1097280"/>
          </a:xfrm>
          <a:prstGeom prst="roundRect">
            <a:avLst>
              <a:gd name="adj" fmla="val 6667"/>
            </a:avLst>
          </a:prstGeom>
          <a:solidFill>
            <a:srgbClr val="F5F5F5"/>
          </a:solidFill>
          <a:ln/>
        </p:spPr>
      </p:sp>
      <p:sp>
        <p:nvSpPr>
          <p:cNvPr id="8" name="Text 6"/>
          <p:cNvSpPr/>
          <p:nvPr/>
        </p:nvSpPr>
        <p:spPr>
          <a:xfrm>
            <a:off x="822960" y="3063240"/>
            <a:ext cx="3657600" cy="457200"/>
          </a:xfrm>
          <a:prstGeom prst="rect">
            <a:avLst/>
          </a:prstGeom>
          <a:noFill/>
          <a:ln/>
        </p:spPr>
        <p:txBody>
          <a:bodyPr wrap="square" lIns="0" tIns="0" rIns="0" bIns="0" rtlCol="0" anchor="ctr"/>
          <a:lstStyle/>
          <a:p>
            <a:pPr indent="0" marL="0">
              <a:buNone/>
            </a:pPr>
            <a:r>
              <a:rPr lang="en-US" sz="1250" b="1" dirty="0">
                <a:solidFill>
                  <a:srgbClr val="C8102E"/>
                </a:solidFill>
                <a:latin typeface="Arial" pitchFamily="34" charset="0"/>
                <a:ea typeface="Arial" pitchFamily="34" charset="-122"/>
                <a:cs typeface="Arial" pitchFamily="34" charset="-120"/>
              </a:rPr>
              <a:t>Days 31–150 — Production</a:t>
            </a:r>
            <a:endParaRPr lang="en-US" sz="1250" dirty="0"/>
          </a:p>
        </p:txBody>
      </p:sp>
      <p:sp>
        <p:nvSpPr>
          <p:cNvPr id="9" name="Text 7"/>
          <p:cNvSpPr/>
          <p:nvPr/>
        </p:nvSpPr>
        <p:spPr>
          <a:xfrm>
            <a:off x="822960" y="3502152"/>
            <a:ext cx="3657600" cy="530352"/>
          </a:xfrm>
          <a:prstGeom prst="rect">
            <a:avLst/>
          </a:prstGeom>
          <a:noFill/>
          <a:ln/>
        </p:spPr>
        <p:txBody>
          <a:bodyPr wrap="square" lIns="0" tIns="0" rIns="0" bIns="0" rtlCol="0" anchor="ctr"/>
          <a:lstStyle/>
          <a:p>
            <a:pPr indent="0" marL="0">
              <a:buNone/>
            </a:pPr>
            <a:r>
              <a:rPr lang="en-US" sz="1050" dirty="0">
                <a:solidFill>
                  <a:srgbClr val="2A2A2A"/>
                </a:solidFill>
                <a:latin typeface="Arial" pitchFamily="34" charset="0"/>
                <a:ea typeface="Arial" pitchFamily="34" charset="-122"/>
                <a:cs typeface="Arial" pitchFamily="34" charset="-120"/>
              </a:rPr>
              <a:t>Steady dialing on verified-damage lists. Inspections start booking within the first weeks of calling.</a:t>
            </a:r>
            <a:endParaRPr lang="en-US" sz="1050" dirty="0"/>
          </a:p>
        </p:txBody>
      </p:sp>
      <p:sp>
        <p:nvSpPr>
          <p:cNvPr id="10" name="Shape 8"/>
          <p:cNvSpPr/>
          <p:nvPr/>
        </p:nvSpPr>
        <p:spPr>
          <a:xfrm>
            <a:off x="548640" y="4206240"/>
            <a:ext cx="4206240" cy="1097280"/>
          </a:xfrm>
          <a:prstGeom prst="roundRect">
            <a:avLst>
              <a:gd name="adj" fmla="val 6667"/>
            </a:avLst>
          </a:prstGeom>
          <a:solidFill>
            <a:srgbClr val="111111"/>
          </a:solidFill>
          <a:ln/>
        </p:spPr>
      </p:sp>
      <p:sp>
        <p:nvSpPr>
          <p:cNvPr id="11" name="Text 9"/>
          <p:cNvSpPr/>
          <p:nvPr/>
        </p:nvSpPr>
        <p:spPr>
          <a:xfrm>
            <a:off x="822960" y="4297680"/>
            <a:ext cx="3657600" cy="457200"/>
          </a:xfrm>
          <a:prstGeom prst="rect">
            <a:avLst/>
          </a:prstGeom>
          <a:noFill/>
          <a:ln/>
        </p:spPr>
        <p:txBody>
          <a:bodyPr wrap="square" lIns="0" tIns="0" rIns="0" bIns="0" rtlCol="0" anchor="ctr"/>
          <a:lstStyle/>
          <a:p>
            <a:pPr indent="0" marL="0">
              <a:buNone/>
            </a:pPr>
            <a:r>
              <a:rPr lang="en-US" sz="1250" b="1" dirty="0">
                <a:solidFill>
                  <a:srgbClr val="C8102E"/>
                </a:solidFill>
                <a:latin typeface="Arial" pitchFamily="34" charset="0"/>
                <a:ea typeface="Arial" pitchFamily="34" charset="-122"/>
                <a:cs typeface="Arial" pitchFamily="34" charset="-120"/>
              </a:rPr>
              <a:t>Day ~120 of production — Decision</a:t>
            </a:r>
            <a:endParaRPr lang="en-US" sz="1250" dirty="0"/>
          </a:p>
        </p:txBody>
      </p:sp>
      <p:sp>
        <p:nvSpPr>
          <p:cNvPr id="12" name="Text 10"/>
          <p:cNvSpPr/>
          <p:nvPr/>
        </p:nvSpPr>
        <p:spPr>
          <a:xfrm>
            <a:off x="822960" y="4736592"/>
            <a:ext cx="3657600" cy="530352"/>
          </a:xfrm>
          <a:prstGeom prst="rect">
            <a:avLst/>
          </a:prstGeom>
          <a:noFill/>
          <a:ln/>
        </p:spPr>
        <p:txBody>
          <a:bodyPr wrap="square" lIns="0" tIns="0" rIns="0" bIns="0" rtlCol="0" anchor="ctr"/>
          <a:lstStyle/>
          <a:p>
            <a:pPr indent="0" marL="0">
              <a:buNone/>
            </a:pPr>
            <a:r>
              <a:rPr lang="en-US" sz="1050" dirty="0">
                <a:solidFill>
                  <a:srgbClr val="E0E0E0"/>
                </a:solidFill>
                <a:latin typeface="Arial" pitchFamily="34" charset="0"/>
                <a:ea typeface="Arial" pitchFamily="34" charset="-122"/>
                <a:cs typeface="Arial" pitchFamily="34" charset="-120"/>
              </a:rPr>
              <a:t>Scorecard vs. this table. Beat the half-rate column and it stays; beat par and it scales.</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0" y="1737360"/>
          <a:ext cx="6583680" cy="914400"/>
        </p:xfrm>
        <a:graphic>
          <a:graphicData uri="http://schemas.openxmlformats.org/drawingml/2006/table">
            <a:tbl>
              <a:tblPr/>
              <a:tblGrid>
                <a:gridCol w="2651760"/>
                <a:gridCol w="2011680"/>
                <a:gridCol w="1920240"/>
              </a:tblGrid>
              <a:tr h="45720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First ~5 months</a:t>
                      </a:r>
                      <a:endParaRPr lang="en-US" sz="120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At Company A's rates</a:t>
                      </a:r>
                      <a:endParaRPr lang="en-US" sz="120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At HALF their rates</a:t>
                      </a:r>
                      <a:endParaRPr lang="en-US" sz="120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Homeowners called</a:t>
                      </a:r>
                      <a:endParaRPr lang="en-US" sz="120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250" dirty="0">
                          <a:solidFill>
                            <a:srgbClr val="2A2A2A"/>
                          </a:solidFill>
                          <a:latin typeface="Arial" pitchFamily="34" charset="0"/>
                          <a:ea typeface="Arial" pitchFamily="34" charset="-122"/>
                          <a:cs typeface="Arial" pitchFamily="34" charset="-120"/>
                        </a:rPr>
                        <a:t>~3,200</a:t>
                      </a:r>
                      <a:endParaRPr lang="en-US" sz="125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250" dirty="0">
                          <a:solidFill>
                            <a:srgbClr val="2A2A2A"/>
                          </a:solidFill>
                          <a:latin typeface="Arial" pitchFamily="34" charset="0"/>
                          <a:ea typeface="Arial" pitchFamily="34" charset="-122"/>
                          <a:cs typeface="Arial" pitchFamily="34" charset="-120"/>
                        </a:rPr>
                        <a:t>~3,200</a:t>
                      </a:r>
                      <a:endParaRPr lang="en-US" sz="125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Inspections booked</a:t>
                      </a:r>
                      <a:endParaRPr lang="en-US" sz="120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250" dirty="0">
                          <a:solidFill>
                            <a:srgbClr val="2A2A2A"/>
                          </a:solidFill>
                          <a:latin typeface="Arial" pitchFamily="34" charset="0"/>
                          <a:ea typeface="Arial" pitchFamily="34" charset="-122"/>
                          <a:cs typeface="Arial" pitchFamily="34" charset="-120"/>
                        </a:rPr>
                        <a:t>~105</a:t>
                      </a:r>
                      <a:endParaRPr lang="en-US" sz="125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250" dirty="0">
                          <a:solidFill>
                            <a:srgbClr val="2A2A2A"/>
                          </a:solidFill>
                          <a:latin typeface="Arial" pitchFamily="34" charset="0"/>
                          <a:ea typeface="Arial" pitchFamily="34" charset="-122"/>
                          <a:cs typeface="Arial" pitchFamily="34" charset="-120"/>
                        </a:rPr>
                        <a:t>~53</a:t>
                      </a:r>
                      <a:endParaRPr lang="en-US" sz="125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Roofs signed</a:t>
                      </a:r>
                      <a:endParaRPr lang="en-US" sz="120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250" dirty="0">
                          <a:solidFill>
                            <a:srgbClr val="2A2A2A"/>
                          </a:solidFill>
                          <a:latin typeface="Arial" pitchFamily="34" charset="0"/>
                          <a:ea typeface="Arial" pitchFamily="34" charset="-122"/>
                          <a:cs typeface="Arial" pitchFamily="34" charset="-120"/>
                        </a:rPr>
                        <a:t>~31</a:t>
                      </a:r>
                      <a:endParaRPr lang="en-US" sz="125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250" dirty="0">
                          <a:solidFill>
                            <a:srgbClr val="2A2A2A"/>
                          </a:solidFill>
                          <a:latin typeface="Arial" pitchFamily="34" charset="0"/>
                          <a:ea typeface="Arial" pitchFamily="34" charset="-122"/>
                          <a:cs typeface="Arial" pitchFamily="34" charset="-120"/>
                        </a:rPr>
                        <a:t>~15</a:t>
                      </a:r>
                      <a:endParaRPr lang="en-US" sz="125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Revenue @ $30,000 ticket</a:t>
                      </a:r>
                      <a:endParaRPr lang="en-US" sz="120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250" dirty="0">
                          <a:solidFill>
                            <a:srgbClr val="2A2A2A"/>
                          </a:solidFill>
                          <a:latin typeface="Arial" pitchFamily="34" charset="0"/>
                          <a:ea typeface="Arial" pitchFamily="34" charset="-122"/>
                          <a:cs typeface="Arial" pitchFamily="34" charset="-120"/>
                        </a:rPr>
                        <a:t>~$930,000</a:t>
                      </a:r>
                      <a:endParaRPr lang="en-US" sz="125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250" dirty="0">
                          <a:solidFill>
                            <a:srgbClr val="2A2A2A"/>
                          </a:solidFill>
                          <a:latin typeface="Arial" pitchFamily="34" charset="0"/>
                          <a:ea typeface="Arial" pitchFamily="34" charset="-122"/>
                          <a:cs typeface="Arial" pitchFamily="34" charset="-120"/>
                        </a:rPr>
                        <a:t>~$450,000</a:t>
                      </a:r>
                      <a:endParaRPr lang="en-US" sz="125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02920">
                <a:tc>
                  <a:txBody>
                    <a:bodyPr/>
                    <a:lstStyle/>
                    <a:p>
                      <a:pPr indent="0" marL="0">
                        <a:buNone/>
                      </a:pPr>
                      <a:r>
                        <a:rPr lang="en-US" sz="1200" b="1" dirty="0">
                          <a:solidFill>
                            <a:srgbClr val="111111"/>
                          </a:solidFill>
                          <a:latin typeface="Arial" pitchFamily="34" charset="0"/>
                          <a:ea typeface="Arial" pitchFamily="34" charset="-122"/>
                          <a:cs typeface="Arial" pitchFamily="34" charset="-120"/>
                        </a:rPr>
                        <a:t>T^Rock net (after fee, split &amp; sub)</a:t>
                      </a:r>
                      <a:endParaRPr lang="en-US" sz="120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C8102E"/>
                          </a:solidFill>
                          <a:latin typeface="Arial" pitchFamily="34" charset="0"/>
                          <a:ea typeface="Arial" pitchFamily="34" charset="-122"/>
                          <a:cs typeface="Arial" pitchFamily="34" charset="-120"/>
                        </a:rPr>
                        <a:t>~$149,000</a:t>
                      </a:r>
                      <a:endParaRPr lang="en-US" sz="130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indent="0" marL="0">
                        <a:buNone/>
                      </a:pPr>
                      <a:r>
                        <a:rPr lang="en-US" sz="1300" b="1" dirty="0">
                          <a:solidFill>
                            <a:srgbClr val="C8102E"/>
                          </a:solidFill>
                          <a:latin typeface="Arial" pitchFamily="34" charset="0"/>
                          <a:ea typeface="Arial" pitchFamily="34" charset="-122"/>
                          <a:cs typeface="Arial" pitchFamily="34" charset="-120"/>
                        </a:rPr>
                        <a:t>~$67,000</a:t>
                      </a:r>
                      <a:endParaRPr lang="en-US" sz="1300" dirty="0">
                        <a:latin typeface="Arial" charset="0"/>
                        <a:ea typeface="Arial" charset="0"/>
                        <a:cs typeface="Arial" charset="0"/>
                      </a:endParaRPr>
                    </a:p>
                  </a:txBody>
                  <a:tcPr marL="64008" marR="64008" marT="64008" marB="6400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
        <p:nvSpPr>
          <p:cNvPr id="14" name="Text 11"/>
          <p:cNvSpPr/>
          <p:nvPr/>
        </p:nvSpPr>
        <p:spPr>
          <a:xfrm>
            <a:off x="5029200" y="4434840"/>
            <a:ext cx="6583680" cy="365760"/>
          </a:xfrm>
          <a:prstGeom prst="rect">
            <a:avLst/>
          </a:prstGeom>
          <a:noFill/>
          <a:ln/>
        </p:spPr>
        <p:txBody>
          <a:bodyPr wrap="square" lIns="0" tIns="0" rIns="0" bIns="0" rtlCol="0" anchor="ctr"/>
          <a:lstStyle/>
          <a:p>
            <a:pPr indent="0" marL="0">
              <a:buNone/>
            </a:pPr>
            <a:r>
              <a:rPr lang="en-US" sz="1050" i="1" dirty="0">
                <a:solidFill>
                  <a:srgbClr val="6E6E6E"/>
                </a:solidFill>
                <a:latin typeface="Arial" pitchFamily="34" charset="0"/>
                <a:ea typeface="Arial" pitchFamily="34" charset="-122"/>
                <a:cs typeface="Arial" pitchFamily="34" charset="-120"/>
              </a:rPr>
              <a:t>Funnel applied: 3.3% call → inspection, 29.5% inspection → sign (halved in the right column).</a:t>
            </a:r>
            <a:endParaRPr lang="en-US" sz="1050" dirty="0"/>
          </a:p>
        </p:txBody>
      </p:sp>
      <p:sp>
        <p:nvSpPr>
          <p:cNvPr id="15" name="Shape 12"/>
          <p:cNvSpPr/>
          <p:nvPr/>
        </p:nvSpPr>
        <p:spPr>
          <a:xfrm>
            <a:off x="548640" y="5532120"/>
            <a:ext cx="11064240" cy="731520"/>
          </a:xfrm>
          <a:prstGeom prst="roundRect">
            <a:avLst>
              <a:gd name="adj" fmla="val 7500"/>
            </a:avLst>
          </a:prstGeom>
          <a:solidFill>
            <a:srgbClr val="111111"/>
          </a:solidFill>
          <a:ln/>
        </p:spPr>
      </p:sp>
      <p:sp>
        <p:nvSpPr>
          <p:cNvPr id="16" name="Text 13"/>
          <p:cNvSpPr/>
          <p:nvPr/>
        </p:nvSpPr>
        <p:spPr>
          <a:xfrm>
            <a:off x="868680" y="5623560"/>
            <a:ext cx="10515600" cy="56692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Even at HALF Company A's conversion, the system nets ~$67k in its first five months — 6× the subscription. </a:t>
            </a:r>
            <a:pPr indent="0" marL="0">
              <a:buNone/>
            </a:pPr>
            <a:r>
              <a:rPr lang="en-US" sz="1350" dirty="0">
                <a:solidFill>
                  <a:srgbClr val="E6E6E6"/>
                </a:solidFill>
                <a:latin typeface="Arial" pitchFamily="34" charset="0"/>
                <a:ea typeface="Arial" pitchFamily="34" charset="-122"/>
                <a:cs typeface="Arial" pitchFamily="34" charset="-120"/>
              </a:rPr>
              <a:t>At par, ~$149k.</a:t>
            </a:r>
            <a:endParaRPr lang="en-US" sz="1350" dirty="0"/>
          </a:p>
        </p:txBody>
      </p:sp>
      <p:sp>
        <p:nvSpPr>
          <p:cNvPr id="17" name="Text 14"/>
          <p:cNvSpPr/>
          <p:nvPr/>
        </p:nvSpPr>
        <p:spPr>
          <a:xfrm>
            <a:off x="548640" y="6473952"/>
            <a:ext cx="9601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Net = roofs × $5,145 T^Rock share, less ~$10,400 subscription (5.2 months at $2,000/mo). Projection, not a promise — the scorecard decides.</a:t>
            </a:r>
            <a:endParaRPr lang="en-US" sz="900" dirty="0"/>
          </a:p>
        </p:txBody>
      </p:sp>
      <p:sp>
        <p:nvSpPr>
          <p:cNvPr id="18"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The 90-day proof period: scored, capped, killable</a:t>
            </a:r>
            <a:endParaRPr lang="en-US" sz="3200" dirty="0"/>
          </a:p>
        </p:txBody>
      </p:sp>
      <p:sp>
        <p:nvSpPr>
          <p:cNvPr id="3" name="Text 1"/>
          <p:cNvSpPr/>
          <p:nvPr/>
        </p:nvSpPr>
        <p:spPr>
          <a:xfrm>
            <a:off x="548640" y="1078992"/>
            <a:ext cx="10881360" cy="502920"/>
          </a:xfrm>
          <a:prstGeom prst="rect">
            <a:avLst/>
          </a:prstGeom>
          <a:noFill/>
          <a:ln/>
        </p:spPr>
        <p:txBody>
          <a:bodyPr wrap="square" lIns="0" tIns="0" rIns="0" bIns="0" rtlCol="0" anchor="ctr"/>
          <a:lstStyle/>
          <a:p>
            <a:pPr indent="0" marL="0">
              <a:buNone/>
            </a:pPr>
            <a:r>
              <a:rPr lang="en-US" sz="1500" dirty="0">
                <a:solidFill>
                  <a:srgbClr val="6E6E6E"/>
                </a:solidFill>
                <a:latin typeface="Arial" pitchFamily="34" charset="0"/>
                <a:ea typeface="Arial" pitchFamily="34" charset="-122"/>
                <a:cs typeface="Arial" pitchFamily="34" charset="-120"/>
              </a:rPr>
              <a:t>Full team goes live on Founding day 1 — but 2 reps keep the current playbook as the control, so the comparison stays honest.</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206240"/>
                <a:gridCol w="3657600"/>
                <a:gridCol w="3200400"/>
              </a:tblGrid>
              <a:tr h="548640">
                <a:tc>
                  <a:txBody>
                    <a:bodyPr/>
                    <a:lstStyle/>
                    <a:p>
                      <a:pPr indent="0" marL="0">
                        <a:buNone/>
                      </a:pPr>
                      <a:r>
                        <a:rPr lang="en-US" sz="1400" b="1" dirty="0">
                          <a:solidFill>
                            <a:srgbClr val="FFFFFF"/>
                          </a:solidFill>
                          <a:latin typeface="Arial" pitchFamily="34" charset="0"/>
                          <a:ea typeface="Arial" pitchFamily="34" charset="-122"/>
                          <a:cs typeface="Arial" pitchFamily="34" charset="-120"/>
                        </a:rPr>
                        <a:t>KPI (tracked weekly)</a:t>
                      </a:r>
                      <a:endParaRPr lang="en-US" sz="140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Baseline (current door-knocking)</a:t>
                      </a:r>
                      <a:endParaRPr lang="en-US" sz="140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Pilot must beat baseline by</a:t>
                      </a:r>
                      <a:endParaRPr lang="en-US" sz="140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11111"/>
                    </a:solidFill>
                  </a:tcPr>
                </a:tc>
              </a:tr>
              <a:tr h="548640">
                <a:tc>
                  <a:txBody>
                    <a:bodyPr/>
                    <a:lstStyle/>
                    <a:p>
                      <a:pPr indent="0" marL="0">
                        <a:buNone/>
                      </a:pPr>
                      <a:r>
                        <a:rPr lang="en-US" sz="1250" dirty="0">
                          <a:solidFill>
                            <a:srgbClr val="2A2A2A"/>
                          </a:solidFill>
                          <a:latin typeface="Arial" pitchFamily="34" charset="0"/>
                          <a:ea typeface="Arial" pitchFamily="34" charset="-122"/>
                          <a:cs typeface="Arial" pitchFamily="34" charset="-120"/>
                        </a:rPr>
                        <a:t>Inspections per rep-day</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2A2A2A"/>
                          </a:solidFill>
                          <a:latin typeface="Arial" pitchFamily="34" charset="0"/>
                          <a:ea typeface="Arial" pitchFamily="34" charset="-122"/>
                          <a:cs typeface="Arial" pitchFamily="34" charset="-120"/>
                        </a:rPr>
                        <a:t>Measure in weeks 1–2</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b="1" dirty="0">
                          <a:solidFill>
                            <a:srgbClr val="C8102E"/>
                          </a:solidFill>
                          <a:latin typeface="Arial" pitchFamily="34" charset="0"/>
                          <a:ea typeface="Arial" pitchFamily="34" charset="-122"/>
                          <a:cs typeface="Arial" pitchFamily="34" charset="-120"/>
                        </a:rPr>
                        <a:t>+25%</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48640">
                <a:tc>
                  <a:txBody>
                    <a:bodyPr/>
                    <a:lstStyle/>
                    <a:p>
                      <a:pPr indent="0" marL="0">
                        <a:buNone/>
                      </a:pPr>
                      <a:r>
                        <a:rPr lang="en-US" sz="1250" dirty="0">
                          <a:solidFill>
                            <a:srgbClr val="2A2A2A"/>
                          </a:solidFill>
                          <a:latin typeface="Arial" pitchFamily="34" charset="0"/>
                          <a:ea typeface="Arial" pitchFamily="34" charset="-122"/>
                          <a:cs typeface="Arial" pitchFamily="34" charset="-120"/>
                        </a:rPr>
                        <a:t>Inspection → contingency rate</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2A2A2A"/>
                          </a:solidFill>
                          <a:latin typeface="Arial" pitchFamily="34" charset="0"/>
                          <a:ea typeface="Arial" pitchFamily="34" charset="-122"/>
                          <a:cs typeface="Arial" pitchFamily="34" charset="-120"/>
                        </a:rPr>
                        <a:t>Measure in weeks 1–2</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b="1" dirty="0">
                          <a:solidFill>
                            <a:srgbClr val="C8102E"/>
                          </a:solidFill>
                          <a:latin typeface="Arial" pitchFamily="34" charset="0"/>
                          <a:ea typeface="Arial" pitchFamily="34" charset="-122"/>
                          <a:cs typeface="Arial" pitchFamily="34" charset="-120"/>
                        </a:rPr>
                        <a:t>+15%</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48640">
                <a:tc>
                  <a:txBody>
                    <a:bodyPr/>
                    <a:lstStyle/>
                    <a:p>
                      <a:pPr indent="0" marL="0">
                        <a:buNone/>
                      </a:pPr>
                      <a:r>
                        <a:rPr lang="en-US" sz="1250" dirty="0">
                          <a:solidFill>
                            <a:srgbClr val="2A2A2A"/>
                          </a:solidFill>
                          <a:latin typeface="Arial" pitchFamily="34" charset="0"/>
                          <a:ea typeface="Arial" pitchFamily="34" charset="-122"/>
                          <a:cs typeface="Arial" pitchFamily="34" charset="-120"/>
                        </a:rPr>
                        <a:t>Cost per sold job (all-in, incl. subscription)</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2A2A2A"/>
                          </a:solidFill>
                          <a:latin typeface="Arial" pitchFamily="34" charset="0"/>
                          <a:ea typeface="Arial" pitchFamily="34" charset="-122"/>
                          <a:cs typeface="Arial" pitchFamily="34" charset="-120"/>
                        </a:rPr>
                        <a:t>Measure in weeks 1–2</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b="1" dirty="0">
                          <a:solidFill>
                            <a:srgbClr val="C8102E"/>
                          </a:solidFill>
                          <a:latin typeface="Arial" pitchFamily="34" charset="0"/>
                          <a:ea typeface="Arial" pitchFamily="34" charset="-122"/>
                          <a:cs typeface="Arial" pitchFamily="34" charset="-120"/>
                        </a:rPr>
                        <a:t>Lower, full stop</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48640">
                <a:tc>
                  <a:txBody>
                    <a:bodyPr/>
                    <a:lstStyle/>
                    <a:p>
                      <a:pPr indent="0" marL="0">
                        <a:buNone/>
                      </a:pPr>
                      <a:r>
                        <a:rPr lang="en-US" sz="1250" dirty="0">
                          <a:solidFill>
                            <a:srgbClr val="2A2A2A"/>
                          </a:solidFill>
                          <a:latin typeface="Arial" pitchFamily="34" charset="0"/>
                          <a:ea typeface="Arial" pitchFamily="34" charset="-122"/>
                          <a:cs typeface="Arial" pitchFamily="34" charset="-120"/>
                        </a:rPr>
                        <a:t>Map accuracy (damage confirmed on roof)</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2A2A2A"/>
                          </a:solidFill>
                          <a:latin typeface="Arial" pitchFamily="34" charset="0"/>
                          <a:ea typeface="Arial" pitchFamily="34" charset="-122"/>
                          <a:cs typeface="Arial" pitchFamily="34" charset="-120"/>
                        </a:rPr>
                        <a:t>n/a — new metric</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b="1" dirty="0">
                          <a:solidFill>
                            <a:srgbClr val="C8102E"/>
                          </a:solidFill>
                          <a:latin typeface="Arial" pitchFamily="34" charset="0"/>
                          <a:ea typeface="Arial" pitchFamily="34" charset="-122"/>
                          <a:cs typeface="Arial" pitchFamily="34" charset="-120"/>
                        </a:rPr>
                        <a:t>≥70% of flagged homes</a:t>
                      </a:r>
                      <a:endParaRPr lang="en-US" sz="1250" dirty="0">
                        <a:latin typeface="Arial" charset="0"/>
                        <a:ea typeface="Arial" charset="0"/>
                        <a:cs typeface="Arial" charset="0"/>
                      </a:endParaRPr>
                    </a:p>
                  </a:txBody>
                  <a:tcPr marL="82296" marR="82296" marT="82296" marB="8229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pic>
        <p:nvPicPr>
          <p:cNvPr id="5" name="Image 0" descr="preencoded.png">    </p:cNvPr>
          <p:cNvPicPr>
            <a:picLocks noChangeAspect="1"/>
          </p:cNvPicPr>
          <p:nvPr/>
        </p:nvPicPr>
        <p:blipFill>
          <a:blip r:embed="rId1"/>
          <a:stretch>
            <a:fillRect/>
          </a:stretch>
        </p:blipFill>
        <p:spPr>
          <a:xfrm>
            <a:off x="685800" y="5074920"/>
            <a:ext cx="594360" cy="594360"/>
          </a:xfrm>
          <a:prstGeom prst="rect">
            <a:avLst/>
          </a:prstGeom>
        </p:spPr>
      </p:pic>
      <p:sp>
        <p:nvSpPr>
          <p:cNvPr id="6" name="Text 2"/>
          <p:cNvSpPr/>
          <p:nvPr/>
        </p:nvSpPr>
        <p:spPr>
          <a:xfrm>
            <a:off x="1463040" y="5074920"/>
            <a:ext cx="10058400" cy="777240"/>
          </a:xfrm>
          <a:prstGeom prst="rect">
            <a:avLst/>
          </a:prstGeom>
          <a:noFill/>
          <a:ln/>
        </p:spPr>
        <p:txBody>
          <a:bodyPr wrap="square" lIns="0" tIns="0" rIns="0" bIns="0" rtlCol="0" anchor="ctr"/>
          <a:lstStyle/>
          <a:p>
            <a:pPr indent="0" marL="0">
              <a:buNone/>
            </a:pPr>
            <a:r>
              <a:rPr lang="en-US" sz="1450" b="1" dirty="0">
                <a:solidFill>
                  <a:srgbClr val="111111"/>
                </a:solidFill>
                <a:latin typeface="Arial" pitchFamily="34" charset="0"/>
                <a:ea typeface="Arial" pitchFamily="34" charset="-122"/>
                <a:cs typeface="Arial" pitchFamily="34" charset="-120"/>
              </a:rPr>
              <a:t>Kill criteria, agreed up front: </a:t>
            </a:r>
            <a:pPr indent="0" marL="0">
              <a:buNone/>
            </a:pPr>
            <a:r>
              <a:rPr lang="en-US" sz="1450" dirty="0">
                <a:solidFill>
                  <a:srgbClr val="2A2A2A"/>
                </a:solidFill>
                <a:latin typeface="Arial" pitchFamily="34" charset="0"/>
                <a:ea typeface="Arial" pitchFamily="34" charset="-122"/>
                <a:cs typeface="Arial" pitchFamily="34" charset="-120"/>
              </a:rPr>
              <a:t>if all-in cost per sold job isn't beating our current baseline at day 90, we cancel. Spend at risk: $6,000 — T^Rock's net on about 1.2 jobs. Founding bills $2,000 monthly; we get clean cancellation terms in writing before signing.</a:t>
            </a:r>
            <a:endParaRPr lang="en-US" sz="1450" dirty="0"/>
          </a:p>
        </p:txBody>
      </p:sp>
      <p:sp>
        <p:nvSpPr>
          <p:cNvPr id="7" name="Text 3"/>
          <p:cNvSpPr/>
          <p:nvPr/>
        </p:nvSpPr>
        <p:spPr>
          <a:xfrm>
            <a:off x="548640" y="6473952"/>
            <a:ext cx="9601200" cy="274320"/>
          </a:xfrm>
          <a:prstGeom prst="rect">
            <a:avLst/>
          </a:prstGeom>
          <a:noFill/>
          <a:ln/>
        </p:spPr>
        <p:txBody>
          <a:bodyPr wrap="square" lIns="0" tIns="0" rIns="0" bIns="0" rtlCol="0" anchor="ctr"/>
          <a:lstStyle/>
          <a:p>
            <a:pPr indent="0" marL="0">
              <a:buNone/>
            </a:pPr>
            <a:r>
              <a:rPr lang="en-US" sz="900" dirty="0">
                <a:solidFill>
                  <a:srgbClr val="6E6E6E"/>
                </a:solidFill>
                <a:latin typeface="Arial" pitchFamily="34" charset="0"/>
                <a:ea typeface="Arial" pitchFamily="34" charset="-122"/>
                <a:cs typeface="Arial" pitchFamily="34" charset="-120"/>
              </a:rPr>
              <a:t>Start the 90-day clock on the first mapped storm, not a calendar date. Leadership sets final thresholds up front.</a:t>
            </a:r>
            <a:endParaRPr lang="en-US" sz="900" dirty="0"/>
          </a:p>
        </p:txBody>
      </p:sp>
      <p:sp>
        <p:nvSpPr>
          <p:cNvPr id="8" name="Text 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Straight answers before you ask</a:t>
            </a:r>
            <a:endParaRPr lang="en-US" sz="3200" dirty="0"/>
          </a:p>
        </p:txBody>
      </p:sp>
      <p:sp>
        <p:nvSpPr>
          <p:cNvPr id="3" name="Shape 1"/>
          <p:cNvSpPr/>
          <p:nvPr/>
        </p:nvSpPr>
        <p:spPr>
          <a:xfrm>
            <a:off x="548640" y="1371600"/>
            <a:ext cx="5394960" cy="2194560"/>
          </a:xfrm>
          <a:prstGeom prst="roundRect">
            <a:avLst>
              <a:gd name="adj" fmla="val 3333"/>
            </a:avLst>
          </a:prstGeom>
          <a:solidFill>
            <a:srgbClr val="F5F5F5"/>
          </a:solidFill>
          <a:ln/>
        </p:spPr>
      </p:sp>
      <p:pic>
        <p:nvPicPr>
          <p:cNvPr id="4" name="Image 0" descr="preencoded.png">    </p:cNvPr>
          <p:cNvPicPr>
            <a:picLocks noChangeAspect="1"/>
          </p:cNvPicPr>
          <p:nvPr/>
        </p:nvPicPr>
        <p:blipFill>
          <a:blip r:embed="rId1"/>
          <a:stretch>
            <a:fillRect/>
          </a:stretch>
        </p:blipFill>
        <p:spPr>
          <a:xfrm>
            <a:off x="822960" y="1645920"/>
            <a:ext cx="594360" cy="594360"/>
          </a:xfrm>
          <a:prstGeom prst="rect">
            <a:avLst/>
          </a:prstGeom>
        </p:spPr>
      </p:pic>
      <p:sp>
        <p:nvSpPr>
          <p:cNvPr id="5" name="Text 2"/>
          <p:cNvSpPr/>
          <p:nvPr/>
        </p:nvSpPr>
        <p:spPr>
          <a:xfrm>
            <a:off x="1600200" y="1591056"/>
            <a:ext cx="4160520" cy="530352"/>
          </a:xfrm>
          <a:prstGeom prst="rect">
            <a:avLst/>
          </a:prstGeom>
          <a:noFill/>
          <a:ln/>
        </p:spPr>
        <p:txBody>
          <a:bodyPr wrap="square" lIns="0" tIns="0" rIns="0" bIns="0" rtlCol="0" anchor="ctr"/>
          <a:lstStyle/>
          <a:p>
            <a:pPr indent="0" marL="0">
              <a:buNone/>
            </a:pPr>
            <a:r>
              <a:rPr lang="en-US" sz="1500" b="1" dirty="0">
                <a:solidFill>
                  <a:srgbClr val="C8102E"/>
                </a:solidFill>
                <a:latin typeface="Arial" pitchFamily="34" charset="0"/>
                <a:ea typeface="Arial" pitchFamily="34" charset="-122"/>
                <a:cs typeface="Arial" pitchFamily="34" charset="-120"/>
              </a:rPr>
              <a:t>“Isn't the ‘limited offer’ a sales tactic?”</a:t>
            </a:r>
            <a:endParaRPr lang="en-US" sz="1500" dirty="0"/>
          </a:p>
        </p:txBody>
      </p:sp>
      <p:sp>
        <p:nvSpPr>
          <p:cNvPr id="6" name="Text 3"/>
          <p:cNvSpPr/>
          <p:nvPr/>
        </p:nvSpPr>
        <p:spPr>
          <a:xfrm>
            <a:off x="1600200" y="2176272"/>
            <a:ext cx="4160520" cy="132588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Probably — and it doesn't matter. Billing is $2,000 monthly, locked forever: keep it and we pay $500/mo under sticker for life; cancel at day 90 and we're out $6,000 — T^Rock's net on about one job. Only dealbreaker: cancellation terms that aren't clean.</a:t>
            </a:r>
            <a:endParaRPr lang="en-US" sz="1200" dirty="0"/>
          </a:p>
        </p:txBody>
      </p:sp>
      <p:sp>
        <p:nvSpPr>
          <p:cNvPr id="7" name="Shape 4"/>
          <p:cNvSpPr/>
          <p:nvPr/>
        </p:nvSpPr>
        <p:spPr>
          <a:xfrm>
            <a:off x="6217920" y="1371600"/>
            <a:ext cx="5394960" cy="2194560"/>
          </a:xfrm>
          <a:prstGeom prst="roundRect">
            <a:avLst>
              <a:gd name="adj" fmla="val 3333"/>
            </a:avLst>
          </a:prstGeom>
          <a:solidFill>
            <a:srgbClr val="F5F5F5"/>
          </a:solidFill>
          <a:ln/>
        </p:spPr>
      </p:sp>
      <p:pic>
        <p:nvPicPr>
          <p:cNvPr id="8" name="Image 1" descr="preencoded.png">    </p:cNvPr>
          <p:cNvPicPr>
            <a:picLocks noChangeAspect="1"/>
          </p:cNvPicPr>
          <p:nvPr/>
        </p:nvPicPr>
        <p:blipFill>
          <a:blip r:embed="rId2"/>
          <a:stretch>
            <a:fillRect/>
          </a:stretch>
        </p:blipFill>
        <p:spPr>
          <a:xfrm>
            <a:off x="6492240" y="1645920"/>
            <a:ext cx="594360" cy="594360"/>
          </a:xfrm>
          <a:prstGeom prst="rect">
            <a:avLst/>
          </a:prstGeom>
        </p:spPr>
      </p:pic>
      <p:sp>
        <p:nvSpPr>
          <p:cNvPr id="9" name="Text 5"/>
          <p:cNvSpPr/>
          <p:nvPr/>
        </p:nvSpPr>
        <p:spPr>
          <a:xfrm>
            <a:off x="7269480" y="1591056"/>
            <a:ext cx="4160520" cy="530352"/>
          </a:xfrm>
          <a:prstGeom prst="rect">
            <a:avLst/>
          </a:prstGeom>
          <a:noFill/>
          <a:ln/>
        </p:spPr>
        <p:txBody>
          <a:bodyPr wrap="square" lIns="0" tIns="0" rIns="0" bIns="0" rtlCol="0" anchor="ctr"/>
          <a:lstStyle/>
          <a:p>
            <a:pPr indent="0" marL="0">
              <a:buNone/>
            </a:pPr>
            <a:r>
              <a:rPr lang="en-US" sz="1500" b="1" dirty="0">
                <a:solidFill>
                  <a:srgbClr val="C8102E"/>
                </a:solidFill>
                <a:latin typeface="Arial" pitchFamily="34" charset="0"/>
                <a:ea typeface="Arial" pitchFamily="34" charset="-122"/>
                <a:cs typeface="Arial" pitchFamily="34" charset="-120"/>
              </a:rPr>
              <a:t>“Their case studies are marketing.”</a:t>
            </a:r>
            <a:endParaRPr lang="en-US" sz="1500" dirty="0"/>
          </a:p>
        </p:txBody>
      </p:sp>
      <p:sp>
        <p:nvSpPr>
          <p:cNvPr id="10" name="Text 6"/>
          <p:cNvSpPr/>
          <p:nvPr/>
        </p:nvSpPr>
        <p:spPr>
          <a:xfrm>
            <a:off x="7269480" y="2176272"/>
            <a:ext cx="4160520" cy="132588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The ones on their website, yes — vendor-published, no audits. Company A is different: an operator's own numbers shared with us directly. Still unaudited, which is why the proof period keeps our own scorecard.</a:t>
            </a:r>
            <a:endParaRPr lang="en-US" sz="1200" dirty="0"/>
          </a:p>
        </p:txBody>
      </p:sp>
      <p:sp>
        <p:nvSpPr>
          <p:cNvPr id="11" name="Shape 7"/>
          <p:cNvSpPr/>
          <p:nvPr/>
        </p:nvSpPr>
        <p:spPr>
          <a:xfrm>
            <a:off x="548640" y="3794760"/>
            <a:ext cx="5394960" cy="2194560"/>
          </a:xfrm>
          <a:prstGeom prst="roundRect">
            <a:avLst>
              <a:gd name="adj" fmla="val 3333"/>
            </a:avLst>
          </a:prstGeom>
          <a:solidFill>
            <a:srgbClr val="F5F5F5"/>
          </a:solidFill>
          <a:ln/>
        </p:spPr>
      </p:sp>
      <p:pic>
        <p:nvPicPr>
          <p:cNvPr id="12" name="Image 2" descr="preencoded.png">    </p:cNvPr>
          <p:cNvPicPr>
            <a:picLocks noChangeAspect="1"/>
          </p:cNvPicPr>
          <p:nvPr/>
        </p:nvPicPr>
        <p:blipFill>
          <a:blip r:embed="rId3"/>
          <a:stretch>
            <a:fillRect/>
          </a:stretch>
        </p:blipFill>
        <p:spPr>
          <a:xfrm>
            <a:off x="822960" y="4069080"/>
            <a:ext cx="594360" cy="594360"/>
          </a:xfrm>
          <a:prstGeom prst="rect">
            <a:avLst/>
          </a:prstGeom>
        </p:spPr>
      </p:pic>
      <p:sp>
        <p:nvSpPr>
          <p:cNvPr id="13" name="Text 8"/>
          <p:cNvSpPr/>
          <p:nvPr/>
        </p:nvSpPr>
        <p:spPr>
          <a:xfrm>
            <a:off x="1600200" y="4014216"/>
            <a:ext cx="4160520" cy="530352"/>
          </a:xfrm>
          <a:prstGeom prst="rect">
            <a:avLst/>
          </a:prstGeom>
          <a:noFill/>
          <a:ln/>
        </p:spPr>
        <p:txBody>
          <a:bodyPr wrap="square" lIns="0" tIns="0" rIns="0" bIns="0" rtlCol="0" anchor="ctr"/>
          <a:lstStyle/>
          <a:p>
            <a:pPr indent="0" marL="0">
              <a:buNone/>
            </a:pPr>
            <a:r>
              <a:rPr lang="en-US" sz="1500" b="1" dirty="0">
                <a:solidFill>
                  <a:srgbClr val="C8102E"/>
                </a:solidFill>
                <a:latin typeface="Arial" pitchFamily="34" charset="0"/>
                <a:ea typeface="Arial" pitchFamily="34" charset="-122"/>
                <a:cs typeface="Arial" pitchFamily="34" charset="-120"/>
              </a:rPr>
              <a:t>“Is the damage data real?”</a:t>
            </a:r>
            <a:endParaRPr lang="en-US" sz="1500" dirty="0"/>
          </a:p>
        </p:txBody>
      </p:sp>
      <p:sp>
        <p:nvSpPr>
          <p:cNvPr id="14" name="Text 9"/>
          <p:cNvSpPr/>
          <p:nvPr/>
        </p:nvSpPr>
        <p:spPr>
          <a:xfrm>
            <a:off x="1600200" y="4599432"/>
            <a:ext cx="4160520" cy="132588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We verify it ourselves: weeks 1–2, every map-flagged roof a rep inspects gets logged confirmed/not confirmed. Below 70% accuracy, the tool dies on that metric alone.</a:t>
            </a:r>
            <a:endParaRPr lang="en-US" sz="1200" dirty="0"/>
          </a:p>
        </p:txBody>
      </p:sp>
      <p:sp>
        <p:nvSpPr>
          <p:cNvPr id="15" name="Shape 10"/>
          <p:cNvSpPr/>
          <p:nvPr/>
        </p:nvSpPr>
        <p:spPr>
          <a:xfrm>
            <a:off x="6217920" y="3794760"/>
            <a:ext cx="5394960" cy="2194560"/>
          </a:xfrm>
          <a:prstGeom prst="roundRect">
            <a:avLst>
              <a:gd name="adj" fmla="val 3333"/>
            </a:avLst>
          </a:prstGeom>
          <a:solidFill>
            <a:srgbClr val="F5F5F5"/>
          </a:solidFill>
          <a:ln/>
        </p:spPr>
      </p:sp>
      <p:pic>
        <p:nvPicPr>
          <p:cNvPr id="16" name="Image 3" descr="preencoded.png">    </p:cNvPr>
          <p:cNvPicPr>
            <a:picLocks noChangeAspect="1"/>
          </p:cNvPicPr>
          <p:nvPr/>
        </p:nvPicPr>
        <p:blipFill>
          <a:blip r:embed="rId4"/>
          <a:stretch>
            <a:fillRect/>
          </a:stretch>
        </p:blipFill>
        <p:spPr>
          <a:xfrm>
            <a:off x="6492240" y="4069080"/>
            <a:ext cx="594360" cy="594360"/>
          </a:xfrm>
          <a:prstGeom prst="rect">
            <a:avLst/>
          </a:prstGeom>
        </p:spPr>
      </p:pic>
      <p:sp>
        <p:nvSpPr>
          <p:cNvPr id="17" name="Text 11"/>
          <p:cNvSpPr/>
          <p:nvPr/>
        </p:nvSpPr>
        <p:spPr>
          <a:xfrm>
            <a:off x="7269480" y="4014216"/>
            <a:ext cx="4160520" cy="530352"/>
          </a:xfrm>
          <a:prstGeom prst="rect">
            <a:avLst/>
          </a:prstGeom>
          <a:noFill/>
          <a:ln/>
        </p:spPr>
        <p:txBody>
          <a:bodyPr wrap="square" lIns="0" tIns="0" rIns="0" bIns="0" rtlCol="0" anchor="ctr"/>
          <a:lstStyle/>
          <a:p>
            <a:pPr indent="0" marL="0">
              <a:buNone/>
            </a:pPr>
            <a:r>
              <a:rPr lang="en-US" sz="1500" b="1" dirty="0">
                <a:solidFill>
                  <a:srgbClr val="C8102E"/>
                </a:solidFill>
                <a:latin typeface="Arial" pitchFamily="34" charset="0"/>
                <a:ea typeface="Arial" pitchFamily="34" charset="-122"/>
                <a:cs typeface="Arial" pitchFamily="34" charset="-120"/>
              </a:rPr>
              <a:t>“Will the reps actually use it?”</a:t>
            </a:r>
            <a:endParaRPr lang="en-US" sz="1500" dirty="0"/>
          </a:p>
        </p:txBody>
      </p:sp>
      <p:sp>
        <p:nvSpPr>
          <p:cNvPr id="18" name="Text 12"/>
          <p:cNvSpPr/>
          <p:nvPr/>
        </p:nvSpPr>
        <p:spPr>
          <a:xfrm>
            <a:off x="7269480" y="4599432"/>
            <a:ext cx="4160520" cy="1325880"/>
          </a:xfrm>
          <a:prstGeom prst="rect">
            <a:avLst/>
          </a:prstGeom>
          <a:noFill/>
          <a:ln/>
        </p:spPr>
        <p:txBody>
          <a:bodyPr wrap="square" lIns="0" tIns="0" rIns="0" bIns="0" rtlCol="0" anchor="ctr"/>
          <a:lstStyle/>
          <a:p>
            <a:pPr indent="0" marL="0">
              <a:buNone/>
            </a:pPr>
            <a:r>
              <a:rPr lang="en-US" sz="1200" dirty="0">
                <a:solidFill>
                  <a:srgbClr val="2A2A2A"/>
                </a:solidFill>
                <a:latin typeface="Arial" pitchFamily="34" charset="0"/>
                <a:ea typeface="Arial" pitchFamily="34" charset="-122"/>
                <a:cs typeface="Arial" pitchFamily="34" charset="-120"/>
              </a:rPr>
              <a:t>Adoption is the real risk with any tool. So it gets a named owner (Dom), the whole team trains on it day 1, and usage shows up in the weekly scorecard. Reps not working the lists is visible in the numbers within two weeks.</a:t>
            </a:r>
            <a:endParaRPr lang="en-US" sz="1200" dirty="0"/>
          </a:p>
        </p:txBody>
      </p:sp>
      <p:sp>
        <p:nvSpPr>
          <p:cNvPr id="19" name="Text 13"/>
          <p:cNvSpPr/>
          <p:nvPr/>
        </p:nvSpPr>
        <p:spPr>
          <a:xfrm>
            <a:off x="548640" y="6473952"/>
            <a:ext cx="9601200" cy="274320"/>
          </a:xfrm>
          <a:prstGeom prst="rect">
            <a:avLst/>
          </a:prstGeom>
          <a:noFill/>
          <a:ln/>
        </p:spPr>
        <p:txBody>
          <a:bodyPr wrap="square" lIns="0" tIns="0" rIns="0" bIns="0" rtlCol="0" anchor="ctr"/>
          <a:lstStyle/>
          <a:p>
            <a:pPr indent="0" marL="0">
              <a:buNone/>
            </a:pPr>
            <a:endParaRPr lang="en-US" sz="900" dirty="0"/>
          </a:p>
        </p:txBody>
      </p:sp>
      <p:sp>
        <p:nvSpPr>
          <p:cNvPr id="20" name="Text 1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1000" dirty="0">
                <a:solidFill>
                  <a:srgbClr val="6E6E6E"/>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85800" y="548640"/>
            <a:ext cx="1078992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The ask</a:t>
            </a:r>
            <a:endParaRPr lang="en-US" sz="4000" dirty="0"/>
          </a:p>
        </p:txBody>
      </p:sp>
      <p:sp>
        <p:nvSpPr>
          <p:cNvPr id="3" name="Shape 1"/>
          <p:cNvSpPr/>
          <p:nvPr/>
        </p:nvSpPr>
        <p:spPr>
          <a:xfrm>
            <a:off x="685800" y="1600200"/>
            <a:ext cx="3474720" cy="3108960"/>
          </a:xfrm>
          <a:prstGeom prst="roundRect">
            <a:avLst>
              <a:gd name="adj" fmla="val 2353"/>
            </a:avLst>
          </a:prstGeom>
          <a:solidFill>
            <a:srgbClr val="1E1E1E"/>
          </a:solidFill>
          <a:ln/>
        </p:spPr>
      </p:sp>
      <p:pic>
        <p:nvPicPr>
          <p:cNvPr id="4" name="Image 0" descr="preencoded.png">    </p:cNvPr>
          <p:cNvPicPr>
            <a:picLocks noChangeAspect="1"/>
          </p:cNvPicPr>
          <p:nvPr/>
        </p:nvPicPr>
        <p:blipFill>
          <a:blip r:embed="rId1"/>
          <a:stretch>
            <a:fillRect/>
          </a:stretch>
        </p:blipFill>
        <p:spPr>
          <a:xfrm>
            <a:off x="978408" y="1874520"/>
            <a:ext cx="640080" cy="640080"/>
          </a:xfrm>
          <a:prstGeom prst="rect">
            <a:avLst/>
          </a:prstGeom>
        </p:spPr>
      </p:pic>
      <p:sp>
        <p:nvSpPr>
          <p:cNvPr id="5" name="Text 2"/>
          <p:cNvSpPr/>
          <p:nvPr/>
        </p:nvSpPr>
        <p:spPr>
          <a:xfrm>
            <a:off x="3154680" y="1783080"/>
            <a:ext cx="777240" cy="777240"/>
          </a:xfrm>
          <a:prstGeom prst="rect">
            <a:avLst/>
          </a:prstGeom>
          <a:noFill/>
          <a:ln/>
        </p:spPr>
        <p:txBody>
          <a:bodyPr wrap="square" lIns="0" tIns="0" rIns="0" bIns="0" rtlCol="0" anchor="ctr"/>
          <a:lstStyle/>
          <a:p>
            <a:pPr algn="r" indent="0" marL="0">
              <a:buNone/>
            </a:pPr>
            <a:r>
              <a:rPr lang="en-US" sz="4400" b="1" dirty="0">
                <a:solidFill>
                  <a:srgbClr val="C8102E"/>
                </a:solidFill>
                <a:latin typeface="Arial" pitchFamily="34" charset="0"/>
                <a:ea typeface="Arial" pitchFamily="34" charset="-122"/>
                <a:cs typeface="Arial" pitchFamily="34" charset="-120"/>
              </a:rPr>
              <a:t>1</a:t>
            </a:r>
            <a:endParaRPr lang="en-US" sz="4400" dirty="0"/>
          </a:p>
        </p:txBody>
      </p:sp>
      <p:sp>
        <p:nvSpPr>
          <p:cNvPr id="6" name="Text 3"/>
          <p:cNvSpPr/>
          <p:nvPr/>
        </p:nvSpPr>
        <p:spPr>
          <a:xfrm>
            <a:off x="978408" y="2743200"/>
            <a:ext cx="2926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Book the demo — this week</a:t>
            </a:r>
            <a:endParaRPr lang="en-US" sz="1700" dirty="0"/>
          </a:p>
        </p:txBody>
      </p:sp>
      <p:sp>
        <p:nvSpPr>
          <p:cNvPr id="7" name="Text 4"/>
          <p:cNvSpPr/>
          <p:nvPr/>
        </p:nvSpPr>
        <p:spPr>
          <a:xfrm>
            <a:off x="978408" y="3383280"/>
            <a:ext cx="2926080" cy="1234440"/>
          </a:xfrm>
          <a:prstGeom prst="rect">
            <a:avLst/>
          </a:prstGeom>
          <a:noFill/>
          <a:ln/>
        </p:spPr>
        <p:txBody>
          <a:bodyPr wrap="square" lIns="0" tIns="0" rIns="0" bIns="0" rtlCol="0" anchor="ctr"/>
          <a:lstStyle/>
          <a:p>
            <a:pPr indent="0" marL="0">
              <a:buNone/>
            </a:pPr>
            <a:r>
              <a:rPr lang="en-US" sz="1200" dirty="0">
                <a:solidFill>
                  <a:srgbClr val="CFCFCF"/>
                </a:solidFill>
                <a:latin typeface="Arial" pitchFamily="34" charset="0"/>
                <a:ea typeface="Arial" pitchFamily="34" charset="-122"/>
                <a:cs typeface="Arial" pitchFamily="34" charset="-120"/>
              </a:rPr>
              <a:t>30 min. Confirm the Founding offer is still open; get cancellation and lead-data-export terms in writing; ask how automated calls/texts handle DNC &amp; TCPA.</a:t>
            </a:r>
            <a:endParaRPr lang="en-US" sz="1200" dirty="0"/>
          </a:p>
        </p:txBody>
      </p:sp>
      <p:sp>
        <p:nvSpPr>
          <p:cNvPr id="8" name="Shape 5"/>
          <p:cNvSpPr/>
          <p:nvPr/>
        </p:nvSpPr>
        <p:spPr>
          <a:xfrm>
            <a:off x="4434840" y="1600200"/>
            <a:ext cx="3474720" cy="3108960"/>
          </a:xfrm>
          <a:prstGeom prst="roundRect">
            <a:avLst>
              <a:gd name="adj" fmla="val 2353"/>
            </a:avLst>
          </a:prstGeom>
          <a:solidFill>
            <a:srgbClr val="1E1E1E"/>
          </a:solidFill>
          <a:ln/>
        </p:spPr>
      </p:sp>
      <p:pic>
        <p:nvPicPr>
          <p:cNvPr id="9" name="Image 1" descr="preencoded.png">    </p:cNvPr>
          <p:cNvPicPr>
            <a:picLocks noChangeAspect="1"/>
          </p:cNvPicPr>
          <p:nvPr/>
        </p:nvPicPr>
        <p:blipFill>
          <a:blip r:embed="rId2"/>
          <a:stretch>
            <a:fillRect/>
          </a:stretch>
        </p:blipFill>
        <p:spPr>
          <a:xfrm>
            <a:off x="4727448" y="1874520"/>
            <a:ext cx="640080" cy="640080"/>
          </a:xfrm>
          <a:prstGeom prst="rect">
            <a:avLst/>
          </a:prstGeom>
        </p:spPr>
      </p:pic>
      <p:sp>
        <p:nvSpPr>
          <p:cNvPr id="10" name="Text 6"/>
          <p:cNvSpPr/>
          <p:nvPr/>
        </p:nvSpPr>
        <p:spPr>
          <a:xfrm>
            <a:off x="6903720" y="1783080"/>
            <a:ext cx="777240" cy="777240"/>
          </a:xfrm>
          <a:prstGeom prst="rect">
            <a:avLst/>
          </a:prstGeom>
          <a:noFill/>
          <a:ln/>
        </p:spPr>
        <p:txBody>
          <a:bodyPr wrap="square" lIns="0" tIns="0" rIns="0" bIns="0" rtlCol="0" anchor="ctr"/>
          <a:lstStyle/>
          <a:p>
            <a:pPr algn="r" indent="0" marL="0">
              <a:buNone/>
            </a:pPr>
            <a:r>
              <a:rPr lang="en-US" sz="4400" b="1" dirty="0">
                <a:solidFill>
                  <a:srgbClr val="C8102E"/>
                </a:solidFill>
                <a:latin typeface="Arial" pitchFamily="34" charset="0"/>
                <a:ea typeface="Arial" pitchFamily="34" charset="-122"/>
                <a:cs typeface="Arial" pitchFamily="34" charset="-120"/>
              </a:rPr>
              <a:t>2</a:t>
            </a:r>
            <a:endParaRPr lang="en-US" sz="4400" dirty="0"/>
          </a:p>
        </p:txBody>
      </p:sp>
      <p:sp>
        <p:nvSpPr>
          <p:cNvPr id="11" name="Text 7"/>
          <p:cNvSpPr/>
          <p:nvPr/>
        </p:nvSpPr>
        <p:spPr>
          <a:xfrm>
            <a:off x="4727448" y="2743200"/>
            <a:ext cx="2926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Buy Founding Member</a:t>
            </a:r>
            <a:endParaRPr lang="en-US" sz="1700" dirty="0"/>
          </a:p>
        </p:txBody>
      </p:sp>
      <p:sp>
        <p:nvSpPr>
          <p:cNvPr id="12" name="Text 8"/>
          <p:cNvSpPr/>
          <p:nvPr/>
        </p:nvSpPr>
        <p:spPr>
          <a:xfrm>
            <a:off x="4727448" y="3383280"/>
            <a:ext cx="2926080" cy="1234440"/>
          </a:xfrm>
          <a:prstGeom prst="rect">
            <a:avLst/>
          </a:prstGeom>
          <a:noFill/>
          <a:ln/>
        </p:spPr>
        <p:txBody>
          <a:bodyPr wrap="square" lIns="0" tIns="0" rIns="0" bIns="0" rtlCol="0" anchor="ctr"/>
          <a:lstStyle/>
          <a:p>
            <a:pPr indent="0" marL="0">
              <a:buNone/>
            </a:pPr>
            <a:r>
              <a:rPr lang="en-US" sz="1200" dirty="0">
                <a:solidFill>
                  <a:srgbClr val="CFCFCF"/>
                </a:solidFill>
                <a:latin typeface="Arial" pitchFamily="34" charset="0"/>
                <a:ea typeface="Arial" pitchFamily="34" charset="-122"/>
                <a:cs typeface="Arial" pitchFamily="34" charset="-120"/>
              </a:rPr>
              <a:t>$2,000/mo, every Platinum feature, price locked for life. Full team live day 1; 2 control reps keep the old playbook. Weekly scorecard to leadership.</a:t>
            </a:r>
            <a:endParaRPr lang="en-US" sz="1200" dirty="0"/>
          </a:p>
        </p:txBody>
      </p:sp>
      <p:sp>
        <p:nvSpPr>
          <p:cNvPr id="13" name="Shape 9"/>
          <p:cNvSpPr/>
          <p:nvPr/>
        </p:nvSpPr>
        <p:spPr>
          <a:xfrm>
            <a:off x="8183880" y="1600200"/>
            <a:ext cx="3474720" cy="3108960"/>
          </a:xfrm>
          <a:prstGeom prst="roundRect">
            <a:avLst>
              <a:gd name="adj" fmla="val 2353"/>
            </a:avLst>
          </a:prstGeom>
          <a:solidFill>
            <a:srgbClr val="1E1E1E"/>
          </a:solidFill>
          <a:ln/>
        </p:spPr>
      </p:sp>
      <p:pic>
        <p:nvPicPr>
          <p:cNvPr id="14" name="Image 2" descr="preencoded.png">    </p:cNvPr>
          <p:cNvPicPr>
            <a:picLocks noChangeAspect="1"/>
          </p:cNvPicPr>
          <p:nvPr/>
        </p:nvPicPr>
        <p:blipFill>
          <a:blip r:embed="rId3"/>
          <a:stretch>
            <a:fillRect/>
          </a:stretch>
        </p:blipFill>
        <p:spPr>
          <a:xfrm>
            <a:off x="8476488" y="1874520"/>
            <a:ext cx="640080" cy="640080"/>
          </a:xfrm>
          <a:prstGeom prst="rect">
            <a:avLst/>
          </a:prstGeom>
        </p:spPr>
      </p:pic>
      <p:sp>
        <p:nvSpPr>
          <p:cNvPr id="15" name="Text 10"/>
          <p:cNvSpPr/>
          <p:nvPr/>
        </p:nvSpPr>
        <p:spPr>
          <a:xfrm>
            <a:off x="10652760" y="1783080"/>
            <a:ext cx="777240" cy="777240"/>
          </a:xfrm>
          <a:prstGeom prst="rect">
            <a:avLst/>
          </a:prstGeom>
          <a:noFill/>
          <a:ln/>
        </p:spPr>
        <p:txBody>
          <a:bodyPr wrap="square" lIns="0" tIns="0" rIns="0" bIns="0" rtlCol="0" anchor="ctr"/>
          <a:lstStyle/>
          <a:p>
            <a:pPr algn="r" indent="0" marL="0">
              <a:buNone/>
            </a:pPr>
            <a:r>
              <a:rPr lang="en-US" sz="4400" b="1" dirty="0">
                <a:solidFill>
                  <a:srgbClr val="C8102E"/>
                </a:solidFill>
                <a:latin typeface="Arial" pitchFamily="34" charset="0"/>
                <a:ea typeface="Arial" pitchFamily="34" charset="-122"/>
                <a:cs typeface="Arial" pitchFamily="34" charset="-120"/>
              </a:rPr>
              <a:t>3</a:t>
            </a:r>
            <a:endParaRPr lang="en-US" sz="4400" dirty="0"/>
          </a:p>
        </p:txBody>
      </p:sp>
      <p:sp>
        <p:nvSpPr>
          <p:cNvPr id="16" name="Text 11"/>
          <p:cNvSpPr/>
          <p:nvPr/>
        </p:nvSpPr>
        <p:spPr>
          <a:xfrm>
            <a:off x="8476488" y="2743200"/>
            <a:ext cx="2926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Day-90 scorecard: keep or kill</a:t>
            </a:r>
            <a:endParaRPr lang="en-US" sz="1700" dirty="0"/>
          </a:p>
        </p:txBody>
      </p:sp>
      <p:sp>
        <p:nvSpPr>
          <p:cNvPr id="17" name="Text 12"/>
          <p:cNvSpPr/>
          <p:nvPr/>
        </p:nvSpPr>
        <p:spPr>
          <a:xfrm>
            <a:off x="8476488" y="3383280"/>
            <a:ext cx="2926080" cy="1234440"/>
          </a:xfrm>
          <a:prstGeom prst="rect">
            <a:avLst/>
          </a:prstGeom>
          <a:noFill/>
          <a:ln/>
        </p:spPr>
        <p:txBody>
          <a:bodyPr wrap="square" lIns="0" tIns="0" rIns="0" bIns="0" rtlCol="0" anchor="ctr"/>
          <a:lstStyle/>
          <a:p>
            <a:pPr indent="0" marL="0">
              <a:buNone/>
            </a:pPr>
            <a:r>
              <a:rPr lang="en-US" sz="1200" dirty="0">
                <a:solidFill>
                  <a:srgbClr val="CFCFCF"/>
                </a:solidFill>
                <a:latin typeface="Arial" pitchFamily="34" charset="0"/>
                <a:ea typeface="Arial" pitchFamily="34" charset="-122"/>
                <a:cs typeface="Arial" pitchFamily="34" charset="-120"/>
              </a:rPr>
              <a:t>Beats baseline → we own Platinum features at $500/mo under sticker, forever. Misses → cancel; at risk was $6,000.</a:t>
            </a:r>
            <a:endParaRPr lang="en-US" sz="1200" dirty="0"/>
          </a:p>
        </p:txBody>
      </p:sp>
      <p:sp>
        <p:nvSpPr>
          <p:cNvPr id="18" name="Text 13"/>
          <p:cNvSpPr/>
          <p:nvPr/>
        </p:nvSpPr>
        <p:spPr>
          <a:xfrm>
            <a:off x="685800" y="5120640"/>
            <a:ext cx="10789920" cy="548640"/>
          </a:xfrm>
          <a:prstGeom prst="rect">
            <a:avLst/>
          </a:prstGeom>
          <a:noFill/>
          <a:ln/>
        </p:spPr>
        <p:txBody>
          <a:bodyPr wrap="square" lIns="0" tIns="0" rIns="0" bIns="0" rtlCol="0" anchor="ctr"/>
          <a:lstStyle/>
          <a:p>
            <a:pPr indent="0" marL="0">
              <a:buNone/>
            </a:pPr>
            <a:r>
              <a:rPr lang="en-US" sz="2200" b="1" dirty="0">
                <a:solidFill>
                  <a:srgbClr val="C8102E"/>
                </a:solidFill>
                <a:latin typeface="Arial" pitchFamily="34" charset="0"/>
                <a:ea typeface="Arial" pitchFamily="34" charset="-122"/>
                <a:cs typeface="Arial" pitchFamily="34" charset="-120"/>
              </a:rPr>
              <a:t>Locked-in price. Measured on our own baseline. Easy to kill.</a:t>
            </a:r>
            <a:endParaRPr lang="en-US" sz="2200" dirty="0"/>
          </a:p>
        </p:txBody>
      </p:sp>
      <p:sp>
        <p:nvSpPr>
          <p:cNvPr id="19" name="Text 14"/>
          <p:cNvSpPr/>
          <p:nvPr/>
        </p:nvSpPr>
        <p:spPr>
          <a:xfrm>
            <a:off x="685800" y="5760720"/>
            <a:ext cx="10789920" cy="457200"/>
          </a:xfrm>
          <a:prstGeom prst="rect">
            <a:avLst/>
          </a:prstGeom>
          <a:noFill/>
          <a:ln/>
        </p:spPr>
        <p:txBody>
          <a:bodyPr wrap="square" lIns="0" tIns="0" rIns="0" bIns="0" rtlCol="0" anchor="ctr"/>
          <a:lstStyle/>
          <a:p>
            <a:pPr indent="0" marL="0">
              <a:buNone/>
            </a:pPr>
            <a:r>
              <a:rPr lang="en-US" sz="1400" dirty="0">
                <a:solidFill>
                  <a:srgbClr val="BDBDBD"/>
                </a:solidFill>
                <a:latin typeface="Arial" pitchFamily="34" charset="0"/>
                <a:ea typeface="Arial" pitchFamily="34" charset="-122"/>
                <a:cs typeface="Arial" pitchFamily="34" charset="-120"/>
              </a:rPr>
              <a:t>Downside: $6,000.  Upside: Platinum features at $2,000 for life — and crews knocking verified-damage doors first, every storm season.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2026-08-24T14:40:44Z</dcterms:created>
  <dcterms:modified xsi:type="dcterms:W3CDTF">2026-08-24T14:40:44Z</dcterms:modified>
</cp:coreProperties>
</file>