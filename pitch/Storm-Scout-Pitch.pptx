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111"/>
                </a:solidFill>
                <a:latin typeface="Arial"/>
              </a:defRPr>
            </a:pPr>
            <a:r>
              <a:rPr sz="1400" b="0" i="0" u="none" strike="noStrike">
                <a:solidFill>
                  <a:srgbClr val="111111"/>
                </a:solidFill>
                <a:latin typeface="Arial"/>
              </a:rPr>
              <a:t>Jobs/year needed to cover the subscription</a:t>
            </a:r>
          </a:p>
        </c:rich>
      </c:tx>
      <c:layout/>
      <c:overlay val="0"/>
    </c:title>
    <c:autoTitleDeleted val="0"/>
    <c:plotArea>
      <c:layout/>
      <c:barChart>
        <c:barDir val="col"/>
        <c:grouping val="clustered"/>
        <c:varyColors val="0"/>
        <c:ser>
          <c:idx val="0"/>
          <c:order val="0"/>
          <c:tx>
            <c:strRef>
              <c:f>Sheet1!$B$1</c:f>
              <c:strCache>
                <c:ptCount val="1"/>
                <c:pt idx="0">
                  <c:v>Incremental jobs per year to break even</c:v>
                </c:pt>
              </c:strCache>
            </c:strRef>
          </c:tx>
          <c:spPr>
            <a:solidFill>
              <a:srgbClr val="C8102E"/>
            </a:solidFill>
            <a:effectLst/>
          </c:spPr>
          <c:invertIfNegative val="0"/>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Bronze $100</c:v>
                  </c:pt>
                  <c:pt idx="1">
                    <c:v>Silver $500</c:v>
                  </c:pt>
                  <c:pt idx="2">
                    <c:v>Gold $1,000</c:v>
                  </c:pt>
                  <c:pt idx="3">
                    <c:v>Founding $2,000</c:v>
                  </c:pt>
                  <c:pt idx="4">
                    <c:v>Platinum $2,500</c:v>
                  </c:pt>
                </c:lvl>
              </c:multiLvlStrCache>
            </c:multiLvlStrRef>
          </c:cat>
          <c:val>
            <c:numRef>
              <c:f>Sheet1!$B$2:$B$6</c:f>
              <c:numCache>
                <c:formatCode>General</c:formatCode>
                <c:ptCount val="5"/>
                <c:pt idx="0">
                  <c:v>0.3</c:v>
                </c:pt>
                <c:pt idx="1">
                  <c:v>1.4</c:v>
                </c:pt>
                <c:pt idx="2">
                  <c:v>2.9</c:v>
                </c:pt>
                <c:pt idx="3">
                  <c:v>5.7</c:v>
                </c:pt>
                <c:pt idx="4">
                  <c:v>7.1</c:v>
                </c:pt>
              </c:numCache>
            </c:numRef>
          </c:val>
        </c:ser>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A2A2A"/>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Prepared for Aaron &amp; Alan</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No fluff. Website facts,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rep-hours per signed contract. Every knock on an undamaged roof is payroll spent producing $0.</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“limited offer” price lock — verify billing cadence and terms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our job economics. Assumptions on the left — swap in T-Rock actuals.</a:t>
            </a:r>
            <a:endParaRPr lang="en-US" sz="1500" dirty="0"/>
          </a:p>
        </p:txBody>
      </p:sp>
      <p:sp>
        <p:nvSpPr>
          <p:cNvPr id="4" name="Shape 2"/>
          <p:cNvSpPr/>
          <p:nvPr/>
        </p:nvSpPr>
        <p:spPr>
          <a:xfrm>
            <a:off x="548640" y="1645920"/>
            <a:ext cx="4206240" cy="3657600"/>
          </a:xfrm>
          <a:prstGeom prst="roundRect">
            <a:avLst>
              <a:gd name="adj" fmla="val 2000"/>
            </a:avLst>
          </a:prstGeom>
          <a:solidFill>
            <a:srgbClr val="F5F5F5"/>
          </a:solidFill>
          <a:ln/>
        </p:spPr>
      </p:sp>
      <p:sp>
        <p:nvSpPr>
          <p:cNvPr id="5" name="Text 3"/>
          <p:cNvSpPr/>
          <p:nvPr/>
        </p:nvSpPr>
        <p:spPr>
          <a:xfrm>
            <a:off x="868680" y="1828800"/>
            <a:ext cx="3566160" cy="36576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Model assumptions</a:t>
            </a:r>
            <a:endParaRPr lang="en-US" sz="1600" dirty="0"/>
          </a:p>
        </p:txBody>
      </p:sp>
      <p:sp>
        <p:nvSpPr>
          <p:cNvPr id="6" name="Text 4"/>
          <p:cNvSpPr/>
          <p:nvPr/>
        </p:nvSpPr>
        <p:spPr>
          <a:xfrm>
            <a:off x="868680" y="2240280"/>
            <a:ext cx="3566160" cy="2194560"/>
          </a:xfrm>
          <a:prstGeom prst="rect">
            <a:avLst/>
          </a:prstGeom>
          <a:noFill/>
          <a:ln/>
        </p:spPr>
        <p:txBody>
          <a:bodyPr wrap="square" lIns="0" tIns="0" rIns="0" bIns="0" rtlCol="0" anchor="ctr"/>
          <a:lstStyle/>
          <a:p>
            <a:pPr marL="342900" indent="-342900">
              <a:buSzPct val="100000"/>
              <a:buChar char="•"/>
            </a:pPr>
            <a:r>
              <a:rPr lang="en-US" sz="1350" b="1" dirty="0">
                <a:solidFill>
                  <a:srgbClr val="2A2A2A"/>
                </a:solidFill>
                <a:latin typeface="Arial" pitchFamily="34" charset="0"/>
                <a:ea typeface="Arial" pitchFamily="34" charset="-122"/>
                <a:cs typeface="Arial" pitchFamily="34" charset="-120"/>
              </a:rPr>
              <a:t>Avg. insurance replacement job</a:t>
            </a:r>
            <a:endParaRPr lang="en-US" sz="1350" dirty="0"/>
          </a:p>
          <a:p>
            <a:pPr lvl="1" indent="0" marL="0">
              <a:spcAft>
                <a:spcPts val="800"/>
              </a:spcAft>
              <a:buNone/>
            </a:pPr>
            <a:r>
              <a:rPr lang="en-US" sz="1350" b="1" dirty="0">
                <a:solidFill>
                  <a:srgbClr val="C8102E"/>
                </a:solidFill>
                <a:latin typeface="Arial" pitchFamily="34" charset="0"/>
                <a:ea typeface="Arial" pitchFamily="34" charset="-122"/>
                <a:cs typeface="Arial" pitchFamily="34" charset="-120"/>
              </a:rPr>
              <a:t>$12,000 revenue</a:t>
            </a:r>
            <a:endParaRPr lang="en-US" sz="1350" dirty="0"/>
          </a:p>
          <a:p>
            <a:pPr marL="342900" indent="-342900">
              <a:buSzPct val="100000"/>
              <a:buChar char="•"/>
            </a:pPr>
            <a:r>
              <a:rPr lang="en-US" sz="1350" b="1" dirty="0">
                <a:solidFill>
                  <a:srgbClr val="2A2A2A"/>
                </a:solidFill>
                <a:latin typeface="Arial" pitchFamily="34" charset="0"/>
                <a:ea typeface="Arial" pitchFamily="34" charset="-122"/>
                <a:cs typeface="Arial" pitchFamily="34" charset="-120"/>
              </a:rPr>
              <a:t>Gross margin</a:t>
            </a:r>
            <a:endParaRPr lang="en-US" sz="1350" dirty="0"/>
          </a:p>
          <a:p>
            <a:pPr lvl="1" indent="0" marL="0">
              <a:spcAft>
                <a:spcPts val="800"/>
              </a:spcAft>
              <a:buNone/>
            </a:pPr>
            <a:r>
              <a:rPr lang="en-US" sz="1350" b="1" dirty="0">
                <a:solidFill>
                  <a:srgbClr val="C8102E"/>
                </a:solidFill>
                <a:latin typeface="Arial" pitchFamily="34" charset="0"/>
                <a:ea typeface="Arial" pitchFamily="34" charset="-122"/>
                <a:cs typeface="Arial" pitchFamily="34" charset="-120"/>
              </a:rPr>
              <a:t>35%  →  ~$4,200 gross profit / job</a:t>
            </a:r>
            <a:endParaRPr lang="en-US" sz="1350" dirty="0"/>
          </a:p>
          <a:p>
            <a:pPr marL="342900" indent="-342900">
              <a:buSzPct val="100000"/>
              <a:buChar char="•"/>
            </a:pPr>
            <a:r>
              <a:rPr lang="en-US" sz="1350" b="1" dirty="0">
                <a:solidFill>
                  <a:srgbClr val="2A2A2A"/>
                </a:solidFill>
                <a:latin typeface="Arial" pitchFamily="34" charset="0"/>
                <a:ea typeface="Arial" pitchFamily="34" charset="-122"/>
                <a:cs typeface="Arial" pitchFamily="34" charset="-120"/>
              </a:rPr>
              <a:t>Jobs to break even</a:t>
            </a:r>
            <a:endParaRPr lang="en-US" sz="1350" dirty="0"/>
          </a:p>
          <a:p>
            <a:pPr lvl="1" indent="0" marL="0">
              <a:buNone/>
            </a:pPr>
            <a:r>
              <a:rPr lang="en-US" sz="1350" b="1" dirty="0">
                <a:solidFill>
                  <a:srgbClr val="C8102E"/>
                </a:solidFill>
                <a:latin typeface="Arial" pitchFamily="34" charset="0"/>
                <a:ea typeface="Arial" pitchFamily="34" charset="-122"/>
                <a:cs typeface="Arial" pitchFamily="34" charset="-120"/>
              </a:rPr>
              <a:t>annual cost ÷ $4,200</a:t>
            </a:r>
            <a:endParaRPr lang="en-US" sz="1350" dirty="0"/>
          </a:p>
        </p:txBody>
      </p:sp>
      <p:sp>
        <p:nvSpPr>
          <p:cNvPr id="7" name="Text 5"/>
          <p:cNvSpPr/>
          <p:nvPr/>
        </p:nvSpPr>
        <p:spPr>
          <a:xfrm>
            <a:off x="868680" y="4617720"/>
            <a:ext cx="3566160" cy="54864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Placeholder benchmarks — swap in T-Rock's actual avg. ticket and margin before the meeting.</a:t>
            </a:r>
            <a:endParaRPr lang="en-US" sz="1050" dirty="0"/>
          </a:p>
        </p:txBody>
      </p:sp>
      <p:graphicFrame>
        <p:nvGraphicFramePr>
          <p:cNvPr id="8" name="Chart 0" descr=""/>
          <p:cNvGraphicFramePr/>
          <p:nvPr/>
        </p:nvGraphicFramePr>
        <p:xfrm>
          <a:off x="5029200" y="1645920"/>
          <a:ext cx="658368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5532120"/>
            <a:ext cx="11064240" cy="731520"/>
          </a:xfrm>
          <a:prstGeom prst="roundRect">
            <a:avLst>
              <a:gd name="adj" fmla="val 7500"/>
            </a:avLst>
          </a:prstGeom>
          <a:solidFill>
            <a:srgbClr val="111111"/>
          </a:solidFill>
          <a:ln/>
        </p:spPr>
      </p:sp>
      <p:sp>
        <p:nvSpPr>
          <p:cNvPr id="10" name="Text 7"/>
          <p:cNvSpPr/>
          <p:nvPr/>
        </p:nvSpPr>
        <p:spPr>
          <a:xfrm>
            <a:off x="868680" y="5669280"/>
            <a:ext cx="10515600" cy="45720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Founding breaks even at 5.7 jobs a year — one incremental job every ~9 weeks. </a:t>
            </a:r>
            <a:pPr indent="0" marL="0">
              <a:buNone/>
            </a:pPr>
            <a:r>
              <a:rPr lang="en-US" sz="1600" dirty="0">
                <a:solidFill>
                  <a:srgbClr val="E6E6E6"/>
                </a:solidFill>
                <a:latin typeface="Arial" pitchFamily="34" charset="0"/>
                <a:ea typeface="Arial" pitchFamily="34" charset="-122"/>
                <a:cs typeface="Arial" pitchFamily="34" charset="-120"/>
              </a:rPr>
              <a:t>Everything past that is margin, and it's $500/mo under Platinum sticker forever.</a:t>
            </a:r>
            <a:endParaRPr lang="en-US" sz="1600" dirty="0"/>
          </a:p>
        </p:txBody>
      </p:sp>
      <p:sp>
        <p:nvSpPr>
          <p:cNvPr id="11" name="Text 8"/>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12" name="Text 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under 1.5 jobs' gross profit. Condition: the demo must confirm Founding bills monthly and cancels clean. No prepaid annual, period.</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Targets are proposals — Aaron/Alan set final thresholds before we start.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If billing is monthly, the lock is a free option: keep it and we pay $500/mo under sticker forever; cancel at day 90 and we lose a rate we no longer wanted. We only walk if they demand prepaid annual.</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minutes. Confirm the Founding offer is still open, bills monthly, and cancels clean. Verify storm-map coverage in our markets.</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2026-08-21T02:12:47Z</dcterms:created>
  <dcterms:modified xsi:type="dcterms:W3CDTF">2026-08-21T02:12:47Z</dcterms:modified>
</cp:coreProperties>
</file>