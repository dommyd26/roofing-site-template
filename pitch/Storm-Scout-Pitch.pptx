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05740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03120"/>
            <a:ext cx="4114800" cy="384048"/>
          </a:xfrm>
          <a:prstGeom prst="roundRect">
            <a:avLst>
              <a:gd name="adj" fmla="val 9524"/>
            </a:avLst>
          </a:prstGeom>
          <a:solidFill>
            <a:srgbClr val="9AA0A6"/>
          </a:solidFill>
          <a:ln/>
        </p:spPr>
      </p:sp>
      <p:sp>
        <p:nvSpPr>
          <p:cNvPr id="7" name="Text 5"/>
          <p:cNvSpPr/>
          <p:nvPr/>
        </p:nvSpPr>
        <p:spPr>
          <a:xfrm>
            <a:off x="6583680" y="205740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71576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761488"/>
            <a:ext cx="2314575" cy="384048"/>
          </a:xfrm>
          <a:prstGeom prst="roundRect">
            <a:avLst>
              <a:gd name="adj" fmla="val 9524"/>
            </a:avLst>
          </a:prstGeom>
          <a:solidFill>
            <a:srgbClr val="9AA0A6"/>
          </a:solidFill>
          <a:ln/>
        </p:spPr>
      </p:sp>
      <p:sp>
        <p:nvSpPr>
          <p:cNvPr id="10" name="Text 8"/>
          <p:cNvSpPr/>
          <p:nvPr/>
        </p:nvSpPr>
        <p:spPr>
          <a:xfrm>
            <a:off x="4783455" y="271576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37413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419856"/>
            <a:ext cx="1491615" cy="384048"/>
          </a:xfrm>
          <a:prstGeom prst="roundRect">
            <a:avLst>
              <a:gd name="adj" fmla="val 9524"/>
            </a:avLst>
          </a:prstGeom>
          <a:solidFill>
            <a:srgbClr val="9AA0A6"/>
          </a:solidFill>
          <a:ln/>
        </p:spPr>
      </p:sp>
      <p:sp>
        <p:nvSpPr>
          <p:cNvPr id="13" name="Text 11"/>
          <p:cNvSpPr/>
          <p:nvPr/>
        </p:nvSpPr>
        <p:spPr>
          <a:xfrm>
            <a:off x="3960495" y="337413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03250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078224"/>
            <a:ext cx="257175" cy="384048"/>
          </a:xfrm>
          <a:prstGeom prst="roundRect">
            <a:avLst>
              <a:gd name="adj" fmla="val 14222"/>
            </a:avLst>
          </a:prstGeom>
          <a:solidFill>
            <a:srgbClr val="C8102E"/>
          </a:solidFill>
          <a:ln/>
        </p:spPr>
      </p:sp>
      <p:sp>
        <p:nvSpPr>
          <p:cNvPr id="16" name="Text 14"/>
          <p:cNvSpPr/>
          <p:nvPr/>
        </p:nvSpPr>
        <p:spPr>
          <a:xfrm>
            <a:off x="2726055" y="403250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4617720"/>
            <a:ext cx="6675120" cy="274320"/>
          </a:xfrm>
          <a:prstGeom prst="rect">
            <a:avLst/>
          </a:prstGeom>
          <a:noFill/>
          <a:ln/>
        </p:spPr>
        <p:txBody>
          <a:bodyPr wrap="square" lIns="0" tIns="0" rIns="0" bIns="0" rtlCol="0" anchor="ctr"/>
          <a:lstStyle/>
          <a:p>
            <a:pPr indent="0" marL="0">
              <a:buNone/>
            </a:pPr>
            <a:r>
              <a:rPr lang="en-US" sz="1100" b="1" dirty="0">
                <a:solidFill>
                  <a:srgbClr val="111111"/>
                </a:solidFill>
                <a:latin typeface="Arial" pitchFamily="34" charset="0"/>
                <a:ea typeface="Arial" pitchFamily="34" charset="-122"/>
                <a:cs typeface="Arial" pitchFamily="34" charset="-120"/>
              </a:rPr>
              <a:t>*Subscription cost per lead falls with volume (leads provided, not closed):</a:t>
            </a:r>
            <a:endParaRPr lang="en-US" sz="1100" dirty="0"/>
          </a:p>
        </p:txBody>
      </p:sp>
      <p:sp>
        <p:nvSpPr>
          <p:cNvPr id="18" name="Shape 16"/>
          <p:cNvSpPr/>
          <p:nvPr/>
        </p:nvSpPr>
        <p:spPr>
          <a:xfrm>
            <a:off x="548640" y="4937760"/>
            <a:ext cx="1554480" cy="411480"/>
          </a:xfrm>
          <a:prstGeom prst="roundRect">
            <a:avLst>
              <a:gd name="adj" fmla="val 13333"/>
            </a:avLst>
          </a:prstGeom>
          <a:solidFill>
            <a:srgbClr val="F5F5F5"/>
          </a:solidFill>
          <a:ln/>
        </p:spPr>
      </p:sp>
      <p:sp>
        <p:nvSpPr>
          <p:cNvPr id="19" name="Text 17"/>
          <p:cNvSpPr/>
          <p:nvPr/>
        </p:nvSpPr>
        <p:spPr>
          <a:xfrm>
            <a:off x="64008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$20 </a:t>
            </a:r>
            <a:pPr indent="0" marL="0">
              <a:buNone/>
            </a:pPr>
            <a:r>
              <a:rPr lang="en-US" sz="950" dirty="0">
                <a:solidFill>
                  <a:srgbClr val="6E6E6E"/>
                </a:solidFill>
                <a:latin typeface="Arial" pitchFamily="34" charset="0"/>
                <a:ea typeface="Arial" pitchFamily="34" charset="-122"/>
                <a:cs typeface="Arial" pitchFamily="34" charset="-120"/>
              </a:rPr>
              <a:t>100 leads/mo</a:t>
            </a:r>
            <a:endParaRPr lang="en-US" sz="1400" dirty="0"/>
          </a:p>
        </p:txBody>
      </p:sp>
      <p:sp>
        <p:nvSpPr>
          <p:cNvPr id="20" name="Shape 18"/>
          <p:cNvSpPr/>
          <p:nvPr/>
        </p:nvSpPr>
        <p:spPr>
          <a:xfrm>
            <a:off x="2240280" y="4937760"/>
            <a:ext cx="1554480" cy="411480"/>
          </a:xfrm>
          <a:prstGeom prst="roundRect">
            <a:avLst>
              <a:gd name="adj" fmla="val 13333"/>
            </a:avLst>
          </a:prstGeom>
          <a:solidFill>
            <a:srgbClr val="F5F5F5"/>
          </a:solidFill>
          <a:ln/>
        </p:spPr>
      </p:sp>
      <p:sp>
        <p:nvSpPr>
          <p:cNvPr id="21" name="Text 19"/>
          <p:cNvSpPr/>
          <p:nvPr/>
        </p:nvSpPr>
        <p:spPr>
          <a:xfrm>
            <a:off x="233172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 </a:t>
            </a:r>
            <a:pPr indent="0" marL="0">
              <a:buNone/>
            </a:pPr>
            <a:r>
              <a:rPr lang="en-US" sz="950" dirty="0">
                <a:solidFill>
                  <a:srgbClr val="6E6E6E"/>
                </a:solidFill>
                <a:latin typeface="Arial" pitchFamily="34" charset="0"/>
                <a:ea typeface="Arial" pitchFamily="34" charset="-122"/>
                <a:cs typeface="Arial" pitchFamily="34" charset="-120"/>
              </a:rPr>
              <a:t>200</a:t>
            </a:r>
            <a:endParaRPr lang="en-US" sz="1400" dirty="0"/>
          </a:p>
        </p:txBody>
      </p:sp>
      <p:sp>
        <p:nvSpPr>
          <p:cNvPr id="22" name="Shape 20"/>
          <p:cNvSpPr/>
          <p:nvPr/>
        </p:nvSpPr>
        <p:spPr>
          <a:xfrm>
            <a:off x="3931920" y="4937760"/>
            <a:ext cx="1554480" cy="411480"/>
          </a:xfrm>
          <a:prstGeom prst="roundRect">
            <a:avLst>
              <a:gd name="adj" fmla="val 13333"/>
            </a:avLst>
          </a:prstGeom>
          <a:solidFill>
            <a:srgbClr val="F5F5F5"/>
          </a:solidFill>
          <a:ln/>
        </p:spPr>
      </p:sp>
      <p:sp>
        <p:nvSpPr>
          <p:cNvPr id="23" name="Text 21"/>
          <p:cNvSpPr/>
          <p:nvPr/>
        </p:nvSpPr>
        <p:spPr>
          <a:xfrm>
            <a:off x="402336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$4 </a:t>
            </a:r>
            <a:pPr indent="0" marL="0">
              <a:buNone/>
            </a:pPr>
            <a:r>
              <a:rPr lang="en-US" sz="950" dirty="0">
                <a:solidFill>
                  <a:srgbClr val="6E6E6E"/>
                </a:solidFill>
                <a:latin typeface="Arial" pitchFamily="34" charset="0"/>
                <a:ea typeface="Arial" pitchFamily="34" charset="-122"/>
                <a:cs typeface="Arial" pitchFamily="34" charset="-120"/>
              </a:rPr>
              <a:t>500</a:t>
            </a:r>
            <a:endParaRPr lang="en-US" sz="1400" dirty="0"/>
          </a:p>
        </p:txBody>
      </p:sp>
      <p:sp>
        <p:nvSpPr>
          <p:cNvPr id="24" name="Shape 22"/>
          <p:cNvSpPr/>
          <p:nvPr/>
        </p:nvSpPr>
        <p:spPr>
          <a:xfrm>
            <a:off x="5623560" y="4937760"/>
            <a:ext cx="1554480" cy="411480"/>
          </a:xfrm>
          <a:prstGeom prst="roundRect">
            <a:avLst>
              <a:gd name="adj" fmla="val 13333"/>
            </a:avLst>
          </a:prstGeom>
          <a:solidFill>
            <a:srgbClr val="C8102E"/>
          </a:solidFill>
          <a:ln/>
        </p:spPr>
      </p:sp>
      <p:sp>
        <p:nvSpPr>
          <p:cNvPr id="25" name="Text 23"/>
          <p:cNvSpPr/>
          <p:nvPr/>
        </p:nvSpPr>
        <p:spPr>
          <a:xfrm>
            <a:off x="5715000" y="4937760"/>
            <a:ext cx="1417320" cy="4114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$2 </a:t>
            </a:r>
            <a:pPr indent="0" marL="0">
              <a:buNone/>
            </a:pPr>
            <a:r>
              <a:rPr lang="en-US" sz="950" dirty="0">
                <a:solidFill>
                  <a:srgbClr val="F2C6CD"/>
                </a:solidFill>
                <a:latin typeface="Arial" pitchFamily="34" charset="0"/>
                <a:ea typeface="Arial" pitchFamily="34" charset="-122"/>
                <a:cs typeface="Arial" pitchFamily="34" charset="-120"/>
              </a:rPr>
              <a:t>1,000</a:t>
            </a:r>
            <a:endParaRPr lang="en-US" sz="1400" dirty="0"/>
          </a:p>
        </p:txBody>
      </p:sp>
      <p:sp>
        <p:nvSpPr>
          <p:cNvPr id="26" name="Shape 24"/>
          <p:cNvSpPr/>
          <p:nvPr/>
        </p:nvSpPr>
        <p:spPr>
          <a:xfrm>
            <a:off x="7452360" y="1600200"/>
            <a:ext cx="4160520" cy="3749040"/>
          </a:xfrm>
          <a:prstGeom prst="roundRect">
            <a:avLst>
              <a:gd name="adj" fmla="val 1951"/>
            </a:avLst>
          </a:prstGeom>
          <a:solidFill>
            <a:srgbClr val="F5F5F5"/>
          </a:solidFill>
          <a:ln/>
        </p:spPr>
      </p:sp>
      <p:sp>
        <p:nvSpPr>
          <p:cNvPr id="27" name="Text 25"/>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8" name="Text 26"/>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9" name="Shape 27"/>
          <p:cNvSpPr/>
          <p:nvPr/>
        </p:nvSpPr>
        <p:spPr>
          <a:xfrm>
            <a:off x="548640" y="5532120"/>
            <a:ext cx="11064240" cy="731520"/>
          </a:xfrm>
          <a:prstGeom prst="roundRect">
            <a:avLst>
              <a:gd name="adj" fmla="val 7500"/>
            </a:avLst>
          </a:prstGeom>
          <a:solidFill>
            <a:srgbClr val="111111"/>
          </a:solidFill>
          <a:ln/>
        </p:spPr>
      </p:sp>
      <p:sp>
        <p:nvSpPr>
          <p:cNvPr id="30" name="Text 28"/>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31" name="Text 2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32" name="Text 3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86000"/>
            <a:ext cx="3291840" cy="914400"/>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$4,950</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$4,950</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56969"/>
            <a:ext cx="914400" cy="989351"/>
          </a:xfrm>
          <a:prstGeom prst="roundRect">
            <a:avLst>
              <a:gd name="adj" fmla="val 3000"/>
            </a:avLst>
          </a:prstGeom>
          <a:solidFill>
            <a:srgbClr val="B9BDC2"/>
          </a:solidFill>
          <a:ln/>
        </p:spPr>
      </p:sp>
      <p:sp>
        <p:nvSpPr>
          <p:cNvPr id="19" name="Text 17"/>
          <p:cNvSpPr/>
          <p:nvPr/>
        </p:nvSpPr>
        <p:spPr>
          <a:xfrm>
            <a:off x="7498080" y="350949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2.4</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867618"/>
            <a:ext cx="914400" cy="1978702"/>
          </a:xfrm>
          <a:prstGeom prst="roundRect">
            <a:avLst>
              <a:gd name="adj" fmla="val 3000"/>
            </a:avLst>
          </a:prstGeom>
          <a:solidFill>
            <a:srgbClr val="C8102E"/>
          </a:solidFill>
          <a:ln/>
        </p:spPr>
      </p:sp>
      <p:sp>
        <p:nvSpPr>
          <p:cNvPr id="22" name="Text 20"/>
          <p:cNvSpPr/>
          <p:nvPr/>
        </p:nvSpPr>
        <p:spPr>
          <a:xfrm>
            <a:off x="8823960" y="2520146"/>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4.8</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331720"/>
            <a:ext cx="914400" cy="2514600"/>
          </a:xfrm>
          <a:prstGeom prst="roundRect">
            <a:avLst>
              <a:gd name="adj" fmla="val 3000"/>
            </a:avLst>
          </a:prstGeom>
          <a:solidFill>
            <a:srgbClr val="B9BDC2"/>
          </a:solidFill>
          <a:ln/>
        </p:spPr>
      </p:sp>
      <p:sp>
        <p:nvSpPr>
          <p:cNvPr id="25" name="Text 23"/>
          <p:cNvSpPr/>
          <p:nvPr/>
        </p:nvSpPr>
        <p:spPr>
          <a:xfrm>
            <a:off x="10149840" y="1984248"/>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6.1</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sp>
        <p:nvSpPr>
          <p:cNvPr id="5" name="Shape 3"/>
          <p:cNvSpPr/>
          <p:nvPr/>
        </p:nvSpPr>
        <p:spPr>
          <a:xfrm>
            <a:off x="822960" y="1920240"/>
            <a:ext cx="502920" cy="50292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53719" y="2050999"/>
            <a:ext cx="241402" cy="241402"/>
          </a:xfrm>
          <a:prstGeom prst="rect">
            <a:avLst/>
          </a:prstGeom>
        </p:spPr>
      </p:pic>
      <p:sp>
        <p:nvSpPr>
          <p:cNvPr id="7" name="Text 4"/>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8" name="Text 5"/>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9" name="Text 6"/>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0" name="Shape 7"/>
          <p:cNvSpPr/>
          <p:nvPr/>
        </p:nvSpPr>
        <p:spPr>
          <a:xfrm>
            <a:off x="4343400" y="1691640"/>
            <a:ext cx="3520440" cy="1691640"/>
          </a:xfrm>
          <a:prstGeom prst="roundRect">
            <a:avLst>
              <a:gd name="adj" fmla="val 4324"/>
            </a:avLst>
          </a:prstGeom>
          <a:solidFill>
            <a:srgbClr val="F5F5F5"/>
          </a:solidFill>
          <a:ln/>
        </p:spPr>
      </p:sp>
      <p:sp>
        <p:nvSpPr>
          <p:cNvPr id="11" name="Shape 8"/>
          <p:cNvSpPr/>
          <p:nvPr/>
        </p:nvSpPr>
        <p:spPr>
          <a:xfrm>
            <a:off x="4617720" y="1920240"/>
            <a:ext cx="502920" cy="50292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4748479" y="2050999"/>
            <a:ext cx="241402" cy="241402"/>
          </a:xfrm>
          <a:prstGeom prst="rect">
            <a:avLst/>
          </a:prstGeom>
        </p:spPr>
      </p:pic>
      <p:sp>
        <p:nvSpPr>
          <p:cNvPr id="13" name="Text 9"/>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4" name="Text 10"/>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5" name="Text 11"/>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6" name="Shape 12"/>
          <p:cNvSpPr/>
          <p:nvPr/>
        </p:nvSpPr>
        <p:spPr>
          <a:xfrm>
            <a:off x="8138160" y="1691640"/>
            <a:ext cx="3520440" cy="1691640"/>
          </a:xfrm>
          <a:prstGeom prst="roundRect">
            <a:avLst>
              <a:gd name="adj" fmla="val 4324"/>
            </a:avLst>
          </a:prstGeom>
          <a:solidFill>
            <a:srgbClr val="F5F5F5"/>
          </a:solidFill>
          <a:ln/>
        </p:spPr>
      </p:sp>
      <p:sp>
        <p:nvSpPr>
          <p:cNvPr id="17" name="Shape 13"/>
          <p:cNvSpPr/>
          <p:nvPr/>
        </p:nvSpPr>
        <p:spPr>
          <a:xfrm>
            <a:off x="8412480" y="1920240"/>
            <a:ext cx="502920" cy="502920"/>
          </a:xfrm>
          <a:prstGeom prst="ellipse">
            <a:avLst/>
          </a:prstGeom>
          <a:solidFill>
            <a:srgbClr val="C8102E"/>
          </a:solidFill>
          <a:ln/>
        </p:spPr>
      </p:sp>
      <p:pic>
        <p:nvPicPr>
          <p:cNvPr id="18" name="Image 2" descr="preencoded.png">    </p:cNvPr>
          <p:cNvPicPr>
            <a:picLocks noChangeAspect="1"/>
          </p:cNvPicPr>
          <p:nvPr/>
        </p:nvPicPr>
        <p:blipFill>
          <a:blip r:embed="rId3"/>
          <a:stretch>
            <a:fillRect/>
          </a:stretch>
        </p:blipFill>
        <p:spPr>
          <a:xfrm>
            <a:off x="8543239" y="2050999"/>
            <a:ext cx="241402" cy="241402"/>
          </a:xfrm>
          <a:prstGeom prst="rect">
            <a:avLst/>
          </a:prstGeom>
        </p:spPr>
      </p:pic>
      <p:sp>
        <p:nvSpPr>
          <p:cNvPr id="19" name="Text 14"/>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20" name="Text 15"/>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21" name="Text 16"/>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Scope fee (2% RCV)</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$4,800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$39,600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+$15,600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$10,800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$89,100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+$65,100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$18,000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$148,500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+$124,500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3" name="Shape 17"/>
          <p:cNvSpPr/>
          <p:nvPr/>
        </p:nvSpPr>
        <p:spPr>
          <a:xfrm>
            <a:off x="548640" y="5532120"/>
            <a:ext cx="11064240" cy="731520"/>
          </a:xfrm>
          <a:prstGeom prst="roundRect">
            <a:avLst>
              <a:gd name="adj" fmla="val 7500"/>
            </a:avLst>
          </a:prstGeom>
          <a:solidFill>
            <a:srgbClr val="111111"/>
          </a:solidFill>
          <a:ln/>
        </p:spPr>
      </p:sp>
      <p:sp>
        <p:nvSpPr>
          <p:cNvPr id="24" name="Text 18"/>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5" name="Text 1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scope fee) ÷ 2 (50/50 PM split). Any shared-lead or ad spend this replaces is a direct offset on top.</a:t>
            </a:r>
            <a:endParaRPr lang="en-US" sz="900" dirty="0"/>
          </a:p>
        </p:txBody>
      </p:sp>
      <p:sp>
        <p:nvSpPr>
          <p:cNvPr id="26" name="Text 2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2026-08-21T03:39:52Z</dcterms:created>
  <dcterms:modified xsi:type="dcterms:W3CDTF">2026-08-21T03:39:52Z</dcterms:modified>
</cp:coreProperties>
</file>