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777240"/>
            <a:ext cx="822960" cy="822960"/>
          </a:xfrm>
          <a:prstGeom prst="rect">
            <a:avLst/>
          </a:prstGeom>
        </p:spPr>
      </p:pic>
      <p:sp>
        <p:nvSpPr>
          <p:cNvPr id="3" name="Text 0"/>
          <p:cNvSpPr/>
          <p:nvPr/>
        </p:nvSpPr>
        <p:spPr>
          <a:xfrm>
            <a:off x="685800" y="2148840"/>
            <a:ext cx="1078992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STORM SCOUT  ×  T^ROCK</a:t>
            </a:r>
            <a:endParaRPr lang="en-US" sz="4600" dirty="0"/>
          </a:p>
        </p:txBody>
      </p:sp>
      <p:sp>
        <p:nvSpPr>
          <p:cNvPr id="4" name="Text 1"/>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5" name="Text 2"/>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6" name="Text 3"/>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68680" y="2057400"/>
            <a:ext cx="685800" cy="685800"/>
          </a:xfrm>
          <a:prstGeom prst="rect">
            <a:avLst/>
          </a:prstGeom>
        </p:spPr>
      </p:pic>
      <p:sp>
        <p:nvSpPr>
          <p:cNvPr id="6" name="Text 3"/>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7" name="Text 4"/>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8" name="Shape 5"/>
          <p:cNvSpPr/>
          <p:nvPr/>
        </p:nvSpPr>
        <p:spPr>
          <a:xfrm>
            <a:off x="4343400" y="1737360"/>
            <a:ext cx="3520440" cy="3566160"/>
          </a:xfrm>
          <a:prstGeom prst="roundRect">
            <a:avLst>
              <a:gd name="adj" fmla="val 2078"/>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4663440" y="2057400"/>
            <a:ext cx="685800" cy="685800"/>
          </a:xfrm>
          <a:prstGeom prst="rect">
            <a:avLst/>
          </a:prstGeom>
        </p:spPr>
      </p:pic>
      <p:sp>
        <p:nvSpPr>
          <p:cNvPr id="10" name="Text 6"/>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1" name="Text 7"/>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2" name="Shape 8"/>
          <p:cNvSpPr/>
          <p:nvPr/>
        </p:nvSpPr>
        <p:spPr>
          <a:xfrm>
            <a:off x="8138160" y="1737360"/>
            <a:ext cx="3520440" cy="3566160"/>
          </a:xfrm>
          <a:prstGeom prst="roundRect">
            <a:avLst>
              <a:gd name="adj" fmla="val 2078"/>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458200" y="2057400"/>
            <a:ext cx="685800" cy="685800"/>
          </a:xfrm>
          <a:prstGeom prst="rect">
            <a:avLst/>
          </a:prstGeom>
        </p:spPr>
      </p:pic>
      <p:sp>
        <p:nvSpPr>
          <p:cNvPr id="14" name="Text 9"/>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5" name="Text 10"/>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6" name="Shape 11"/>
          <p:cNvSpPr/>
          <p:nvPr/>
        </p:nvSpPr>
        <p:spPr>
          <a:xfrm>
            <a:off x="548640" y="5577840"/>
            <a:ext cx="11064240" cy="685800"/>
          </a:xfrm>
          <a:prstGeom prst="roundRect">
            <a:avLst>
              <a:gd name="adj" fmla="val 8000"/>
            </a:avLst>
          </a:prstGeom>
          <a:solidFill>
            <a:srgbClr val="111111"/>
          </a:solidFill>
          <a:ln/>
        </p:spPr>
      </p:sp>
      <p:sp>
        <p:nvSpPr>
          <p:cNvPr id="17" name="Text 12"/>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The real metric:  </a:t>
            </a:r>
            <a:pPr indent="0" marL="0">
              <a:buNone/>
            </a:pPr>
            <a:r>
              <a:rPr lang="en-US" sz="135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350" dirty="0"/>
          </a:p>
        </p:txBody>
      </p:sp>
      <p:sp>
        <p:nvSpPr>
          <p:cNvPr id="18" name="Text 1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19"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2103120"/>
            <a:ext cx="640080" cy="640080"/>
          </a:xfrm>
          <a:prstGeom prst="rect">
            <a:avLst/>
          </a:prstGeom>
        </p:spPr>
      </p:pic>
      <p:sp>
        <p:nvSpPr>
          <p:cNvPr id="6" name="Text 3"/>
          <p:cNvSpPr/>
          <p:nvPr/>
        </p:nvSpPr>
        <p:spPr>
          <a:xfrm>
            <a:off x="1645920" y="204825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Interactive hail &amp; wind maps</a:t>
            </a:r>
            <a:endParaRPr lang="en-US" sz="1500" dirty="0"/>
          </a:p>
        </p:txBody>
      </p:sp>
      <p:sp>
        <p:nvSpPr>
          <p:cNvPr id="7" name="Text 4"/>
          <p:cNvSpPr/>
          <p:nvPr/>
        </p:nvSpPr>
        <p:spPr>
          <a:xfrm>
            <a:off x="1645920" y="263347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00" dirty="0"/>
          </a:p>
        </p:txBody>
      </p:sp>
      <p:sp>
        <p:nvSpPr>
          <p:cNvPr id="8" name="Shape 5"/>
          <p:cNvSpPr/>
          <p:nvPr/>
        </p:nvSpPr>
        <p:spPr>
          <a:xfrm>
            <a:off x="6217920" y="1828800"/>
            <a:ext cx="5394960" cy="1965960"/>
          </a:xfrm>
          <a:prstGeom prst="roundRect">
            <a:avLst>
              <a:gd name="adj" fmla="val 3721"/>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6492240" y="2103120"/>
            <a:ext cx="640080" cy="640080"/>
          </a:xfrm>
          <a:prstGeom prst="rect">
            <a:avLst/>
          </a:prstGeom>
        </p:spPr>
      </p:pic>
      <p:sp>
        <p:nvSpPr>
          <p:cNvPr id="10" name="Text 6"/>
          <p:cNvSpPr/>
          <p:nvPr/>
        </p:nvSpPr>
        <p:spPr>
          <a:xfrm>
            <a:off x="7315200" y="204825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Advanced property filters</a:t>
            </a:r>
            <a:endParaRPr lang="en-US" sz="1500" dirty="0"/>
          </a:p>
        </p:txBody>
      </p:sp>
      <p:sp>
        <p:nvSpPr>
          <p:cNvPr id="11" name="Text 7"/>
          <p:cNvSpPr/>
          <p:nvPr/>
        </p:nvSpPr>
        <p:spPr>
          <a:xfrm>
            <a:off x="7315200" y="263347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00" dirty="0"/>
          </a:p>
        </p:txBody>
      </p:sp>
      <p:sp>
        <p:nvSpPr>
          <p:cNvPr id="12" name="Shape 8"/>
          <p:cNvSpPr/>
          <p:nvPr/>
        </p:nvSpPr>
        <p:spPr>
          <a:xfrm>
            <a:off x="548640" y="4023360"/>
            <a:ext cx="5394960" cy="1965960"/>
          </a:xfrm>
          <a:prstGeom prst="roundRect">
            <a:avLst>
              <a:gd name="adj" fmla="val 3721"/>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22960" y="4297680"/>
            <a:ext cx="640080" cy="640080"/>
          </a:xfrm>
          <a:prstGeom prst="rect">
            <a:avLst/>
          </a:prstGeom>
        </p:spPr>
      </p:pic>
      <p:sp>
        <p:nvSpPr>
          <p:cNvPr id="14" name="Text 9"/>
          <p:cNvSpPr/>
          <p:nvPr/>
        </p:nvSpPr>
        <p:spPr>
          <a:xfrm>
            <a:off x="1645920" y="424281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Custom storm alerts</a:t>
            </a:r>
            <a:endParaRPr lang="en-US" sz="1500" dirty="0"/>
          </a:p>
        </p:txBody>
      </p:sp>
      <p:sp>
        <p:nvSpPr>
          <p:cNvPr id="15" name="Text 10"/>
          <p:cNvSpPr/>
          <p:nvPr/>
        </p:nvSpPr>
        <p:spPr>
          <a:xfrm>
            <a:off x="1645920" y="482803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00" dirty="0"/>
          </a:p>
        </p:txBody>
      </p:sp>
      <p:sp>
        <p:nvSpPr>
          <p:cNvPr id="16" name="Shape 11"/>
          <p:cNvSpPr/>
          <p:nvPr/>
        </p:nvSpPr>
        <p:spPr>
          <a:xfrm>
            <a:off x="6217920" y="4023360"/>
            <a:ext cx="5394960" cy="1965960"/>
          </a:xfrm>
          <a:prstGeom prst="roundRect">
            <a:avLst>
              <a:gd name="adj" fmla="val 3721"/>
            </a:avLst>
          </a:prstGeom>
          <a:solidFill>
            <a:srgbClr val="F5F5F5"/>
          </a:solidFill>
          <a:ln/>
        </p:spPr>
      </p:sp>
      <p:pic>
        <p:nvPicPr>
          <p:cNvPr id="17" name="Image 3" descr="preencoded.png">    </p:cNvPr>
          <p:cNvPicPr>
            <a:picLocks noChangeAspect="1"/>
          </p:cNvPicPr>
          <p:nvPr/>
        </p:nvPicPr>
        <p:blipFill>
          <a:blip r:embed="rId4"/>
          <a:stretch>
            <a:fillRect/>
          </a:stretch>
        </p:blipFill>
        <p:spPr>
          <a:xfrm>
            <a:off x="6492240" y="4297680"/>
            <a:ext cx="640080" cy="640080"/>
          </a:xfrm>
          <a:prstGeom prst="rect">
            <a:avLst/>
          </a:prstGeom>
        </p:spPr>
      </p:pic>
      <p:sp>
        <p:nvSpPr>
          <p:cNvPr id="18" name="Text 12"/>
          <p:cNvSpPr/>
          <p:nvPr/>
        </p:nvSpPr>
        <p:spPr>
          <a:xfrm>
            <a:off x="7315200" y="424281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Automated outreach + in-app leads</a:t>
            </a:r>
            <a:endParaRPr lang="en-US" sz="1500" dirty="0"/>
          </a:p>
        </p:txBody>
      </p:sp>
      <p:sp>
        <p:nvSpPr>
          <p:cNvPr id="19" name="Text 13"/>
          <p:cNvSpPr/>
          <p:nvPr/>
        </p:nvSpPr>
        <p:spPr>
          <a:xfrm>
            <a:off x="7315200" y="482803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00" dirty="0"/>
          </a:p>
        </p:txBody>
      </p:sp>
      <p:sp>
        <p:nvSpPr>
          <p:cNvPr id="20" name="Text 1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1" name="Text 1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828800"/>
            <a:ext cx="640080" cy="640080"/>
          </a:xfrm>
          <a:prstGeom prst="rect">
            <a:avLst/>
          </a:prstGeom>
        </p:spPr>
      </p:pic>
      <p:sp>
        <p:nvSpPr>
          <p:cNvPr id="5" name="Text 2"/>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6" name="Text 3"/>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7" name="Text 4"/>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8" name="Text 5"/>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9" name="Shape 6"/>
          <p:cNvSpPr/>
          <p:nvPr/>
        </p:nvSpPr>
        <p:spPr>
          <a:xfrm>
            <a:off x="3493008" y="1554480"/>
            <a:ext cx="2670048" cy="3749040"/>
          </a:xfrm>
          <a:prstGeom prst="roundRect">
            <a:avLst>
              <a:gd name="adj" fmla="val 2740"/>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3767328" y="1828800"/>
            <a:ext cx="640080" cy="640080"/>
          </a:xfrm>
          <a:prstGeom prst="rect">
            <a:avLst/>
          </a:prstGeom>
        </p:spPr>
      </p:pic>
      <p:sp>
        <p:nvSpPr>
          <p:cNvPr id="11" name="Text 7"/>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2" name="Text 8"/>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3" name="Text 9"/>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4" name="Text 10"/>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5" name="Shape 11"/>
          <p:cNvSpPr/>
          <p:nvPr/>
        </p:nvSpPr>
        <p:spPr>
          <a:xfrm>
            <a:off x="6437376" y="1554480"/>
            <a:ext cx="2670048" cy="3749040"/>
          </a:xfrm>
          <a:prstGeom prst="roundRect">
            <a:avLst>
              <a:gd name="adj" fmla="val 2740"/>
            </a:avLst>
          </a:prstGeom>
          <a:solidFill>
            <a:srgbClr val="F5F5F5"/>
          </a:solidFill>
          <a:ln/>
        </p:spPr>
      </p:sp>
      <p:pic>
        <p:nvPicPr>
          <p:cNvPr id="16" name="Image 2" descr="preencoded.png">    </p:cNvPr>
          <p:cNvPicPr>
            <a:picLocks noChangeAspect="1"/>
          </p:cNvPicPr>
          <p:nvPr/>
        </p:nvPicPr>
        <p:blipFill>
          <a:blip r:embed="rId3"/>
          <a:stretch>
            <a:fillRect/>
          </a:stretch>
        </p:blipFill>
        <p:spPr>
          <a:xfrm>
            <a:off x="6711696" y="1828800"/>
            <a:ext cx="640080" cy="640080"/>
          </a:xfrm>
          <a:prstGeom prst="rect">
            <a:avLst/>
          </a:prstGeom>
        </p:spPr>
      </p:pic>
      <p:sp>
        <p:nvSpPr>
          <p:cNvPr id="17" name="Text 12"/>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18" name="Text 13"/>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19" name="Text 14"/>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0" name="Text 15"/>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1" name="Shape 16"/>
          <p:cNvSpPr/>
          <p:nvPr/>
        </p:nvSpPr>
        <p:spPr>
          <a:xfrm>
            <a:off x="9381744" y="1554480"/>
            <a:ext cx="2670048" cy="3749040"/>
          </a:xfrm>
          <a:prstGeom prst="roundRect">
            <a:avLst>
              <a:gd name="adj" fmla="val 2740"/>
            </a:avLst>
          </a:prstGeom>
          <a:solidFill>
            <a:srgbClr val="111111"/>
          </a:solidFill>
          <a:ln/>
        </p:spPr>
      </p:sp>
      <p:pic>
        <p:nvPicPr>
          <p:cNvPr id="22" name="Image 3" descr="preencoded.png">    </p:cNvPr>
          <p:cNvPicPr>
            <a:picLocks noChangeAspect="1"/>
          </p:cNvPicPr>
          <p:nvPr/>
        </p:nvPicPr>
        <p:blipFill>
          <a:blip r:embed="rId4"/>
          <a:stretch>
            <a:fillRect/>
          </a:stretch>
        </p:blipFill>
        <p:spPr>
          <a:xfrm>
            <a:off x="9656064" y="1828800"/>
            <a:ext cx="640080" cy="640080"/>
          </a:xfrm>
          <a:prstGeom prst="rect">
            <a:avLst/>
          </a:prstGeom>
        </p:spPr>
      </p:pic>
      <p:sp>
        <p:nvSpPr>
          <p:cNvPr id="23" name="Text 17"/>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4" name="Text 18"/>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5" name="Text 19"/>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26" name="Text 20"/>
          <p:cNvSpPr/>
          <p:nvPr/>
        </p:nvSpPr>
        <p:spPr>
          <a:xfrm>
            <a:off x="548640" y="5623560"/>
            <a:ext cx="110642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Net effect: </a:t>
            </a:r>
            <a:pPr indent="0" marL="0">
              <a:buNone/>
            </a:pPr>
            <a:r>
              <a:rPr lang="en-US" sz="14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400" dirty="0"/>
          </a:p>
        </p:txBody>
      </p:sp>
      <p:sp>
        <p:nvSpPr>
          <p:cNvPr id="27" name="Text 21"/>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28" name="Text 22"/>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35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475488">
                <a:tc>
                  <a:txBody>
                    <a:bodyPr/>
                    <a:lstStyle/>
                    <a:p>
                      <a:pPr algn="ctr" indent="0" marL="0">
                        <a:buNone/>
                      </a:pP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Bronze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Silver</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Gold</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Platinum</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Founding*  (our pick)</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05740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03120"/>
            <a:ext cx="4114800" cy="384048"/>
          </a:xfrm>
          <a:prstGeom prst="roundRect">
            <a:avLst>
              <a:gd name="adj" fmla="val 9524"/>
            </a:avLst>
          </a:prstGeom>
          <a:solidFill>
            <a:srgbClr val="9AA0A6"/>
          </a:solidFill>
          <a:ln/>
        </p:spPr>
      </p:sp>
      <p:sp>
        <p:nvSpPr>
          <p:cNvPr id="7" name="Text 5"/>
          <p:cNvSpPr/>
          <p:nvPr/>
        </p:nvSpPr>
        <p:spPr>
          <a:xfrm>
            <a:off x="6583680" y="205740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71576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761488"/>
            <a:ext cx="2314575" cy="384048"/>
          </a:xfrm>
          <a:prstGeom prst="roundRect">
            <a:avLst>
              <a:gd name="adj" fmla="val 9524"/>
            </a:avLst>
          </a:prstGeom>
          <a:solidFill>
            <a:srgbClr val="9AA0A6"/>
          </a:solidFill>
          <a:ln/>
        </p:spPr>
      </p:sp>
      <p:sp>
        <p:nvSpPr>
          <p:cNvPr id="10" name="Text 8"/>
          <p:cNvSpPr/>
          <p:nvPr/>
        </p:nvSpPr>
        <p:spPr>
          <a:xfrm>
            <a:off x="4783455" y="271576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37413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419856"/>
            <a:ext cx="1491615" cy="384048"/>
          </a:xfrm>
          <a:prstGeom prst="roundRect">
            <a:avLst>
              <a:gd name="adj" fmla="val 9524"/>
            </a:avLst>
          </a:prstGeom>
          <a:solidFill>
            <a:srgbClr val="9AA0A6"/>
          </a:solidFill>
          <a:ln/>
        </p:spPr>
      </p:sp>
      <p:sp>
        <p:nvSpPr>
          <p:cNvPr id="13" name="Text 11"/>
          <p:cNvSpPr/>
          <p:nvPr/>
        </p:nvSpPr>
        <p:spPr>
          <a:xfrm>
            <a:off x="3960495" y="337413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03250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078224"/>
            <a:ext cx="257175" cy="384048"/>
          </a:xfrm>
          <a:prstGeom prst="roundRect">
            <a:avLst>
              <a:gd name="adj" fmla="val 14222"/>
            </a:avLst>
          </a:prstGeom>
          <a:solidFill>
            <a:srgbClr val="C8102E"/>
          </a:solidFill>
          <a:ln/>
        </p:spPr>
      </p:sp>
      <p:sp>
        <p:nvSpPr>
          <p:cNvPr id="16" name="Text 14"/>
          <p:cNvSpPr/>
          <p:nvPr/>
        </p:nvSpPr>
        <p:spPr>
          <a:xfrm>
            <a:off x="2726055" y="403250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4617720"/>
            <a:ext cx="6675120" cy="274320"/>
          </a:xfrm>
          <a:prstGeom prst="rect">
            <a:avLst/>
          </a:prstGeom>
          <a:noFill/>
          <a:ln/>
        </p:spPr>
        <p:txBody>
          <a:bodyPr wrap="square" lIns="0" tIns="0" rIns="0" bIns="0" rtlCol="0" anchor="ctr"/>
          <a:lstStyle/>
          <a:p>
            <a:pPr indent="0" marL="0">
              <a:buNone/>
            </a:pPr>
            <a:r>
              <a:rPr lang="en-US" sz="1100" b="1" dirty="0">
                <a:solidFill>
                  <a:srgbClr val="111111"/>
                </a:solidFill>
                <a:latin typeface="Arial" pitchFamily="34" charset="0"/>
                <a:ea typeface="Arial" pitchFamily="34" charset="-122"/>
                <a:cs typeface="Arial" pitchFamily="34" charset="-120"/>
              </a:rPr>
              <a:t>*Subscription cost per lead falls with volume (leads provided, not closed):</a:t>
            </a:r>
            <a:endParaRPr lang="en-US" sz="1100" dirty="0"/>
          </a:p>
        </p:txBody>
      </p:sp>
      <p:sp>
        <p:nvSpPr>
          <p:cNvPr id="18" name="Shape 16"/>
          <p:cNvSpPr/>
          <p:nvPr/>
        </p:nvSpPr>
        <p:spPr>
          <a:xfrm>
            <a:off x="548640" y="4937760"/>
            <a:ext cx="1627632" cy="411480"/>
          </a:xfrm>
          <a:prstGeom prst="roundRect">
            <a:avLst>
              <a:gd name="adj" fmla="val 13333"/>
            </a:avLst>
          </a:prstGeom>
          <a:solidFill>
            <a:srgbClr val="F5F5F5"/>
          </a:solidFill>
          <a:ln/>
        </p:spPr>
      </p:sp>
      <p:sp>
        <p:nvSpPr>
          <p:cNvPr id="19" name="Text 17"/>
          <p:cNvSpPr/>
          <p:nvPr/>
        </p:nvSpPr>
        <p:spPr>
          <a:xfrm>
            <a:off x="62179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$20 </a:t>
            </a:r>
            <a:pPr indent="0" marL="0">
              <a:buNone/>
            </a:pPr>
            <a:r>
              <a:rPr lang="en-US" sz="900" dirty="0">
                <a:solidFill>
                  <a:srgbClr val="6E6E6E"/>
                </a:solidFill>
                <a:latin typeface="Arial" pitchFamily="34" charset="0"/>
                <a:ea typeface="Arial" pitchFamily="34" charset="-122"/>
                <a:cs typeface="Arial" pitchFamily="34" charset="-120"/>
              </a:rPr>
              <a:t>100 leads/mo</a:t>
            </a:r>
            <a:endParaRPr lang="en-US" sz="1300" dirty="0"/>
          </a:p>
        </p:txBody>
      </p:sp>
      <p:sp>
        <p:nvSpPr>
          <p:cNvPr id="20" name="Shape 18"/>
          <p:cNvSpPr/>
          <p:nvPr/>
        </p:nvSpPr>
        <p:spPr>
          <a:xfrm>
            <a:off x="2286000" y="4937760"/>
            <a:ext cx="1627632" cy="411480"/>
          </a:xfrm>
          <a:prstGeom prst="roundRect">
            <a:avLst>
              <a:gd name="adj" fmla="val 13333"/>
            </a:avLst>
          </a:prstGeom>
          <a:solidFill>
            <a:srgbClr val="F5F5F5"/>
          </a:solidFill>
          <a:ln/>
        </p:spPr>
      </p:sp>
      <p:sp>
        <p:nvSpPr>
          <p:cNvPr id="21" name="Text 19"/>
          <p:cNvSpPr/>
          <p:nvPr/>
        </p:nvSpPr>
        <p:spPr>
          <a:xfrm>
            <a:off x="235915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$10 </a:t>
            </a:r>
            <a:pPr indent="0" marL="0">
              <a:buNone/>
            </a:pPr>
            <a:r>
              <a:rPr lang="en-US" sz="900" dirty="0">
                <a:solidFill>
                  <a:srgbClr val="6E6E6E"/>
                </a:solidFill>
                <a:latin typeface="Arial" pitchFamily="34" charset="0"/>
                <a:ea typeface="Arial" pitchFamily="34" charset="-122"/>
                <a:cs typeface="Arial" pitchFamily="34" charset="-120"/>
              </a:rPr>
              <a:t>200</a:t>
            </a:r>
            <a:endParaRPr lang="en-US" sz="1300" dirty="0"/>
          </a:p>
        </p:txBody>
      </p:sp>
      <p:sp>
        <p:nvSpPr>
          <p:cNvPr id="22" name="Shape 20"/>
          <p:cNvSpPr/>
          <p:nvPr/>
        </p:nvSpPr>
        <p:spPr>
          <a:xfrm>
            <a:off x="4023360" y="4937760"/>
            <a:ext cx="1627632" cy="411480"/>
          </a:xfrm>
          <a:prstGeom prst="roundRect">
            <a:avLst>
              <a:gd name="adj" fmla="val 13333"/>
            </a:avLst>
          </a:prstGeom>
          <a:solidFill>
            <a:srgbClr val="F5F5F5"/>
          </a:solidFill>
          <a:ln/>
        </p:spPr>
      </p:sp>
      <p:sp>
        <p:nvSpPr>
          <p:cNvPr id="23" name="Text 21"/>
          <p:cNvSpPr/>
          <p:nvPr/>
        </p:nvSpPr>
        <p:spPr>
          <a:xfrm>
            <a:off x="409651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$4 </a:t>
            </a:r>
            <a:pPr indent="0" marL="0">
              <a:buNone/>
            </a:pPr>
            <a:r>
              <a:rPr lang="en-US" sz="900" dirty="0">
                <a:solidFill>
                  <a:srgbClr val="6E6E6E"/>
                </a:solidFill>
                <a:latin typeface="Arial" pitchFamily="34" charset="0"/>
                <a:ea typeface="Arial" pitchFamily="34" charset="-122"/>
                <a:cs typeface="Arial" pitchFamily="34" charset="-120"/>
              </a:rPr>
              <a:t>500</a:t>
            </a:r>
            <a:endParaRPr lang="en-US" sz="1300" dirty="0"/>
          </a:p>
        </p:txBody>
      </p:sp>
      <p:sp>
        <p:nvSpPr>
          <p:cNvPr id="24" name="Shape 22"/>
          <p:cNvSpPr/>
          <p:nvPr/>
        </p:nvSpPr>
        <p:spPr>
          <a:xfrm>
            <a:off x="5760720" y="4937760"/>
            <a:ext cx="1627632" cy="411480"/>
          </a:xfrm>
          <a:prstGeom prst="roundRect">
            <a:avLst>
              <a:gd name="adj" fmla="val 13333"/>
            </a:avLst>
          </a:prstGeom>
          <a:solidFill>
            <a:srgbClr val="C8102E"/>
          </a:solidFill>
          <a:ln/>
        </p:spPr>
      </p:sp>
      <p:sp>
        <p:nvSpPr>
          <p:cNvPr id="25" name="Text 23"/>
          <p:cNvSpPr/>
          <p:nvPr/>
        </p:nvSpPr>
        <p:spPr>
          <a:xfrm>
            <a:off x="5833872" y="4937760"/>
            <a:ext cx="1517904" cy="4114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$2 </a:t>
            </a:r>
            <a:pPr indent="0" marL="0">
              <a:buNone/>
            </a:pPr>
            <a:r>
              <a:rPr lang="en-US" sz="900" dirty="0">
                <a:solidFill>
                  <a:srgbClr val="F2C6CD"/>
                </a:solidFill>
                <a:latin typeface="Arial" pitchFamily="34" charset="0"/>
                <a:ea typeface="Arial" pitchFamily="34" charset="-122"/>
                <a:cs typeface="Arial" pitchFamily="34" charset="-120"/>
              </a:rPr>
              <a:t>1,000</a:t>
            </a:r>
            <a:endParaRPr lang="en-US" sz="1300" dirty="0"/>
          </a:p>
        </p:txBody>
      </p:sp>
      <p:sp>
        <p:nvSpPr>
          <p:cNvPr id="26" name="Shape 24"/>
          <p:cNvSpPr/>
          <p:nvPr/>
        </p:nvSpPr>
        <p:spPr>
          <a:xfrm>
            <a:off x="7452360" y="1600200"/>
            <a:ext cx="4160520" cy="3749040"/>
          </a:xfrm>
          <a:prstGeom prst="roundRect">
            <a:avLst>
              <a:gd name="adj" fmla="val 1951"/>
            </a:avLst>
          </a:prstGeom>
          <a:solidFill>
            <a:srgbClr val="F5F5F5"/>
          </a:solidFill>
          <a:ln/>
        </p:spPr>
      </p:sp>
      <p:sp>
        <p:nvSpPr>
          <p:cNvPr id="27" name="Text 25"/>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8" name="Text 26"/>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9" name="Shape 27"/>
          <p:cNvSpPr/>
          <p:nvPr/>
        </p:nvSpPr>
        <p:spPr>
          <a:xfrm>
            <a:off x="548640" y="5532120"/>
            <a:ext cx="11064240" cy="731520"/>
          </a:xfrm>
          <a:prstGeom prst="roundRect">
            <a:avLst>
              <a:gd name="adj" fmla="val 7500"/>
            </a:avLst>
          </a:prstGeom>
          <a:solidFill>
            <a:srgbClr val="111111"/>
          </a:solidFill>
          <a:ln/>
        </p:spPr>
      </p:sp>
      <p:sp>
        <p:nvSpPr>
          <p:cNvPr id="30" name="Text 28"/>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31" name="Text 2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32" name="Text 3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67712"/>
            <a:ext cx="3291840" cy="969264"/>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$5,145</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$5,145</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98192"/>
            <a:ext cx="914400" cy="948128"/>
          </a:xfrm>
          <a:prstGeom prst="roundRect">
            <a:avLst>
              <a:gd name="adj" fmla="val 3000"/>
            </a:avLst>
          </a:prstGeom>
          <a:solidFill>
            <a:srgbClr val="B9BDC2"/>
          </a:solidFill>
          <a:ln/>
        </p:spPr>
      </p:sp>
      <p:sp>
        <p:nvSpPr>
          <p:cNvPr id="19" name="Text 17"/>
          <p:cNvSpPr/>
          <p:nvPr/>
        </p:nvSpPr>
        <p:spPr>
          <a:xfrm>
            <a:off x="7498080" y="3550720"/>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2.3</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908841"/>
            <a:ext cx="914400" cy="1937479"/>
          </a:xfrm>
          <a:prstGeom prst="roundRect">
            <a:avLst>
              <a:gd name="adj" fmla="val 3000"/>
            </a:avLst>
          </a:prstGeom>
          <a:solidFill>
            <a:srgbClr val="C8102E"/>
          </a:solidFill>
          <a:ln/>
        </p:spPr>
      </p:sp>
      <p:sp>
        <p:nvSpPr>
          <p:cNvPr id="22" name="Text 20"/>
          <p:cNvSpPr/>
          <p:nvPr/>
        </p:nvSpPr>
        <p:spPr>
          <a:xfrm>
            <a:off x="8823960" y="2561369"/>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4.7</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455389"/>
            <a:ext cx="914400" cy="2390931"/>
          </a:xfrm>
          <a:prstGeom prst="roundRect">
            <a:avLst>
              <a:gd name="adj" fmla="val 3000"/>
            </a:avLst>
          </a:prstGeom>
          <a:solidFill>
            <a:srgbClr val="B9BDC2"/>
          </a:solidFill>
          <a:ln/>
        </p:spPr>
      </p:sp>
      <p:sp>
        <p:nvSpPr>
          <p:cNvPr id="25" name="Text 23"/>
          <p:cNvSpPr/>
          <p:nvPr/>
        </p:nvSpPr>
        <p:spPr>
          <a:xfrm>
            <a:off x="10149840" y="210791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5.8</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breaks even at 4.7 jobs a year — one incremental roof every ~11 weeks — on T^Rock's share alone. </a:t>
            </a:r>
            <a:pPr indent="0" marL="0">
              <a:buNone/>
            </a:pPr>
            <a:r>
              <a:rPr lang="en-US" sz="1350" dirty="0">
                <a:solidFill>
                  <a:srgbClr val="E6E6E6"/>
                </a:solidFill>
                <a:latin typeface="Arial" pitchFamily="34" charset="0"/>
                <a:ea typeface="Arial" pitchFamily="34" charset="-122"/>
                <a:cs typeface="Arial" pitchFamily="34" charset="-120"/>
              </a:rPr>
              <a:t>Past that it's margin, at $500/mo under Platinum sticker forever.</a:t>
            </a:r>
            <a:endParaRPr lang="en-US" sz="135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2%-of-profit lead fee ($210) = $10,290, split 50/50 with the PM → $5,145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Company A: real numbers, 128 days on the system</a:t>
            </a:r>
            <a:endParaRPr lang="en-US" sz="3200" dirty="0"/>
          </a:p>
        </p:txBody>
      </p:sp>
      <p:sp>
        <p:nvSpPr>
          <p:cNvPr id="3" name="Text 1"/>
          <p:cNvSpPr/>
          <p:nvPr/>
        </p:nvSpPr>
        <p:spPr>
          <a:xfrm>
            <a:off x="548640" y="1078992"/>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 roofing company just 6 months old, running 2 dialers (a mix of VA callers and in-house), after a 30-day ramp-up. Their numbers, shared with us directly:</a:t>
            </a:r>
            <a:endParaRPr lang="en-US" sz="1500" dirty="0"/>
          </a:p>
        </p:txBody>
      </p:sp>
      <p:sp>
        <p:nvSpPr>
          <p:cNvPr id="4" name="Shape 2"/>
          <p:cNvSpPr/>
          <p:nvPr/>
        </p:nvSpPr>
        <p:spPr>
          <a:xfrm>
            <a:off x="548640" y="1737360"/>
            <a:ext cx="3520440" cy="1691640"/>
          </a:xfrm>
          <a:prstGeom prst="roundRect">
            <a:avLst>
              <a:gd name="adj" fmla="val 4324"/>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1938528"/>
            <a:ext cx="457200" cy="457200"/>
          </a:xfrm>
          <a:prstGeom prst="rect">
            <a:avLst/>
          </a:prstGeom>
        </p:spPr>
      </p:pic>
      <p:sp>
        <p:nvSpPr>
          <p:cNvPr id="6" name="Text 3"/>
          <p:cNvSpPr/>
          <p:nvPr/>
        </p:nvSpPr>
        <p:spPr>
          <a:xfrm>
            <a:off x="1463040" y="1810512"/>
            <a:ext cx="2514600" cy="731520"/>
          </a:xfrm>
          <a:prstGeom prst="rect">
            <a:avLst/>
          </a:prstGeom>
          <a:noFill/>
          <a:ln/>
        </p:spPr>
        <p:txBody>
          <a:bodyPr wrap="square" lIns="0" tIns="0" rIns="0" bIns="0" rtlCol="0" anchor="ctr"/>
          <a:lstStyle/>
          <a:p>
            <a:pPr indent="0" marL="0">
              <a:buNone/>
            </a:pPr>
            <a:r>
              <a:rPr lang="en-US" sz="3400" b="1" dirty="0">
                <a:solidFill>
                  <a:srgbClr val="C8102E"/>
                </a:solidFill>
                <a:latin typeface="Arial" pitchFamily="34" charset="0"/>
                <a:ea typeface="Arial" pitchFamily="34" charset="-122"/>
                <a:cs typeface="Arial" pitchFamily="34" charset="-120"/>
              </a:rPr>
              <a:t>31</a:t>
            </a:r>
            <a:endParaRPr lang="en-US" sz="3400" dirty="0"/>
          </a:p>
        </p:txBody>
      </p:sp>
      <p:sp>
        <p:nvSpPr>
          <p:cNvPr id="7" name="Text 4"/>
          <p:cNvSpPr/>
          <p:nvPr/>
        </p:nvSpPr>
        <p:spPr>
          <a:xfrm>
            <a:off x="822960" y="2606040"/>
            <a:ext cx="2971800" cy="731520"/>
          </a:xfrm>
          <a:prstGeom prst="rect">
            <a:avLst/>
          </a:prstGeom>
          <a:noFill/>
          <a:ln/>
        </p:spPr>
        <p:txBody>
          <a:bodyPr wrap="square" lIns="0" tIns="0" rIns="0" bIns="0" rtlCol="0" anchor="ctr"/>
          <a:lstStyle/>
          <a:p>
            <a:pPr indent="0" marL="0">
              <a:buNone/>
            </a:pPr>
            <a:r>
              <a:rPr lang="en-US" sz="1150" dirty="0">
                <a:solidFill>
                  <a:srgbClr val="2A2A2A"/>
                </a:solidFill>
                <a:latin typeface="Arial" pitchFamily="34" charset="0"/>
                <a:ea typeface="Arial" pitchFamily="34" charset="-122"/>
                <a:cs typeface="Arial" pitchFamily="34" charset="-120"/>
              </a:rPr>
              <a:t>extra roofs signed in 128 selling days</a:t>
            </a:r>
            <a:endParaRPr lang="en-US" sz="1150" dirty="0"/>
          </a:p>
        </p:txBody>
      </p:sp>
      <p:sp>
        <p:nvSpPr>
          <p:cNvPr id="8" name="Shape 5"/>
          <p:cNvSpPr/>
          <p:nvPr/>
        </p:nvSpPr>
        <p:spPr>
          <a:xfrm>
            <a:off x="4343400" y="1737360"/>
            <a:ext cx="3520440" cy="1691640"/>
          </a:xfrm>
          <a:prstGeom prst="roundRect">
            <a:avLst>
              <a:gd name="adj" fmla="val 4324"/>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4617720" y="1938528"/>
            <a:ext cx="457200" cy="457200"/>
          </a:xfrm>
          <a:prstGeom prst="rect">
            <a:avLst/>
          </a:prstGeom>
        </p:spPr>
      </p:pic>
      <p:sp>
        <p:nvSpPr>
          <p:cNvPr id="10" name="Text 6"/>
          <p:cNvSpPr/>
          <p:nvPr/>
        </p:nvSpPr>
        <p:spPr>
          <a:xfrm>
            <a:off x="5257800" y="1810512"/>
            <a:ext cx="2514600" cy="731520"/>
          </a:xfrm>
          <a:prstGeom prst="rect">
            <a:avLst/>
          </a:prstGeom>
          <a:noFill/>
          <a:ln/>
        </p:spPr>
        <p:txBody>
          <a:bodyPr wrap="square" lIns="0" tIns="0" rIns="0" bIns="0" rtlCol="0" anchor="ctr"/>
          <a:lstStyle/>
          <a:p>
            <a:pPr indent="0" marL="0">
              <a:buNone/>
            </a:pPr>
            <a:r>
              <a:rPr lang="en-US" sz="3400" b="1" dirty="0">
                <a:solidFill>
                  <a:srgbClr val="C8102E"/>
                </a:solidFill>
                <a:latin typeface="Arial" pitchFamily="34" charset="0"/>
                <a:ea typeface="Arial" pitchFamily="34" charset="-122"/>
                <a:cs typeface="Arial" pitchFamily="34" charset="-120"/>
              </a:rPr>
              <a:t>$627,000</a:t>
            </a:r>
            <a:endParaRPr lang="en-US" sz="3400" dirty="0"/>
          </a:p>
        </p:txBody>
      </p:sp>
      <p:sp>
        <p:nvSpPr>
          <p:cNvPr id="11" name="Text 7"/>
          <p:cNvSpPr/>
          <p:nvPr/>
        </p:nvSpPr>
        <p:spPr>
          <a:xfrm>
            <a:off x="4617720" y="2606040"/>
            <a:ext cx="2971800" cy="731520"/>
          </a:xfrm>
          <a:prstGeom prst="rect">
            <a:avLst/>
          </a:prstGeom>
          <a:noFill/>
          <a:ln/>
        </p:spPr>
        <p:txBody>
          <a:bodyPr wrap="square" lIns="0" tIns="0" rIns="0" bIns="0" rtlCol="0" anchor="ctr"/>
          <a:lstStyle/>
          <a:p>
            <a:pPr indent="0" marL="0">
              <a:buNone/>
            </a:pPr>
            <a:r>
              <a:rPr lang="en-US" sz="1150" dirty="0">
                <a:solidFill>
                  <a:srgbClr val="2A2A2A"/>
                </a:solidFill>
                <a:latin typeface="Arial" pitchFamily="34" charset="0"/>
                <a:ea typeface="Arial" pitchFamily="34" charset="-122"/>
                <a:cs typeface="Arial" pitchFamily="34" charset="-120"/>
              </a:rPr>
              <a:t>in extra revenue those roofs produced</a:t>
            </a:r>
            <a:endParaRPr lang="en-US" sz="1150" dirty="0"/>
          </a:p>
        </p:txBody>
      </p:sp>
      <p:sp>
        <p:nvSpPr>
          <p:cNvPr id="12" name="Shape 8"/>
          <p:cNvSpPr/>
          <p:nvPr/>
        </p:nvSpPr>
        <p:spPr>
          <a:xfrm>
            <a:off x="8138160" y="1737360"/>
            <a:ext cx="3520440" cy="1691640"/>
          </a:xfrm>
          <a:prstGeom prst="roundRect">
            <a:avLst>
              <a:gd name="adj" fmla="val 4324"/>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412480" y="1938528"/>
            <a:ext cx="457200" cy="457200"/>
          </a:xfrm>
          <a:prstGeom prst="rect">
            <a:avLst/>
          </a:prstGeom>
        </p:spPr>
      </p:pic>
      <p:sp>
        <p:nvSpPr>
          <p:cNvPr id="14" name="Text 9"/>
          <p:cNvSpPr/>
          <p:nvPr/>
        </p:nvSpPr>
        <p:spPr>
          <a:xfrm>
            <a:off x="9052560" y="1810512"/>
            <a:ext cx="2514600" cy="731520"/>
          </a:xfrm>
          <a:prstGeom prst="rect">
            <a:avLst/>
          </a:prstGeom>
          <a:noFill/>
          <a:ln/>
        </p:spPr>
        <p:txBody>
          <a:bodyPr wrap="square" lIns="0" tIns="0" rIns="0" bIns="0" rtlCol="0" anchor="ctr"/>
          <a:lstStyle/>
          <a:p>
            <a:pPr indent="0" marL="0">
              <a:buNone/>
            </a:pPr>
            <a:r>
              <a:rPr lang="en-US" sz="3400" b="1" dirty="0">
                <a:solidFill>
                  <a:srgbClr val="C8102E"/>
                </a:solidFill>
                <a:latin typeface="Arial" pitchFamily="34" charset="0"/>
                <a:ea typeface="Arial" pitchFamily="34" charset="-122"/>
                <a:cs typeface="Arial" pitchFamily="34" charset="-120"/>
              </a:rPr>
              <a:t>$7,100</a:t>
            </a:r>
            <a:endParaRPr lang="en-US" sz="3400" dirty="0"/>
          </a:p>
        </p:txBody>
      </p:sp>
      <p:sp>
        <p:nvSpPr>
          <p:cNvPr id="15" name="Text 10"/>
          <p:cNvSpPr/>
          <p:nvPr/>
        </p:nvSpPr>
        <p:spPr>
          <a:xfrm>
            <a:off x="8412480" y="2606040"/>
            <a:ext cx="2971800" cy="731520"/>
          </a:xfrm>
          <a:prstGeom prst="rect">
            <a:avLst/>
          </a:prstGeom>
          <a:noFill/>
          <a:ln/>
        </p:spPr>
        <p:txBody>
          <a:bodyPr wrap="square" lIns="0" tIns="0" rIns="0" bIns="0" rtlCol="0" anchor="ctr"/>
          <a:lstStyle/>
          <a:p>
            <a:pPr indent="0" marL="0">
              <a:buNone/>
            </a:pPr>
            <a:r>
              <a:rPr lang="en-US" sz="1150" dirty="0">
                <a:solidFill>
                  <a:srgbClr val="2A2A2A"/>
                </a:solidFill>
                <a:latin typeface="Arial" pitchFamily="34" charset="0"/>
                <a:ea typeface="Arial" pitchFamily="34" charset="-122"/>
                <a:cs typeface="Arial" pitchFamily="34" charset="-120"/>
              </a:rPr>
              <a:t>total data + outreach cost — 1.1% of the revenue it generated</a:t>
            </a:r>
            <a:endParaRPr lang="en-US" sz="1150" dirty="0"/>
          </a:p>
        </p:txBody>
      </p:sp>
      <p:sp>
        <p:nvSpPr>
          <p:cNvPr id="16" name="Shape 11"/>
          <p:cNvSpPr/>
          <p:nvPr/>
        </p:nvSpPr>
        <p:spPr>
          <a:xfrm>
            <a:off x="548640" y="3657600"/>
            <a:ext cx="3291840" cy="1325880"/>
          </a:xfrm>
          <a:prstGeom prst="roundRect">
            <a:avLst>
              <a:gd name="adj" fmla="val 5517"/>
            </a:avLst>
          </a:prstGeom>
          <a:solidFill>
            <a:srgbClr val="F5F5F5"/>
          </a:solidFill>
          <a:ln/>
        </p:spPr>
      </p:sp>
      <p:sp>
        <p:nvSpPr>
          <p:cNvPr id="17" name="Text 12"/>
          <p:cNvSpPr/>
          <p:nvPr/>
        </p:nvSpPr>
        <p:spPr>
          <a:xfrm>
            <a:off x="822960" y="3767328"/>
            <a:ext cx="2743200" cy="548640"/>
          </a:xfrm>
          <a:prstGeom prst="rect">
            <a:avLst/>
          </a:prstGeom>
          <a:noFill/>
          <a:ln/>
        </p:spPr>
        <p:txBody>
          <a:bodyPr wrap="square" lIns="0" tIns="0" rIns="0" bIns="0" rtlCol="0" anchor="ctr"/>
          <a:lstStyle/>
          <a:p>
            <a:pPr indent="0" marL="0">
              <a:buNone/>
            </a:pPr>
            <a:r>
              <a:rPr lang="en-US" sz="2800" b="1" dirty="0">
                <a:solidFill>
                  <a:srgbClr val="C8102E"/>
                </a:solidFill>
                <a:latin typeface="Arial" pitchFamily="34" charset="0"/>
                <a:ea typeface="Arial" pitchFamily="34" charset="-122"/>
                <a:cs typeface="Arial" pitchFamily="34" charset="-120"/>
              </a:rPr>
              <a:t>3,177</a:t>
            </a:r>
            <a:endParaRPr lang="en-US" sz="2800" dirty="0"/>
          </a:p>
        </p:txBody>
      </p:sp>
      <p:sp>
        <p:nvSpPr>
          <p:cNvPr id="18" name="Text 13"/>
          <p:cNvSpPr/>
          <p:nvPr/>
        </p:nvSpPr>
        <p:spPr>
          <a:xfrm>
            <a:off x="822960" y="4315968"/>
            <a:ext cx="2743200" cy="292608"/>
          </a:xfrm>
          <a:prstGeom prst="rect">
            <a:avLst/>
          </a:prstGeom>
          <a:noFill/>
          <a:ln/>
        </p:spPr>
        <p:txBody>
          <a:bodyPr wrap="square" lIns="0" tIns="0" rIns="0" bIns="0" rtlCol="0" anchor="ctr"/>
          <a:lstStyle/>
          <a:p>
            <a:pPr indent="0" marL="0">
              <a:buNone/>
            </a:pPr>
            <a:r>
              <a:rPr lang="en-US" sz="1250" b="1" dirty="0">
                <a:solidFill>
                  <a:srgbClr val="111111"/>
                </a:solidFill>
                <a:latin typeface="Arial" pitchFamily="34" charset="0"/>
                <a:ea typeface="Arial" pitchFamily="34" charset="-122"/>
                <a:cs typeface="Arial" pitchFamily="34" charset="-120"/>
              </a:rPr>
              <a:t>homeowners called</a:t>
            </a:r>
            <a:endParaRPr lang="en-US" sz="1250" dirty="0"/>
          </a:p>
        </p:txBody>
      </p:sp>
      <p:sp>
        <p:nvSpPr>
          <p:cNvPr id="19" name="Text 14"/>
          <p:cNvSpPr/>
          <p:nvPr/>
        </p:nvSpPr>
        <p:spPr>
          <a:xfrm>
            <a:off x="822960" y="4617720"/>
            <a:ext cx="2743200" cy="292608"/>
          </a:xfrm>
          <a:prstGeom prst="rect">
            <a:avLst/>
          </a:prstGeom>
          <a:noFill/>
          <a:ln/>
        </p:spPr>
        <p:txBody>
          <a:bodyPr wrap="square" lIns="0" tIns="0" rIns="0" bIns="0" rtlCol="0" anchor="ctr"/>
          <a:lstStyle/>
          <a:p>
            <a:pPr indent="0" marL="0">
              <a:buNone/>
            </a:pPr>
            <a:r>
              <a:rPr lang="en-US" sz="1050" dirty="0">
                <a:solidFill>
                  <a:srgbClr val="6E6E6E"/>
                </a:solidFill>
                <a:latin typeface="Arial" pitchFamily="34" charset="0"/>
                <a:ea typeface="Arial" pitchFamily="34" charset="-122"/>
                <a:cs typeface="Arial" pitchFamily="34" charset="-120"/>
              </a:rPr>
              <a:t>2 dialers, verified-damage lists</a:t>
            </a:r>
            <a:endParaRPr lang="en-US" sz="1050" dirty="0"/>
          </a:p>
        </p:txBody>
      </p:sp>
      <p:sp>
        <p:nvSpPr>
          <p:cNvPr id="20" name="Text 15"/>
          <p:cNvSpPr/>
          <p:nvPr/>
        </p:nvSpPr>
        <p:spPr>
          <a:xfrm>
            <a:off x="3858768" y="4069080"/>
            <a:ext cx="457200" cy="457200"/>
          </a:xfrm>
          <a:prstGeom prst="rect">
            <a:avLst/>
          </a:prstGeom>
          <a:noFill/>
          <a:ln/>
        </p:spPr>
        <p:txBody>
          <a:bodyPr wrap="square" lIns="0" tIns="0" rIns="0" bIns="0" rtlCol="0" anchor="ctr"/>
          <a:lstStyle/>
          <a:p>
            <a:pPr algn="ctr" indent="0" marL="0">
              <a:buNone/>
            </a:pPr>
            <a:r>
              <a:rPr lang="en-US" sz="2200" b="1" dirty="0">
                <a:solidFill>
                  <a:srgbClr val="C8102E"/>
                </a:solidFill>
                <a:latin typeface="Arial" pitchFamily="34" charset="0"/>
                <a:ea typeface="Arial" pitchFamily="34" charset="-122"/>
                <a:cs typeface="Arial" pitchFamily="34" charset="-120"/>
              </a:rPr>
              <a:t>→</a:t>
            </a:r>
            <a:endParaRPr lang="en-US" sz="2200" dirty="0"/>
          </a:p>
        </p:txBody>
      </p:sp>
      <p:sp>
        <p:nvSpPr>
          <p:cNvPr id="21" name="Shape 16"/>
          <p:cNvSpPr/>
          <p:nvPr/>
        </p:nvSpPr>
        <p:spPr>
          <a:xfrm>
            <a:off x="4343400" y="3657600"/>
            <a:ext cx="3291840" cy="1325880"/>
          </a:xfrm>
          <a:prstGeom prst="roundRect">
            <a:avLst>
              <a:gd name="adj" fmla="val 5517"/>
            </a:avLst>
          </a:prstGeom>
          <a:solidFill>
            <a:srgbClr val="F5F5F5"/>
          </a:solidFill>
          <a:ln/>
        </p:spPr>
      </p:sp>
      <p:sp>
        <p:nvSpPr>
          <p:cNvPr id="22" name="Text 17"/>
          <p:cNvSpPr/>
          <p:nvPr/>
        </p:nvSpPr>
        <p:spPr>
          <a:xfrm>
            <a:off x="4617720" y="3767328"/>
            <a:ext cx="2743200" cy="548640"/>
          </a:xfrm>
          <a:prstGeom prst="rect">
            <a:avLst/>
          </a:prstGeom>
          <a:noFill/>
          <a:ln/>
        </p:spPr>
        <p:txBody>
          <a:bodyPr wrap="square" lIns="0" tIns="0" rIns="0" bIns="0" rtlCol="0" anchor="ctr"/>
          <a:lstStyle/>
          <a:p>
            <a:pPr indent="0" marL="0">
              <a:buNone/>
            </a:pPr>
            <a:r>
              <a:rPr lang="en-US" sz="2800" b="1" dirty="0">
                <a:solidFill>
                  <a:srgbClr val="C8102E"/>
                </a:solidFill>
                <a:latin typeface="Arial" pitchFamily="34" charset="0"/>
                <a:ea typeface="Arial" pitchFamily="34" charset="-122"/>
                <a:cs typeface="Arial" pitchFamily="34" charset="-120"/>
              </a:rPr>
              <a:t>105</a:t>
            </a:r>
            <a:endParaRPr lang="en-US" sz="2800" dirty="0"/>
          </a:p>
        </p:txBody>
      </p:sp>
      <p:sp>
        <p:nvSpPr>
          <p:cNvPr id="23" name="Text 18"/>
          <p:cNvSpPr/>
          <p:nvPr/>
        </p:nvSpPr>
        <p:spPr>
          <a:xfrm>
            <a:off x="4617720" y="4315968"/>
            <a:ext cx="2743200" cy="292608"/>
          </a:xfrm>
          <a:prstGeom prst="rect">
            <a:avLst/>
          </a:prstGeom>
          <a:noFill/>
          <a:ln/>
        </p:spPr>
        <p:txBody>
          <a:bodyPr wrap="square" lIns="0" tIns="0" rIns="0" bIns="0" rtlCol="0" anchor="ctr"/>
          <a:lstStyle/>
          <a:p>
            <a:pPr indent="0" marL="0">
              <a:buNone/>
            </a:pPr>
            <a:r>
              <a:rPr lang="en-US" sz="1250" b="1" dirty="0">
                <a:solidFill>
                  <a:srgbClr val="111111"/>
                </a:solidFill>
                <a:latin typeface="Arial" pitchFamily="34" charset="0"/>
                <a:ea typeface="Arial" pitchFamily="34" charset="-122"/>
                <a:cs typeface="Arial" pitchFamily="34" charset="-120"/>
              </a:rPr>
              <a:t>inspections booked</a:t>
            </a:r>
            <a:endParaRPr lang="en-US" sz="1250" dirty="0"/>
          </a:p>
        </p:txBody>
      </p:sp>
      <p:sp>
        <p:nvSpPr>
          <p:cNvPr id="24" name="Text 19"/>
          <p:cNvSpPr/>
          <p:nvPr/>
        </p:nvSpPr>
        <p:spPr>
          <a:xfrm>
            <a:off x="4617720" y="4617720"/>
            <a:ext cx="2743200" cy="292608"/>
          </a:xfrm>
          <a:prstGeom prst="rect">
            <a:avLst/>
          </a:prstGeom>
          <a:noFill/>
          <a:ln/>
        </p:spPr>
        <p:txBody>
          <a:bodyPr wrap="square" lIns="0" tIns="0" rIns="0" bIns="0" rtlCol="0" anchor="ctr"/>
          <a:lstStyle/>
          <a:p>
            <a:pPr indent="0" marL="0">
              <a:buNone/>
            </a:pPr>
            <a:r>
              <a:rPr lang="en-US" sz="1050" dirty="0">
                <a:solidFill>
                  <a:srgbClr val="6E6E6E"/>
                </a:solidFill>
                <a:latin typeface="Arial" pitchFamily="34" charset="0"/>
                <a:ea typeface="Arial" pitchFamily="34" charset="-122"/>
                <a:cs typeface="Arial" pitchFamily="34" charset="-120"/>
              </a:rPr>
              <a:t>3.3% of calls</a:t>
            </a:r>
            <a:endParaRPr lang="en-US" sz="1050" dirty="0"/>
          </a:p>
        </p:txBody>
      </p:sp>
      <p:sp>
        <p:nvSpPr>
          <p:cNvPr id="25" name="Text 20"/>
          <p:cNvSpPr/>
          <p:nvPr/>
        </p:nvSpPr>
        <p:spPr>
          <a:xfrm>
            <a:off x="7653528" y="4069080"/>
            <a:ext cx="457200" cy="457200"/>
          </a:xfrm>
          <a:prstGeom prst="rect">
            <a:avLst/>
          </a:prstGeom>
          <a:noFill/>
          <a:ln/>
        </p:spPr>
        <p:txBody>
          <a:bodyPr wrap="square" lIns="0" tIns="0" rIns="0" bIns="0" rtlCol="0" anchor="ctr"/>
          <a:lstStyle/>
          <a:p>
            <a:pPr algn="ctr" indent="0" marL="0">
              <a:buNone/>
            </a:pPr>
            <a:r>
              <a:rPr lang="en-US" sz="2200" b="1" dirty="0">
                <a:solidFill>
                  <a:srgbClr val="C8102E"/>
                </a:solidFill>
                <a:latin typeface="Arial" pitchFamily="34" charset="0"/>
                <a:ea typeface="Arial" pitchFamily="34" charset="-122"/>
                <a:cs typeface="Arial" pitchFamily="34" charset="-120"/>
              </a:rPr>
              <a:t>→</a:t>
            </a:r>
            <a:endParaRPr lang="en-US" sz="2200" dirty="0"/>
          </a:p>
        </p:txBody>
      </p:sp>
      <p:sp>
        <p:nvSpPr>
          <p:cNvPr id="26" name="Shape 21"/>
          <p:cNvSpPr/>
          <p:nvPr/>
        </p:nvSpPr>
        <p:spPr>
          <a:xfrm>
            <a:off x="8138160" y="3657600"/>
            <a:ext cx="3291840" cy="1325880"/>
          </a:xfrm>
          <a:prstGeom prst="roundRect">
            <a:avLst>
              <a:gd name="adj" fmla="val 5517"/>
            </a:avLst>
          </a:prstGeom>
          <a:solidFill>
            <a:srgbClr val="111111"/>
          </a:solidFill>
          <a:ln/>
        </p:spPr>
      </p:sp>
      <p:sp>
        <p:nvSpPr>
          <p:cNvPr id="27" name="Text 22"/>
          <p:cNvSpPr/>
          <p:nvPr/>
        </p:nvSpPr>
        <p:spPr>
          <a:xfrm>
            <a:off x="8412480" y="3767328"/>
            <a:ext cx="2743200" cy="548640"/>
          </a:xfrm>
          <a:prstGeom prst="rect">
            <a:avLst/>
          </a:prstGeom>
          <a:noFill/>
          <a:ln/>
        </p:spPr>
        <p:txBody>
          <a:bodyPr wrap="square" lIns="0" tIns="0" rIns="0" bIns="0" rtlCol="0" anchor="ctr"/>
          <a:lstStyle/>
          <a:p>
            <a:pPr indent="0" marL="0">
              <a:buNone/>
            </a:pPr>
            <a:r>
              <a:rPr lang="en-US" sz="2800" b="1" dirty="0">
                <a:solidFill>
                  <a:srgbClr val="C8102E"/>
                </a:solidFill>
                <a:latin typeface="Arial" pitchFamily="34" charset="0"/>
                <a:ea typeface="Arial" pitchFamily="34" charset="-122"/>
                <a:cs typeface="Arial" pitchFamily="34" charset="-120"/>
              </a:rPr>
              <a:t>31</a:t>
            </a:r>
            <a:endParaRPr lang="en-US" sz="2800" dirty="0"/>
          </a:p>
        </p:txBody>
      </p:sp>
      <p:sp>
        <p:nvSpPr>
          <p:cNvPr id="28" name="Text 23"/>
          <p:cNvSpPr/>
          <p:nvPr/>
        </p:nvSpPr>
        <p:spPr>
          <a:xfrm>
            <a:off x="8412480" y="4315968"/>
            <a:ext cx="2743200" cy="29260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contracts signed</a:t>
            </a:r>
            <a:endParaRPr lang="en-US" sz="1250" dirty="0"/>
          </a:p>
        </p:txBody>
      </p:sp>
      <p:sp>
        <p:nvSpPr>
          <p:cNvPr id="29" name="Text 24"/>
          <p:cNvSpPr/>
          <p:nvPr/>
        </p:nvSpPr>
        <p:spPr>
          <a:xfrm>
            <a:off x="8412480" y="4617720"/>
            <a:ext cx="2743200" cy="292608"/>
          </a:xfrm>
          <a:prstGeom prst="rect">
            <a:avLst/>
          </a:prstGeom>
          <a:noFill/>
          <a:ln/>
        </p:spPr>
        <p:txBody>
          <a:bodyPr wrap="square" lIns="0" tIns="0" rIns="0" bIns="0" rtlCol="0" anchor="ctr"/>
          <a:lstStyle/>
          <a:p>
            <a:pPr indent="0" marL="0">
              <a:buNone/>
            </a:pPr>
            <a:r>
              <a:rPr lang="en-US" sz="1050" dirty="0">
                <a:solidFill>
                  <a:srgbClr val="CFCFCF"/>
                </a:solidFill>
                <a:latin typeface="Arial" pitchFamily="34" charset="0"/>
                <a:ea typeface="Arial" pitchFamily="34" charset="-122"/>
                <a:cs typeface="Arial" pitchFamily="34" charset="-120"/>
              </a:rPr>
              <a:t>29.5% of inspections</a:t>
            </a:r>
            <a:endParaRPr lang="en-US" sz="1050" dirty="0"/>
          </a:p>
        </p:txBody>
      </p:sp>
      <p:sp>
        <p:nvSpPr>
          <p:cNvPr id="30" name="Text 25"/>
          <p:cNvSpPr/>
          <p:nvPr/>
        </p:nvSpPr>
        <p:spPr>
          <a:xfrm>
            <a:off x="548640" y="5047488"/>
            <a:ext cx="11064240" cy="438912"/>
          </a:xfrm>
          <a:prstGeom prst="rect">
            <a:avLst/>
          </a:prstGeom>
          <a:noFill/>
          <a:ln/>
        </p:spPr>
        <p:txBody>
          <a:bodyPr wrap="square" lIns="0" tIns="0" rIns="0" bIns="0" rtlCol="0" anchor="ctr"/>
          <a:lstStyle/>
          <a:p>
            <a:pPr indent="0" marL="0">
              <a:buNone/>
            </a:pPr>
            <a:r>
              <a:rPr lang="en-US" sz="1200" i="1" dirty="0">
                <a:solidFill>
                  <a:srgbClr val="2A2A2A"/>
                </a:solidFill>
                <a:latin typeface="Arial" pitchFamily="34" charset="0"/>
                <a:ea typeface="Arial" pitchFamily="34" charset="-122"/>
                <a:cs typeface="Arial" pitchFamily="34" charset="-120"/>
              </a:rPr>
              <a:t>Their average ticket: ~$20,200. The same 31 roofs at T^Rock's $30,000 ticket ≈ $930,000 revenue — ~$159,000 net to T^Rock.</a:t>
            </a:r>
            <a:endParaRPr lang="en-US" sz="1200" dirty="0"/>
          </a:p>
        </p:txBody>
      </p:sp>
      <p:sp>
        <p:nvSpPr>
          <p:cNvPr id="31" name="Shape 26"/>
          <p:cNvSpPr/>
          <p:nvPr/>
        </p:nvSpPr>
        <p:spPr>
          <a:xfrm>
            <a:off x="548640" y="5532120"/>
            <a:ext cx="11064240" cy="731520"/>
          </a:xfrm>
          <a:prstGeom prst="roundRect">
            <a:avLst>
              <a:gd name="adj" fmla="val 7500"/>
            </a:avLst>
          </a:prstGeom>
          <a:solidFill>
            <a:srgbClr val="111111"/>
          </a:solidFill>
          <a:ln/>
        </p:spPr>
      </p:sp>
      <p:sp>
        <p:nvSpPr>
          <p:cNvPr id="32" name="Text 27"/>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$7,100 in, $627,000 out — an 88× return, at $229 per signed roof. </a:t>
            </a:r>
            <a:pPr indent="0" marL="0">
              <a:buNone/>
            </a:pPr>
            <a:r>
              <a:rPr lang="en-US" sz="1350" dirty="0">
                <a:solidFill>
                  <a:srgbClr val="E6E6E6"/>
                </a:solidFill>
                <a:latin typeface="Arial" pitchFamily="34" charset="0"/>
                <a:ea typeface="Arial" pitchFamily="34" charset="-122"/>
                <a:cs typeface="Arial" pitchFamily="34" charset="-120"/>
              </a:rPr>
              <a:t>That's the benchmark our 90-day scorecard is aiming at.</a:t>
            </a:r>
            <a:endParaRPr lang="en-US" sz="1350" dirty="0"/>
          </a:p>
        </p:txBody>
      </p:sp>
      <p:sp>
        <p:nvSpPr>
          <p:cNvPr id="33" name="Text 2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Operator-reported figures shared with us directly; company name withheld at their request. 128 selling days followed a 30-day ramp — roughly their first 4 months on the system.</a:t>
            </a:r>
            <a:endParaRPr lang="en-US" sz="900" dirty="0"/>
          </a:p>
        </p:txBody>
      </p:sp>
      <p:sp>
        <p:nvSpPr>
          <p:cNvPr id="34" name="Text 2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pic>
        <p:nvPicPr>
          <p:cNvPr id="5" name="Image 0" descr="preencoded.png">    </p:cNvPr>
          <p:cNvPicPr>
            <a:picLocks noChangeAspect="1"/>
          </p:cNvPicPr>
          <p:nvPr/>
        </p:nvPicPr>
        <p:blipFill>
          <a:blip r:embed="rId1"/>
          <a:stretch>
            <a:fillRect/>
          </a:stretch>
        </p:blipFill>
        <p:spPr>
          <a:xfrm>
            <a:off x="685800" y="5074920"/>
            <a:ext cx="594360" cy="594360"/>
          </a:xfrm>
          <a:prstGeom prst="rect">
            <a:avLst/>
          </a:prstGeom>
        </p:spPr>
      </p:pic>
      <p:sp>
        <p:nvSpPr>
          <p:cNvPr id="6" name="Text 2"/>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7" name="Text 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8" name="Text 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645920"/>
            <a:ext cx="594360" cy="594360"/>
          </a:xfrm>
          <a:prstGeom prst="rect">
            <a:avLst/>
          </a:prstGeom>
        </p:spPr>
      </p:pic>
      <p:sp>
        <p:nvSpPr>
          <p:cNvPr id="5" name="Text 2"/>
          <p:cNvSpPr/>
          <p:nvPr/>
        </p:nvSpPr>
        <p:spPr>
          <a:xfrm>
            <a:off x="1600200" y="159105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“Isn't the ‘limited offer’ a sales tactic?”</a:t>
            </a:r>
            <a:endParaRPr lang="en-US" sz="1500" dirty="0"/>
          </a:p>
        </p:txBody>
      </p:sp>
      <p:sp>
        <p:nvSpPr>
          <p:cNvPr id="6" name="Text 3"/>
          <p:cNvSpPr/>
          <p:nvPr/>
        </p:nvSpPr>
        <p:spPr>
          <a:xfrm>
            <a:off x="1600200" y="217627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7" name="Shape 4"/>
          <p:cNvSpPr/>
          <p:nvPr/>
        </p:nvSpPr>
        <p:spPr>
          <a:xfrm>
            <a:off x="6217920" y="1371600"/>
            <a:ext cx="5394960" cy="2194560"/>
          </a:xfrm>
          <a:prstGeom prst="roundRect">
            <a:avLst>
              <a:gd name="adj" fmla="val 3333"/>
            </a:avLst>
          </a:prstGeom>
          <a:solidFill>
            <a:srgbClr val="F5F5F5"/>
          </a:solidFill>
          <a:ln/>
        </p:spPr>
      </p:sp>
      <p:pic>
        <p:nvPicPr>
          <p:cNvPr id="8" name="Image 1" descr="preencoded.png">    </p:cNvPr>
          <p:cNvPicPr>
            <a:picLocks noChangeAspect="1"/>
          </p:cNvPicPr>
          <p:nvPr/>
        </p:nvPicPr>
        <p:blipFill>
          <a:blip r:embed="rId2"/>
          <a:stretch>
            <a:fillRect/>
          </a:stretch>
        </p:blipFill>
        <p:spPr>
          <a:xfrm>
            <a:off x="6492240" y="1645920"/>
            <a:ext cx="594360" cy="594360"/>
          </a:xfrm>
          <a:prstGeom prst="rect">
            <a:avLst/>
          </a:prstGeom>
        </p:spPr>
      </p:pic>
      <p:sp>
        <p:nvSpPr>
          <p:cNvPr id="9" name="Text 5"/>
          <p:cNvSpPr/>
          <p:nvPr/>
        </p:nvSpPr>
        <p:spPr>
          <a:xfrm>
            <a:off x="7269480" y="159105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“Their case studies are marketing.”</a:t>
            </a:r>
            <a:endParaRPr lang="en-US" sz="1500" dirty="0"/>
          </a:p>
        </p:txBody>
      </p:sp>
      <p:sp>
        <p:nvSpPr>
          <p:cNvPr id="10" name="Text 6"/>
          <p:cNvSpPr/>
          <p:nvPr/>
        </p:nvSpPr>
        <p:spPr>
          <a:xfrm>
            <a:off x="7269480" y="217627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The ones on their website, yes — vendor-published, no audits. Company A is different: an operator's own numbers shared with us directly. Still unaudited, which is why the proof period keeps our own scorecard.</a:t>
            </a:r>
            <a:endParaRPr lang="en-US" sz="1200" dirty="0"/>
          </a:p>
        </p:txBody>
      </p:sp>
      <p:sp>
        <p:nvSpPr>
          <p:cNvPr id="11" name="Shape 7"/>
          <p:cNvSpPr/>
          <p:nvPr/>
        </p:nvSpPr>
        <p:spPr>
          <a:xfrm>
            <a:off x="548640" y="3794760"/>
            <a:ext cx="5394960" cy="2194560"/>
          </a:xfrm>
          <a:prstGeom prst="roundRect">
            <a:avLst>
              <a:gd name="adj" fmla="val 3333"/>
            </a:avLst>
          </a:prstGeom>
          <a:solidFill>
            <a:srgbClr val="F5F5F5"/>
          </a:solidFill>
          <a:ln/>
        </p:spPr>
      </p:sp>
      <p:pic>
        <p:nvPicPr>
          <p:cNvPr id="12" name="Image 2" descr="preencoded.png">    </p:cNvPr>
          <p:cNvPicPr>
            <a:picLocks noChangeAspect="1"/>
          </p:cNvPicPr>
          <p:nvPr/>
        </p:nvPicPr>
        <p:blipFill>
          <a:blip r:embed="rId3"/>
          <a:stretch>
            <a:fillRect/>
          </a:stretch>
        </p:blipFill>
        <p:spPr>
          <a:xfrm>
            <a:off x="822960" y="4069080"/>
            <a:ext cx="594360" cy="594360"/>
          </a:xfrm>
          <a:prstGeom prst="rect">
            <a:avLst/>
          </a:prstGeom>
        </p:spPr>
      </p:pic>
      <p:sp>
        <p:nvSpPr>
          <p:cNvPr id="13" name="Text 8"/>
          <p:cNvSpPr/>
          <p:nvPr/>
        </p:nvSpPr>
        <p:spPr>
          <a:xfrm>
            <a:off x="1600200" y="401421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“Is the damage data real?”</a:t>
            </a:r>
            <a:endParaRPr lang="en-US" sz="1500" dirty="0"/>
          </a:p>
        </p:txBody>
      </p:sp>
      <p:sp>
        <p:nvSpPr>
          <p:cNvPr id="14" name="Text 9"/>
          <p:cNvSpPr/>
          <p:nvPr/>
        </p:nvSpPr>
        <p:spPr>
          <a:xfrm>
            <a:off x="1600200" y="459943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5" name="Shape 10"/>
          <p:cNvSpPr/>
          <p:nvPr/>
        </p:nvSpPr>
        <p:spPr>
          <a:xfrm>
            <a:off x="6217920" y="3794760"/>
            <a:ext cx="5394960" cy="2194560"/>
          </a:xfrm>
          <a:prstGeom prst="roundRect">
            <a:avLst>
              <a:gd name="adj" fmla="val 3333"/>
            </a:avLst>
          </a:prstGeom>
          <a:solidFill>
            <a:srgbClr val="F5F5F5"/>
          </a:solidFill>
          <a:ln/>
        </p:spPr>
      </p:sp>
      <p:pic>
        <p:nvPicPr>
          <p:cNvPr id="16" name="Image 3" descr="preencoded.png">    </p:cNvPr>
          <p:cNvPicPr>
            <a:picLocks noChangeAspect="1"/>
          </p:cNvPicPr>
          <p:nvPr/>
        </p:nvPicPr>
        <p:blipFill>
          <a:blip r:embed="rId4"/>
          <a:stretch>
            <a:fillRect/>
          </a:stretch>
        </p:blipFill>
        <p:spPr>
          <a:xfrm>
            <a:off x="6492240" y="4069080"/>
            <a:ext cx="594360" cy="594360"/>
          </a:xfrm>
          <a:prstGeom prst="rect">
            <a:avLst/>
          </a:prstGeom>
        </p:spPr>
      </p:pic>
      <p:sp>
        <p:nvSpPr>
          <p:cNvPr id="17" name="Text 11"/>
          <p:cNvSpPr/>
          <p:nvPr/>
        </p:nvSpPr>
        <p:spPr>
          <a:xfrm>
            <a:off x="7269480" y="401421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“Will the reps actually use it?”</a:t>
            </a:r>
            <a:endParaRPr lang="en-US" sz="1500" dirty="0"/>
          </a:p>
        </p:txBody>
      </p:sp>
      <p:sp>
        <p:nvSpPr>
          <p:cNvPr id="18" name="Text 12"/>
          <p:cNvSpPr/>
          <p:nvPr/>
        </p:nvSpPr>
        <p:spPr>
          <a:xfrm>
            <a:off x="7269480" y="459943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19" name="Text 13"/>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0"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pic>
        <p:nvPicPr>
          <p:cNvPr id="4" name="Image 0" descr="preencoded.png">    </p:cNvPr>
          <p:cNvPicPr>
            <a:picLocks noChangeAspect="1"/>
          </p:cNvPicPr>
          <p:nvPr/>
        </p:nvPicPr>
        <p:blipFill>
          <a:blip r:embed="rId1"/>
          <a:stretch>
            <a:fillRect/>
          </a:stretch>
        </p:blipFill>
        <p:spPr>
          <a:xfrm>
            <a:off x="978408" y="1874520"/>
            <a:ext cx="640080" cy="640080"/>
          </a:xfrm>
          <a:prstGeom prst="rect">
            <a:avLst/>
          </a:prstGeom>
        </p:spPr>
      </p:pic>
      <p:sp>
        <p:nvSpPr>
          <p:cNvPr id="5" name="Text 2"/>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6" name="Text 3"/>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7" name="Text 4"/>
          <p:cNvSpPr/>
          <p:nvPr/>
        </p:nvSpPr>
        <p:spPr>
          <a:xfrm>
            <a:off x="97840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00" dirty="0"/>
          </a:p>
        </p:txBody>
      </p:sp>
      <p:sp>
        <p:nvSpPr>
          <p:cNvPr id="8" name="Shape 5"/>
          <p:cNvSpPr/>
          <p:nvPr/>
        </p:nvSpPr>
        <p:spPr>
          <a:xfrm>
            <a:off x="4434840" y="1600200"/>
            <a:ext cx="3474720" cy="3108960"/>
          </a:xfrm>
          <a:prstGeom prst="roundRect">
            <a:avLst>
              <a:gd name="adj" fmla="val 2353"/>
            </a:avLst>
          </a:prstGeom>
          <a:solidFill>
            <a:srgbClr val="1E1E1E"/>
          </a:solidFill>
          <a:ln/>
        </p:spPr>
      </p:sp>
      <p:pic>
        <p:nvPicPr>
          <p:cNvPr id="9" name="Image 1" descr="preencoded.png">    </p:cNvPr>
          <p:cNvPicPr>
            <a:picLocks noChangeAspect="1"/>
          </p:cNvPicPr>
          <p:nvPr/>
        </p:nvPicPr>
        <p:blipFill>
          <a:blip r:embed="rId2"/>
          <a:stretch>
            <a:fillRect/>
          </a:stretch>
        </p:blipFill>
        <p:spPr>
          <a:xfrm>
            <a:off x="4727448" y="1874520"/>
            <a:ext cx="640080" cy="640080"/>
          </a:xfrm>
          <a:prstGeom prst="rect">
            <a:avLst/>
          </a:prstGeom>
        </p:spPr>
      </p:pic>
      <p:sp>
        <p:nvSpPr>
          <p:cNvPr id="10" name="Text 6"/>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1" name="Text 7"/>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2" name="Text 8"/>
          <p:cNvSpPr/>
          <p:nvPr/>
        </p:nvSpPr>
        <p:spPr>
          <a:xfrm>
            <a:off x="472744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00" dirty="0"/>
          </a:p>
        </p:txBody>
      </p:sp>
      <p:sp>
        <p:nvSpPr>
          <p:cNvPr id="13" name="Shape 9"/>
          <p:cNvSpPr/>
          <p:nvPr/>
        </p:nvSpPr>
        <p:spPr>
          <a:xfrm>
            <a:off x="8183880" y="1600200"/>
            <a:ext cx="3474720" cy="3108960"/>
          </a:xfrm>
          <a:prstGeom prst="roundRect">
            <a:avLst>
              <a:gd name="adj" fmla="val 2353"/>
            </a:avLst>
          </a:prstGeom>
          <a:solidFill>
            <a:srgbClr val="1E1E1E"/>
          </a:solidFill>
          <a:ln/>
        </p:spPr>
      </p:sp>
      <p:pic>
        <p:nvPicPr>
          <p:cNvPr id="14" name="Image 2" descr="preencoded.png">    </p:cNvPr>
          <p:cNvPicPr>
            <a:picLocks noChangeAspect="1"/>
          </p:cNvPicPr>
          <p:nvPr/>
        </p:nvPicPr>
        <p:blipFill>
          <a:blip r:embed="rId3"/>
          <a:stretch>
            <a:fillRect/>
          </a:stretch>
        </p:blipFill>
        <p:spPr>
          <a:xfrm>
            <a:off x="8476488" y="1874520"/>
            <a:ext cx="640080" cy="640080"/>
          </a:xfrm>
          <a:prstGeom prst="rect">
            <a:avLst/>
          </a:prstGeom>
        </p:spPr>
      </p:pic>
      <p:sp>
        <p:nvSpPr>
          <p:cNvPr id="15" name="Text 10"/>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6" name="Text 11"/>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17" name="Text 12"/>
          <p:cNvSpPr/>
          <p:nvPr/>
        </p:nvSpPr>
        <p:spPr>
          <a:xfrm>
            <a:off x="847648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00" dirty="0"/>
          </a:p>
        </p:txBody>
      </p:sp>
      <p:sp>
        <p:nvSpPr>
          <p:cNvPr id="18" name="Text 13"/>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19" name="Text 14"/>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2026-08-24T14:35:41Z</dcterms:created>
  <dcterms:modified xsi:type="dcterms:W3CDTF">2026-08-24T14:35:41Z</dcterms:modified>
</cp:coreProperties>
</file>