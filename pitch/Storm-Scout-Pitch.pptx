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11111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11111"/>
                </a:solidFill>
                <a:latin typeface="Arial"/>
              </a:rPr>
              <a:t>Jobs/year needed to cover the subscription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Incremental jobs per year to break even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1111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$250/mo</c:v>
                  </c:pt>
                  <c:pt idx="1">
                    <c:v>$500/mo</c:v>
                  </c:pt>
                  <c:pt idx="2">
                    <c:v>$1,000/mo</c:v>
                  </c:pt>
                  <c:pt idx="3">
                    <c:v>$2,000/mo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</c:v>
                </c:pt>
                <c:pt idx="1">
                  <c:v>1.4</c:v>
                </c:pt>
                <c:pt idx="2">
                  <c:v>2.9</c:v>
                </c:pt>
                <c:pt idx="3">
                  <c:v>5.7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1111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A2A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</c:scaling>
        <c:delete val="0"/>
        <c:axPos val="l"/>
        <c:majorGridlines>
          <c:spPr>
            <a:ln w="6350" cap="flat">
              <a:solidFill>
                <a:srgbClr val="E8E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E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777240"/>
            <a:ext cx="822960" cy="82296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9770" y="991210"/>
            <a:ext cx="395021" cy="39502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214884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 SCOUT  ×  T-ROCK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713232" y="3200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numbers case for data-driven storm leads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713232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Aaron &amp; Alan</a:t>
            </a:r>
            <a:pPr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August 2026   ·   Source material: stormscout.ai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13232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fluff. Website facts, break-even math, and a 90-day test with kill criteria.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problem: our real lead cost is rep-hours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 work is a race. Whoever gets a rep to a damaged, insured, owner-occupied roof first usually signs it.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5F5F5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057400"/>
            <a:ext cx="685800" cy="68580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" y="22357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28803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~100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868680" y="379476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doors a canvasser can knock per day — without a damage map, most are outside the real hail path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4340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5F5F5"/>
          </a:solidFill>
          <a:ln/>
        </p:spPr>
      </p:sp>
      <p:sp>
        <p:nvSpPr>
          <p:cNvPr id="10" name="Shape 7"/>
          <p:cNvSpPr/>
          <p:nvPr/>
        </p:nvSpPr>
        <p:spPr>
          <a:xfrm>
            <a:off x="4663440" y="2057400"/>
            <a:ext cx="685800" cy="68580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1748" y="223570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63440" y="28803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$150–300</a:t>
            </a:r>
            <a:endParaRPr lang="en-US" sz="4800" dirty="0"/>
          </a:p>
        </p:txBody>
      </p:sp>
      <p:sp>
        <p:nvSpPr>
          <p:cNvPr id="13" name="Text 9"/>
          <p:cNvSpPr/>
          <p:nvPr/>
        </p:nvSpPr>
        <p:spPr>
          <a:xfrm>
            <a:off x="4663440" y="379476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price per shared roofing lead from lead sellers — often resold to 3–5 competing contractors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13816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5F5F5"/>
          </a:solidFill>
          <a:ln/>
        </p:spPr>
      </p:sp>
      <p:sp>
        <p:nvSpPr>
          <p:cNvPr id="15" name="Shape 11"/>
          <p:cNvSpPr/>
          <p:nvPr/>
        </p:nvSpPr>
        <p:spPr>
          <a:xfrm>
            <a:off x="8458200" y="2057400"/>
            <a:ext cx="685800" cy="68580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6508" y="223570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58200" y="28803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</a:t>
            </a:r>
            <a:endParaRPr lang="en-US" sz="4800" dirty="0"/>
          </a:p>
        </p:txBody>
      </p:sp>
      <p:sp>
        <p:nvSpPr>
          <p:cNvPr id="18" name="Text 13"/>
          <p:cNvSpPr/>
          <p:nvPr/>
        </p:nvSpPr>
        <p:spPr>
          <a:xfrm>
            <a:off x="8458200" y="379476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long a storm market stays open before contingencies are signed — late arrival = leftover doors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5577840"/>
            <a:ext cx="11064240" cy="685800"/>
          </a:xfrm>
          <a:prstGeom prst="roundRect">
            <a:avLst>
              <a:gd name="adj" fmla="val 8000"/>
            </a:avLst>
          </a:prstGeom>
          <a:solidFill>
            <a:srgbClr val="111111"/>
          </a:solidFill>
          <a:ln/>
        </p:spPr>
      </p:sp>
      <p:sp>
        <p:nvSpPr>
          <p:cNvPr id="20" name="Text 15"/>
          <p:cNvSpPr/>
          <p:nvPr/>
        </p:nvSpPr>
        <p:spPr>
          <a:xfrm>
            <a:off x="868680" y="568756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metric:  </a:t>
            </a:r>
            <a:pPr indent="0" marL="0">
              <a:buNone/>
            </a:pPr>
            <a:r>
              <a:rPr lang="en-US" sz="1500" dirty="0">
                <a:solidFill>
                  <a:srgbClr val="E6E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rep-hours per signed contract. Every knock on an undamaged roof is payroll spent producing $0.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Lead-price and canvassing figures are industry benchmarks, not Storm Scout claims.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Storm Scout actually is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app that maps verified storm damage and attaches property + owner data, so crews knock the right doors first. Everything below is from stormscout.ai.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26954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0848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hail &amp; wind maps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45920" y="251460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storm-impact maps showing where verified damage occurred — dispatch teams to affected blocks, not whole ZIP codes.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17920" y="18288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sp>
        <p:nvSpPr>
          <p:cNvPr id="10" name="Shape 7"/>
          <p:cNvSpPr/>
          <p:nvPr/>
        </p:nvSpPr>
        <p:spPr>
          <a:xfrm>
            <a:off x="6492240" y="21031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8661" y="226954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0" y="20848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property filters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7315200" y="251460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by storm date, hail size, roof age, shingle type, square footage, median income, owner-occupied vs. rental.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402336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sp>
        <p:nvSpPr>
          <p:cNvPr id="15" name="Shape 11"/>
          <p:cNvSpPr/>
          <p:nvPr/>
        </p:nvSpPr>
        <p:spPr>
          <a:xfrm>
            <a:off x="822960" y="429768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381" y="446410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42793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storm alerts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645920" y="47091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our territories and ZIP codes; the moment a storm hits, we know — before competitors are even aware.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217920" y="402336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sp>
        <p:nvSpPr>
          <p:cNvPr id="20" name="Shape 15"/>
          <p:cNvSpPr/>
          <p:nvPr/>
        </p:nvSpPr>
        <p:spPr>
          <a:xfrm>
            <a:off x="6492240" y="429768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8661" y="4464101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0" y="42793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outreach + in-app leads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7315200" y="47091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filtered target lists straight into calls, texts, and emails; pre-qualified leads delivered inside our service area.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descriptions paraphrased from stormscout.ai (Home + How It Works pages).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works: storm to signed contingency in 4 steps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670048" cy="3749040"/>
          </a:xfrm>
          <a:prstGeom prst="roundRect">
            <a:avLst>
              <a:gd name="adj" fmla="val 2740"/>
            </a:avLst>
          </a:prstGeom>
          <a:solidFill>
            <a:srgbClr val="F5F5F5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2880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199522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86000" y="1783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22960" y="26974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 hits — alert fires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22960" y="338328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saved territories trigger an instant alert. We're moving while others are checking the weather news.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163824" y="30632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3493008" y="1554480"/>
            <a:ext cx="2670048" cy="3749040"/>
          </a:xfrm>
          <a:prstGeom prst="roundRect">
            <a:avLst>
              <a:gd name="adj" fmla="val 2740"/>
            </a:avLst>
          </a:prstGeom>
          <a:solidFill>
            <a:srgbClr val="F5F5F5"/>
          </a:solidFill>
          <a:ln/>
        </p:spPr>
      </p:sp>
      <p:sp>
        <p:nvSpPr>
          <p:cNvPr id="11" name="Shape 8"/>
          <p:cNvSpPr/>
          <p:nvPr/>
        </p:nvSpPr>
        <p:spPr>
          <a:xfrm>
            <a:off x="3767328" y="182880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3749" y="19952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230368" y="1783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3767328" y="26974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damage map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3767328" y="338328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hail &amp; wind impact, street by street. We see which blocks actually took damage.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108192" y="30632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7" name="Shape 13"/>
          <p:cNvSpPr/>
          <p:nvPr/>
        </p:nvSpPr>
        <p:spPr>
          <a:xfrm>
            <a:off x="6437376" y="1554480"/>
            <a:ext cx="2670048" cy="3749040"/>
          </a:xfrm>
          <a:prstGeom prst="roundRect">
            <a:avLst>
              <a:gd name="adj" fmla="val 2740"/>
            </a:avLst>
          </a:prstGeom>
          <a:solidFill>
            <a:srgbClr val="F5F5F5"/>
          </a:solidFill>
          <a:ln/>
        </p:spPr>
      </p:sp>
      <p:sp>
        <p:nvSpPr>
          <p:cNvPr id="18" name="Shape 14"/>
          <p:cNvSpPr/>
          <p:nvPr/>
        </p:nvSpPr>
        <p:spPr>
          <a:xfrm>
            <a:off x="6711696" y="182880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8117" y="1995221"/>
            <a:ext cx="307238" cy="30723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174736" y="1783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21" name="Text 16"/>
          <p:cNvSpPr/>
          <p:nvPr/>
        </p:nvSpPr>
        <p:spPr>
          <a:xfrm>
            <a:off x="6711696" y="26974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to our buyer</a:t>
            </a:r>
            <a:endParaRPr lang="en-US" sz="1550" dirty="0"/>
          </a:p>
        </p:txBody>
      </p:sp>
      <p:sp>
        <p:nvSpPr>
          <p:cNvPr id="22" name="Text 17"/>
          <p:cNvSpPr/>
          <p:nvPr/>
        </p:nvSpPr>
        <p:spPr>
          <a:xfrm>
            <a:off x="6711696" y="338328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Owner-occupied, roof age, shingle type, hail size, income band — down to a knock list that matches our ideal job.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9052560" y="30632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24" name="Shape 19"/>
          <p:cNvSpPr/>
          <p:nvPr/>
        </p:nvSpPr>
        <p:spPr>
          <a:xfrm>
            <a:off x="9381744" y="1554480"/>
            <a:ext cx="2670048" cy="3749040"/>
          </a:xfrm>
          <a:prstGeom prst="roundRect">
            <a:avLst>
              <a:gd name="adj" fmla="val 2740"/>
            </a:avLst>
          </a:prstGeom>
          <a:solidFill>
            <a:srgbClr val="111111"/>
          </a:solidFill>
          <a:ln/>
        </p:spPr>
      </p:sp>
      <p:sp>
        <p:nvSpPr>
          <p:cNvPr id="25" name="Shape 20"/>
          <p:cNvSpPr/>
          <p:nvPr/>
        </p:nvSpPr>
        <p:spPr>
          <a:xfrm>
            <a:off x="9656064" y="182880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2485" y="1995221"/>
            <a:ext cx="307238" cy="30723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1119104" y="1783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000" dirty="0"/>
          </a:p>
        </p:txBody>
      </p:sp>
      <p:sp>
        <p:nvSpPr>
          <p:cNvPr id="28" name="Text 22"/>
          <p:cNvSpPr/>
          <p:nvPr/>
        </p:nvSpPr>
        <p:spPr>
          <a:xfrm>
            <a:off x="9656064" y="26974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+ outreach</a:t>
            </a:r>
            <a:endParaRPr lang="en-US" sz="1550" dirty="0"/>
          </a:p>
        </p:txBody>
      </p:sp>
      <p:sp>
        <p:nvSpPr>
          <p:cNvPr id="29" name="Text 23"/>
          <p:cNvSpPr/>
          <p:nvPr/>
        </p:nvSpPr>
        <p:spPr>
          <a:xfrm>
            <a:off x="9656064" y="338328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Reps get routed lists; automated calls, texts, and emails warm the same doors in parallel.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548640" y="5623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effect: </a:t>
            </a:r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crew, the same day, working only the doors with verified damage and the right owner profile.</a:t>
            </a:r>
            <a:endParaRPr lang="en-US" sz="1500" dirty="0"/>
          </a:p>
        </p:txBody>
      </p:sp>
      <p:sp>
        <p:nvSpPr>
          <p:cNvPr id="31" name="Text 25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per stormscout.ai How It Works.</a:t>
            </a:r>
            <a:endParaRPr lang="en-US" sz="900" dirty="0"/>
          </a:p>
        </p:txBody>
      </p:sp>
      <p:sp>
        <p:nvSpPr>
          <p:cNvPr id="32" name="Text 2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is a numbers play, not a gadget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feature maps to one measurable line we already track (or should).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4754880"/>
                <a:gridCol w="32918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changes on the ground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 it moves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 damage maps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Reps stop knocking undamaged streets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Rep-hours per signed contract 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Owner/roof/income filters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Knock list pre-matched to our ideal job profile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Inspection → contract rate ↑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Instant storm alerts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trucks in the neighborhood, not third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 rate on storm jobs ↑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Automated calls / texts / emails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Follow-up runs with zero extra rep payroll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per touch 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In-app pre-qualified leads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Inbound work in our service area, exclusive to us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per sold job vs. shared leads 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53212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FBEAEC"/>
          </a:solidFill>
          <a:ln/>
        </p:spPr>
      </p:sp>
      <p:sp>
        <p:nvSpPr>
          <p:cNvPr id="6" name="Text 3"/>
          <p:cNvSpPr/>
          <p:nvPr/>
        </p:nvSpPr>
        <p:spPr>
          <a:xfrm>
            <a:off x="86868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one of these is already a number in our world. </a:t>
            </a:r>
            <a:pPr indent="0" marL="0">
              <a:buNone/>
            </a:pPr>
            <a:r>
              <a:rPr lang="en-US" sz="15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means the tool can be proven — or disproven — with our own data in one quarter.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break-even math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 Scout doesn't publish pricing (demo first). So here's the math at a range of prices — worst case included.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206240" cy="3657600"/>
          </a:xfrm>
          <a:prstGeom prst="roundRect">
            <a:avLst>
              <a:gd name="adj" fmla="val 2000"/>
            </a:avLst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288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assumptions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3566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Avg. insurance replacement job</a:t>
            </a:r>
            <a:endParaRPr lang="en-US" sz="1350" dirty="0"/>
          </a:p>
          <a:p>
            <a:pPr lvl="1" indent="0" marL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$12,000 revenue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margin</a:t>
            </a:r>
            <a:endParaRPr lang="en-US" sz="1350" dirty="0"/>
          </a:p>
          <a:p>
            <a:pPr lvl="1" indent="0" marL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 →  ~$4,200 gross profit / job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 to break even</a:t>
            </a:r>
            <a:endParaRPr lang="en-US" sz="1350" dirty="0"/>
          </a:p>
          <a:p>
            <a:pPr lvl="1" indent="0" marL="0">
              <a:buNone/>
            </a:pPr>
            <a:r>
              <a:rPr lang="en-US" sz="135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cost ÷ $4,200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68680" y="46177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benchmarks — swap in T-Rock's actual avg. ticket and margin before the meeting.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9200" y="1645920"/>
          <a:ext cx="65836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" y="553212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111111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at $2,000/month,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 incremental jobs a year</a:t>
            </a:r>
            <a:pPr indent="0" marL="0">
              <a:buNone/>
            </a:pPr>
            <a:r>
              <a:rPr lang="en-US" sz="1600" dirty="0">
                <a:solidFill>
                  <a:srgbClr val="E6E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pays for it. That's one good hailstorm.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90-day pilot: scored, capped, killable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reps run Storm Scout territories; the rest keep the current playbook. Same scorecard for both.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657600"/>
                <a:gridCol w="32004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 (tracked weekly)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 (current door-knocking)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Pilot must beat baseline by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Inspections per rep-day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 in weeks 1–2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Inspection → contingency rate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 in weeks 1–2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per sold job (all-in, incl. subscription)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 in weeks 1–2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Lower, full stop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 accuracy (damage confirmed on roof)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 — new metric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≥70% of flagged homes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85800" y="5074920"/>
            <a:ext cx="594360" cy="59436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0334" y="5229454"/>
            <a:ext cx="285293" cy="28529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463040" y="50749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Kill criteria, agreed up front: </a:t>
            </a:r>
            <a:pPr indent="0" marL="0">
              <a:buNone/>
            </a:pPr>
            <a:r>
              <a:rPr lang="en-US" sz="14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all-in cost per sold job isn't beating our current baseline at day 90, we cancel. We ask for month-to-month terms in the demo — no annual lock-in without pilot data.</a:t>
            </a:r>
            <a:endParaRPr lang="en-US" sz="14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Targets are proposals — Aaron/Alan set final thresholds before the pilot starts.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Straight answers before you ask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2194560"/>
          </a:xfrm>
          <a:prstGeom prst="roundRect">
            <a:avLst>
              <a:gd name="adj" fmla="val 3333"/>
            </a:avLst>
          </a:prstGeom>
          <a:solidFill>
            <a:srgbClr val="F5F5F5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645920"/>
            <a:ext cx="594360" cy="59436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494" y="1800454"/>
            <a:ext cx="285293" cy="28529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62763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“What does it cost?”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600200" y="2029968"/>
            <a:ext cx="4160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published — they sell via demo. Step 1 is getting a real quote in writing. The break-even chart covers $250–$2,000/mo, so we'll know instantly if the quote pencils.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217920" y="1371600"/>
            <a:ext cx="5394960" cy="2194560"/>
          </a:xfrm>
          <a:prstGeom prst="roundRect">
            <a:avLst>
              <a:gd name="adj" fmla="val 3333"/>
            </a:avLst>
          </a:prstGeom>
          <a:solidFill>
            <a:srgbClr val="F5F5F5"/>
          </a:solidFill>
          <a:ln/>
        </p:spPr>
      </p:sp>
      <p:sp>
        <p:nvSpPr>
          <p:cNvPr id="9" name="Shape 6"/>
          <p:cNvSpPr/>
          <p:nvPr/>
        </p:nvSpPr>
        <p:spPr>
          <a:xfrm>
            <a:off x="6492240" y="1645920"/>
            <a:ext cx="594360" cy="59436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6774" y="18004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269480" y="162763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“Their case studies are marketing.”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269480" y="2029968"/>
            <a:ext cx="4160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Correct. Titan Roofing &amp; Restoration and others on their site are vendor-published, no audited numbers. That's exactly why the pilot has our own scorecard — we trust our data, not theirs.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3794760"/>
            <a:ext cx="5394960" cy="2194560"/>
          </a:xfrm>
          <a:prstGeom prst="roundRect">
            <a:avLst>
              <a:gd name="adj" fmla="val 3333"/>
            </a:avLst>
          </a:prstGeom>
          <a:solidFill>
            <a:srgbClr val="F5F5F5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069080"/>
            <a:ext cx="594360" cy="59436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494" y="42236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00200" y="405079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“Is the damage data real?”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1600200" y="4453128"/>
            <a:ext cx="4160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verify it ourselves: weeks 1–2, every map-flagged roof a rep inspects gets logged confirmed/not confirmed. Below 70% accuracy, the tool dies on that metric alone.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217920" y="3794760"/>
            <a:ext cx="5394960" cy="2194560"/>
          </a:xfrm>
          <a:prstGeom prst="roundRect">
            <a:avLst>
              <a:gd name="adj" fmla="val 3333"/>
            </a:avLst>
          </a:prstGeom>
          <a:solidFill>
            <a:srgbClr val="F5F5F5"/>
          </a:solidFill>
          <a:ln/>
        </p:spPr>
      </p:sp>
      <p:sp>
        <p:nvSpPr>
          <p:cNvPr id="19" name="Shape 14"/>
          <p:cNvSpPr/>
          <p:nvPr/>
        </p:nvSpPr>
        <p:spPr>
          <a:xfrm>
            <a:off x="6492240" y="4069080"/>
            <a:ext cx="594360" cy="59436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6774" y="422361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269480" y="405079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“Will the reps actually use it?”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7269480" y="4453128"/>
            <a:ext cx="4160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is the real risk with any tool. That's why it's 2 named reps with a named owner (Dom), not a company-wide rollout. Small test, clean data, no chaos.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8580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sp>
        <p:nvSpPr>
          <p:cNvPr id="4" name="Shape 2"/>
          <p:cNvSpPr/>
          <p:nvPr/>
        </p:nvSpPr>
        <p:spPr>
          <a:xfrm>
            <a:off x="978408" y="18745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9" y="204094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15468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97840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the demo — this week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78408" y="338328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minutes. Walk out with real pricing, contract terms, and coverage confirmation for our storm markets.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43484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sp>
        <p:nvSpPr>
          <p:cNvPr id="10" name="Shape 7"/>
          <p:cNvSpPr/>
          <p:nvPr/>
        </p:nvSpPr>
        <p:spPr>
          <a:xfrm>
            <a:off x="4727448" y="18745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3869" y="204094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0372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3" name="Text 9"/>
          <p:cNvSpPr/>
          <p:nvPr/>
        </p:nvSpPr>
        <p:spPr>
          <a:xfrm>
            <a:off x="472744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90-day pilot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4727448" y="338328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reps, 1 storm market, hard budget cap at the quoted price. Weekly scorecard to Aaron &amp; Alan.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8388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sp>
        <p:nvSpPr>
          <p:cNvPr id="16" name="Shape 12"/>
          <p:cNvSpPr/>
          <p:nvPr/>
        </p:nvSpPr>
        <p:spPr>
          <a:xfrm>
            <a:off x="8476488" y="18745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2909" y="2040941"/>
            <a:ext cx="307238" cy="30723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65276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47648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on data at day 90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8476488" y="338328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Scorecard beats baseline → roll out to the full team. It doesn't → cancel and we're out one quarter of a subscription.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85800" y="51206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to test. Measured on our own baseline. Easy to kill.</a:t>
            </a:r>
            <a:endParaRPr lang="en-US" sz="2200" dirty="0"/>
          </a:p>
        </p:txBody>
      </p:sp>
      <p:sp>
        <p:nvSpPr>
          <p:cNvPr id="22" name="Text 17"/>
          <p:cNvSpPr/>
          <p:nvPr/>
        </p:nvSpPr>
        <p:spPr>
          <a:xfrm>
            <a:off x="685800" y="57607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Downside: one quarter of a subscription.  Upside: every storm season, our crews knock verified-damage doors first.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2026-08-21T01:47:05Z</dcterms:created>
  <dcterms:modified xsi:type="dcterms:W3CDTF">2026-08-21T01:47:05Z</dcterms:modified>
</cp:coreProperties>
</file>