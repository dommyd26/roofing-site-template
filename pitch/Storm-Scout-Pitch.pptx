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111"/>
                </a:solidFill>
                <a:latin typeface="Arial"/>
              </a:defRPr>
            </a:pPr>
            <a:r>
              <a:rPr sz="1400" b="0" i="0" u="none" strike="noStrike">
                <a:solidFill>
                  <a:srgbClr val="111111"/>
                </a:solidFill>
                <a:latin typeface="Arial"/>
              </a:rPr>
              <a:t>Jobs/year needed to cover the subscription</a:t>
            </a:r>
          </a:p>
        </c:rich>
      </c:tx>
      <c:layout/>
      <c:overlay val="0"/>
    </c:title>
    <c:autoTitleDeleted val="0"/>
    <c:plotArea>
      <c:layout/>
      <c:barChart>
        <c:barDir val="col"/>
        <c:grouping val="clustered"/>
        <c:varyColors val="0"/>
        <c:ser>
          <c:idx val="0"/>
          <c:order val="0"/>
          <c:tx>
            <c:strRef>
              <c:f>Sheet1!$B$1</c:f>
              <c:strCache>
                <c:ptCount val="1"/>
                <c:pt idx="0">
                  <c:v>Incremental jobs per year to break even</c:v>
                </c:pt>
              </c:strCache>
            </c:strRef>
          </c:tx>
          <c:spPr>
            <a:solidFill>
              <a:srgbClr val="C8102E"/>
            </a:solidFill>
            <a:effectLst/>
          </c:spPr>
          <c:invertIfNegative val="0"/>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cat>
            <c:multiLvlStrRef>
              <c:f>Sheet1!$A$2:$A$6</c:f>
              <c:multiLvlStrCache>
                <c:ptCount val="5"/>
                <c:lvl>
                  <c:pt idx="0">
                    <c:v>Bronze $100</c:v>
                  </c:pt>
                  <c:pt idx="1">
                    <c:v>Silver $500</c:v>
                  </c:pt>
                  <c:pt idx="2">
                    <c:v>Gold $1,000</c:v>
                  </c:pt>
                  <c:pt idx="3">
                    <c:v>Founding $2,000</c:v>
                  </c:pt>
                  <c:pt idx="4">
                    <c:v>Platinum $2,500</c:v>
                  </c:pt>
                </c:lvl>
              </c:multiLvlStrCache>
            </c:multiLvlStrRef>
          </c:cat>
          <c:val>
            <c:numRef>
              <c:f>Sheet1!$B$2:$B$6</c:f>
              <c:numCache>
                <c:formatCode>General</c:formatCode>
                <c:ptCount val="5"/>
                <c:pt idx="0">
                  <c:v>0.2</c:v>
                </c:pt>
                <c:pt idx="1">
                  <c:v>1.2</c:v>
                </c:pt>
                <c:pt idx="2">
                  <c:v>2.4</c:v>
                </c:pt>
                <c:pt idx="3">
                  <c:v>4.8</c:v>
                </c:pt>
                <c:pt idx="4">
                  <c:v>6.1</c:v>
                </c:pt>
              </c:numCache>
            </c:numRef>
          </c:val>
        </c:ser>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A2A2A"/>
                </a:solidFill>
                <a:latin typeface="Arial"/>
              </a:defRPr>
            </a:pPr>
            <a:endParaRPr lang="en-US"/>
          </a:p>
        </c:txPr>
        <c:crossAx val="2094734552"/>
        <c:crosses val="autoZero"/>
        <c:auto val="1"/>
        <c:lblAlgn val="ctr"/>
        <c:noMultiLvlLbl val="1"/>
      </c:catAx>
      <c:valAx>
        <c:axId val="2094734552"/>
        <c:scaling>
          <c:orientation val="minMax"/>
          <c:max val="7"/>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E6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777240"/>
            <a:ext cx="822960" cy="822960"/>
          </a:xfrm>
          <a:prstGeom prst="ellipse">
            <a:avLst/>
          </a:prstGeom>
          <a:solidFill>
            <a:srgbClr val="C8102E"/>
          </a:solidFill>
          <a:ln/>
        </p:spPr>
      </p:sp>
      <p:pic>
        <p:nvPicPr>
          <p:cNvPr id="3" name="Image 0" descr="preencoded.png">    </p:cNvPr>
          <p:cNvPicPr>
            <a:picLocks noChangeAspect="1"/>
          </p:cNvPicPr>
          <p:nvPr/>
        </p:nvPicPr>
        <p:blipFill>
          <a:blip r:embed="rId1"/>
          <a:stretch>
            <a:fillRect/>
          </a:stretch>
        </p:blipFill>
        <p:spPr>
          <a:xfrm>
            <a:off x="899770" y="991210"/>
            <a:ext cx="395021" cy="395021"/>
          </a:xfrm>
          <a:prstGeom prst="rect">
            <a:avLst/>
          </a:prstGeom>
        </p:spPr>
      </p:pic>
      <p:sp>
        <p:nvSpPr>
          <p:cNvPr id="4" name="Text 1"/>
          <p:cNvSpPr/>
          <p:nvPr/>
        </p:nvSpPr>
        <p:spPr>
          <a:xfrm>
            <a:off x="685800" y="2148840"/>
            <a:ext cx="1078992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STORM SCOUT  ×  T-ROCK</a:t>
            </a:r>
            <a:endParaRPr lang="en-US" sz="5400" dirty="0"/>
          </a:p>
        </p:txBody>
      </p:sp>
      <p:sp>
        <p:nvSpPr>
          <p:cNvPr id="5" name="Text 2"/>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6" name="Text 3"/>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Prepared for Aaron &amp; Alan</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7" name="Text 4"/>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No fluff. Website facts,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sp>
        <p:nvSpPr>
          <p:cNvPr id="5" name="Shape 3"/>
          <p:cNvSpPr/>
          <p:nvPr/>
        </p:nvSpPr>
        <p:spPr>
          <a:xfrm>
            <a:off x="868680" y="2057400"/>
            <a:ext cx="685800" cy="68580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1046988" y="2235708"/>
            <a:ext cx="329184" cy="329184"/>
          </a:xfrm>
          <a:prstGeom prst="rect">
            <a:avLst/>
          </a:prstGeom>
        </p:spPr>
      </p:pic>
      <p:sp>
        <p:nvSpPr>
          <p:cNvPr id="7" name="Text 4"/>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8" name="Text 5"/>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9" name="Shape 6"/>
          <p:cNvSpPr/>
          <p:nvPr/>
        </p:nvSpPr>
        <p:spPr>
          <a:xfrm>
            <a:off x="4343400" y="1737360"/>
            <a:ext cx="3520440" cy="3566160"/>
          </a:xfrm>
          <a:prstGeom prst="roundRect">
            <a:avLst>
              <a:gd name="adj" fmla="val 2078"/>
            </a:avLst>
          </a:prstGeom>
          <a:solidFill>
            <a:srgbClr val="F5F5F5"/>
          </a:solidFill>
          <a:ln/>
        </p:spPr>
      </p:sp>
      <p:sp>
        <p:nvSpPr>
          <p:cNvPr id="10" name="Shape 7"/>
          <p:cNvSpPr/>
          <p:nvPr/>
        </p:nvSpPr>
        <p:spPr>
          <a:xfrm>
            <a:off x="4663440" y="2057400"/>
            <a:ext cx="685800" cy="68580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41748" y="2235708"/>
            <a:ext cx="329184" cy="329184"/>
          </a:xfrm>
          <a:prstGeom prst="rect">
            <a:avLst/>
          </a:prstGeom>
        </p:spPr>
      </p:pic>
      <p:sp>
        <p:nvSpPr>
          <p:cNvPr id="12" name="Text 8"/>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3" name="Text 9"/>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4" name="Shape 10"/>
          <p:cNvSpPr/>
          <p:nvPr/>
        </p:nvSpPr>
        <p:spPr>
          <a:xfrm>
            <a:off x="8138160" y="1737360"/>
            <a:ext cx="3520440" cy="3566160"/>
          </a:xfrm>
          <a:prstGeom prst="roundRect">
            <a:avLst>
              <a:gd name="adj" fmla="val 2078"/>
            </a:avLst>
          </a:prstGeom>
          <a:solidFill>
            <a:srgbClr val="F5F5F5"/>
          </a:solidFill>
          <a:ln/>
        </p:spPr>
      </p:sp>
      <p:sp>
        <p:nvSpPr>
          <p:cNvPr id="15" name="Shape 11"/>
          <p:cNvSpPr/>
          <p:nvPr/>
        </p:nvSpPr>
        <p:spPr>
          <a:xfrm>
            <a:off x="8458200" y="2057400"/>
            <a:ext cx="685800" cy="6858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8636508" y="2235708"/>
            <a:ext cx="329184" cy="329184"/>
          </a:xfrm>
          <a:prstGeom prst="rect">
            <a:avLst/>
          </a:prstGeom>
        </p:spPr>
      </p:pic>
      <p:sp>
        <p:nvSpPr>
          <p:cNvPr id="17" name="Text 12"/>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8" name="Text 13"/>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9" name="Shape 14"/>
          <p:cNvSpPr/>
          <p:nvPr/>
        </p:nvSpPr>
        <p:spPr>
          <a:xfrm>
            <a:off x="548640" y="5577840"/>
            <a:ext cx="11064240" cy="685800"/>
          </a:xfrm>
          <a:prstGeom prst="roundRect">
            <a:avLst>
              <a:gd name="adj" fmla="val 8000"/>
            </a:avLst>
          </a:prstGeom>
          <a:solidFill>
            <a:srgbClr val="111111"/>
          </a:solidFill>
          <a:ln/>
        </p:spPr>
      </p:sp>
      <p:sp>
        <p:nvSpPr>
          <p:cNvPr id="20" name="Text 15"/>
          <p:cNvSpPr/>
          <p:nvPr/>
        </p:nvSpPr>
        <p:spPr>
          <a:xfrm>
            <a:off x="868680" y="5687568"/>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real metric:  </a:t>
            </a:r>
            <a:pPr indent="0" marL="0">
              <a:buNone/>
            </a:pPr>
            <a:r>
              <a:rPr lang="en-US" sz="1500" dirty="0">
                <a:solidFill>
                  <a:srgbClr val="E6E6E6"/>
                </a:solidFill>
                <a:latin typeface="Arial" pitchFamily="34" charset="0"/>
                <a:ea typeface="Arial" pitchFamily="34" charset="-122"/>
                <a:cs typeface="Arial" pitchFamily="34" charset="-120"/>
              </a:rPr>
              <a:t>rep-hours per signed contract. Every knock on an undamaged roof is payroll spent producing $0.</a:t>
            </a:r>
            <a:endParaRPr lang="en-US" sz="1500" dirty="0"/>
          </a:p>
        </p:txBody>
      </p:sp>
      <p:sp>
        <p:nvSpPr>
          <p:cNvPr id="21"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22"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sp>
        <p:nvSpPr>
          <p:cNvPr id="5" name="Shape 3"/>
          <p:cNvSpPr/>
          <p:nvPr/>
        </p:nvSpPr>
        <p:spPr>
          <a:xfrm>
            <a:off x="822960" y="2103120"/>
            <a:ext cx="640080" cy="64008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89381" y="2269541"/>
            <a:ext cx="307238" cy="307238"/>
          </a:xfrm>
          <a:prstGeom prst="rect">
            <a:avLst/>
          </a:prstGeom>
        </p:spPr>
      </p:pic>
      <p:sp>
        <p:nvSpPr>
          <p:cNvPr id="7" name="Text 4"/>
          <p:cNvSpPr/>
          <p:nvPr/>
        </p:nvSpPr>
        <p:spPr>
          <a:xfrm>
            <a:off x="164592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Interactive hail &amp; wind maps</a:t>
            </a:r>
            <a:endParaRPr lang="en-US" sz="1700" dirty="0"/>
          </a:p>
        </p:txBody>
      </p:sp>
      <p:sp>
        <p:nvSpPr>
          <p:cNvPr id="8" name="Text 5"/>
          <p:cNvSpPr/>
          <p:nvPr/>
        </p:nvSpPr>
        <p:spPr>
          <a:xfrm>
            <a:off x="164592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50" dirty="0"/>
          </a:p>
        </p:txBody>
      </p:sp>
      <p:sp>
        <p:nvSpPr>
          <p:cNvPr id="9" name="Shape 6"/>
          <p:cNvSpPr/>
          <p:nvPr/>
        </p:nvSpPr>
        <p:spPr>
          <a:xfrm>
            <a:off x="6217920" y="1828800"/>
            <a:ext cx="5394960" cy="1965960"/>
          </a:xfrm>
          <a:prstGeom prst="roundRect">
            <a:avLst>
              <a:gd name="adj" fmla="val 3721"/>
            </a:avLst>
          </a:prstGeom>
          <a:solidFill>
            <a:srgbClr val="F5F5F5"/>
          </a:solidFill>
          <a:ln/>
        </p:spPr>
      </p:sp>
      <p:sp>
        <p:nvSpPr>
          <p:cNvPr id="10" name="Shape 7"/>
          <p:cNvSpPr/>
          <p:nvPr/>
        </p:nvSpPr>
        <p:spPr>
          <a:xfrm>
            <a:off x="6492240" y="21031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6658661" y="2269541"/>
            <a:ext cx="307238" cy="307238"/>
          </a:xfrm>
          <a:prstGeom prst="rect">
            <a:avLst/>
          </a:prstGeom>
        </p:spPr>
      </p:pic>
      <p:sp>
        <p:nvSpPr>
          <p:cNvPr id="12" name="Text 8"/>
          <p:cNvSpPr/>
          <p:nvPr/>
        </p:nvSpPr>
        <p:spPr>
          <a:xfrm>
            <a:off x="731520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Advanced property filters</a:t>
            </a:r>
            <a:endParaRPr lang="en-US" sz="1700" dirty="0"/>
          </a:p>
        </p:txBody>
      </p:sp>
      <p:sp>
        <p:nvSpPr>
          <p:cNvPr id="13" name="Text 9"/>
          <p:cNvSpPr/>
          <p:nvPr/>
        </p:nvSpPr>
        <p:spPr>
          <a:xfrm>
            <a:off x="731520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50" dirty="0"/>
          </a:p>
        </p:txBody>
      </p:sp>
      <p:sp>
        <p:nvSpPr>
          <p:cNvPr id="14" name="Shape 10"/>
          <p:cNvSpPr/>
          <p:nvPr/>
        </p:nvSpPr>
        <p:spPr>
          <a:xfrm>
            <a:off x="548640" y="4023360"/>
            <a:ext cx="5394960" cy="1965960"/>
          </a:xfrm>
          <a:prstGeom prst="roundRect">
            <a:avLst>
              <a:gd name="adj" fmla="val 3721"/>
            </a:avLst>
          </a:prstGeom>
          <a:solidFill>
            <a:srgbClr val="F5F5F5"/>
          </a:solidFill>
          <a:ln/>
        </p:spPr>
      </p:sp>
      <p:sp>
        <p:nvSpPr>
          <p:cNvPr id="15" name="Shape 11"/>
          <p:cNvSpPr/>
          <p:nvPr/>
        </p:nvSpPr>
        <p:spPr>
          <a:xfrm>
            <a:off x="822960" y="4297680"/>
            <a:ext cx="640080" cy="64008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989381" y="4464101"/>
            <a:ext cx="307238" cy="307238"/>
          </a:xfrm>
          <a:prstGeom prst="rect">
            <a:avLst/>
          </a:prstGeom>
        </p:spPr>
      </p:pic>
      <p:sp>
        <p:nvSpPr>
          <p:cNvPr id="17" name="Text 12"/>
          <p:cNvSpPr/>
          <p:nvPr/>
        </p:nvSpPr>
        <p:spPr>
          <a:xfrm>
            <a:off x="164592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Custom storm alerts</a:t>
            </a:r>
            <a:endParaRPr lang="en-US" sz="1700" dirty="0"/>
          </a:p>
        </p:txBody>
      </p:sp>
      <p:sp>
        <p:nvSpPr>
          <p:cNvPr id="18" name="Text 13"/>
          <p:cNvSpPr/>
          <p:nvPr/>
        </p:nvSpPr>
        <p:spPr>
          <a:xfrm>
            <a:off x="164592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50" dirty="0"/>
          </a:p>
        </p:txBody>
      </p:sp>
      <p:sp>
        <p:nvSpPr>
          <p:cNvPr id="19" name="Shape 14"/>
          <p:cNvSpPr/>
          <p:nvPr/>
        </p:nvSpPr>
        <p:spPr>
          <a:xfrm>
            <a:off x="6217920" y="4023360"/>
            <a:ext cx="5394960" cy="1965960"/>
          </a:xfrm>
          <a:prstGeom prst="roundRect">
            <a:avLst>
              <a:gd name="adj" fmla="val 3721"/>
            </a:avLst>
          </a:prstGeom>
          <a:solidFill>
            <a:srgbClr val="F5F5F5"/>
          </a:solidFill>
          <a:ln/>
        </p:spPr>
      </p:sp>
      <p:sp>
        <p:nvSpPr>
          <p:cNvPr id="20" name="Shape 15"/>
          <p:cNvSpPr/>
          <p:nvPr/>
        </p:nvSpPr>
        <p:spPr>
          <a:xfrm>
            <a:off x="6492240" y="4297680"/>
            <a:ext cx="640080" cy="640080"/>
          </a:xfrm>
          <a:prstGeom prst="ellipse">
            <a:avLst/>
          </a:prstGeom>
          <a:solidFill>
            <a:srgbClr val="C8102E"/>
          </a:solidFill>
          <a:ln/>
        </p:spPr>
      </p:sp>
      <p:pic>
        <p:nvPicPr>
          <p:cNvPr id="21" name="Image 3" descr="preencoded.png">    </p:cNvPr>
          <p:cNvPicPr>
            <a:picLocks noChangeAspect="1"/>
          </p:cNvPicPr>
          <p:nvPr/>
        </p:nvPicPr>
        <p:blipFill>
          <a:blip r:embed="rId4"/>
          <a:stretch>
            <a:fillRect/>
          </a:stretch>
        </p:blipFill>
        <p:spPr>
          <a:xfrm>
            <a:off x="6658661" y="4464101"/>
            <a:ext cx="307238" cy="307238"/>
          </a:xfrm>
          <a:prstGeom prst="rect">
            <a:avLst/>
          </a:prstGeom>
        </p:spPr>
      </p:pic>
      <p:sp>
        <p:nvSpPr>
          <p:cNvPr id="22" name="Text 16"/>
          <p:cNvSpPr/>
          <p:nvPr/>
        </p:nvSpPr>
        <p:spPr>
          <a:xfrm>
            <a:off x="731520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Automated outreach + in-app leads</a:t>
            </a:r>
            <a:endParaRPr lang="en-US" sz="1700" dirty="0"/>
          </a:p>
        </p:txBody>
      </p:sp>
      <p:sp>
        <p:nvSpPr>
          <p:cNvPr id="23" name="Text 17"/>
          <p:cNvSpPr/>
          <p:nvPr/>
        </p:nvSpPr>
        <p:spPr>
          <a:xfrm>
            <a:off x="731520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50" dirty="0"/>
          </a:p>
        </p:txBody>
      </p:sp>
      <p:sp>
        <p:nvSpPr>
          <p:cNvPr id="24" name="Text 1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5" name="Text 1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sp>
        <p:nvSpPr>
          <p:cNvPr id="4" name="Shape 2"/>
          <p:cNvSpPr/>
          <p:nvPr/>
        </p:nvSpPr>
        <p:spPr>
          <a:xfrm>
            <a:off x="822960" y="182880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89381" y="1995221"/>
            <a:ext cx="307238" cy="307238"/>
          </a:xfrm>
          <a:prstGeom prst="rect">
            <a:avLst/>
          </a:prstGeom>
        </p:spPr>
      </p:pic>
      <p:sp>
        <p:nvSpPr>
          <p:cNvPr id="6" name="Text 3"/>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7" name="Text 4"/>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8" name="Text 5"/>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9" name="Text 6"/>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0" name="Shape 7"/>
          <p:cNvSpPr/>
          <p:nvPr/>
        </p:nvSpPr>
        <p:spPr>
          <a:xfrm>
            <a:off x="3493008" y="1554480"/>
            <a:ext cx="2670048" cy="3749040"/>
          </a:xfrm>
          <a:prstGeom prst="roundRect">
            <a:avLst>
              <a:gd name="adj" fmla="val 2740"/>
            </a:avLst>
          </a:prstGeom>
          <a:solidFill>
            <a:srgbClr val="F5F5F5"/>
          </a:solidFill>
          <a:ln/>
        </p:spPr>
      </p:sp>
      <p:sp>
        <p:nvSpPr>
          <p:cNvPr id="11" name="Shape 8"/>
          <p:cNvSpPr/>
          <p:nvPr/>
        </p:nvSpPr>
        <p:spPr>
          <a:xfrm>
            <a:off x="3767328" y="1828800"/>
            <a:ext cx="640080" cy="64008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933749" y="1995221"/>
            <a:ext cx="307238" cy="307238"/>
          </a:xfrm>
          <a:prstGeom prst="rect">
            <a:avLst/>
          </a:prstGeom>
        </p:spPr>
      </p:pic>
      <p:sp>
        <p:nvSpPr>
          <p:cNvPr id="13" name="Text 9"/>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4" name="Text 10"/>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5" name="Text 11"/>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6" name="Text 12"/>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7" name="Shape 13"/>
          <p:cNvSpPr/>
          <p:nvPr/>
        </p:nvSpPr>
        <p:spPr>
          <a:xfrm>
            <a:off x="6437376" y="1554480"/>
            <a:ext cx="2670048" cy="3749040"/>
          </a:xfrm>
          <a:prstGeom prst="roundRect">
            <a:avLst>
              <a:gd name="adj" fmla="val 2740"/>
            </a:avLst>
          </a:prstGeom>
          <a:solidFill>
            <a:srgbClr val="F5F5F5"/>
          </a:solidFill>
          <a:ln/>
        </p:spPr>
      </p:sp>
      <p:sp>
        <p:nvSpPr>
          <p:cNvPr id="18" name="Shape 14"/>
          <p:cNvSpPr/>
          <p:nvPr/>
        </p:nvSpPr>
        <p:spPr>
          <a:xfrm>
            <a:off x="6711696" y="1828800"/>
            <a:ext cx="640080" cy="640080"/>
          </a:xfrm>
          <a:prstGeom prst="ellipse">
            <a:avLst/>
          </a:prstGeom>
          <a:solidFill>
            <a:srgbClr val="C8102E"/>
          </a:solidFill>
          <a:ln/>
        </p:spPr>
      </p:sp>
      <p:pic>
        <p:nvPicPr>
          <p:cNvPr id="19" name="Image 2" descr="preencoded.png">    </p:cNvPr>
          <p:cNvPicPr>
            <a:picLocks noChangeAspect="1"/>
          </p:cNvPicPr>
          <p:nvPr/>
        </p:nvPicPr>
        <p:blipFill>
          <a:blip r:embed="rId3"/>
          <a:stretch>
            <a:fillRect/>
          </a:stretch>
        </p:blipFill>
        <p:spPr>
          <a:xfrm>
            <a:off x="6878117" y="1995221"/>
            <a:ext cx="307238" cy="307238"/>
          </a:xfrm>
          <a:prstGeom prst="rect">
            <a:avLst/>
          </a:prstGeom>
        </p:spPr>
      </p:pic>
      <p:sp>
        <p:nvSpPr>
          <p:cNvPr id="20" name="Text 15"/>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21" name="Text 16"/>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22" name="Text 17"/>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3" name="Text 18"/>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4" name="Shape 19"/>
          <p:cNvSpPr/>
          <p:nvPr/>
        </p:nvSpPr>
        <p:spPr>
          <a:xfrm>
            <a:off x="9381744" y="1554480"/>
            <a:ext cx="2670048" cy="3749040"/>
          </a:xfrm>
          <a:prstGeom prst="roundRect">
            <a:avLst>
              <a:gd name="adj" fmla="val 2740"/>
            </a:avLst>
          </a:prstGeom>
          <a:solidFill>
            <a:srgbClr val="111111"/>
          </a:solidFill>
          <a:ln/>
        </p:spPr>
      </p:sp>
      <p:sp>
        <p:nvSpPr>
          <p:cNvPr id="25" name="Shape 20"/>
          <p:cNvSpPr/>
          <p:nvPr/>
        </p:nvSpPr>
        <p:spPr>
          <a:xfrm>
            <a:off x="9656064" y="1828800"/>
            <a:ext cx="640080" cy="640080"/>
          </a:xfrm>
          <a:prstGeom prst="ellipse">
            <a:avLst/>
          </a:prstGeom>
          <a:solidFill>
            <a:srgbClr val="C8102E"/>
          </a:solidFill>
          <a:ln/>
        </p:spPr>
      </p:sp>
      <p:pic>
        <p:nvPicPr>
          <p:cNvPr id="26" name="Image 3" descr="preencoded.png">    </p:cNvPr>
          <p:cNvPicPr>
            <a:picLocks noChangeAspect="1"/>
          </p:cNvPicPr>
          <p:nvPr/>
        </p:nvPicPr>
        <p:blipFill>
          <a:blip r:embed="rId4"/>
          <a:stretch>
            <a:fillRect/>
          </a:stretch>
        </p:blipFill>
        <p:spPr>
          <a:xfrm>
            <a:off x="9822485" y="1995221"/>
            <a:ext cx="307238" cy="307238"/>
          </a:xfrm>
          <a:prstGeom prst="rect">
            <a:avLst/>
          </a:prstGeom>
        </p:spPr>
      </p:pic>
      <p:sp>
        <p:nvSpPr>
          <p:cNvPr id="27" name="Text 21"/>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8" name="Text 22"/>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9" name="Text 23"/>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30" name="Text 24"/>
          <p:cNvSpPr/>
          <p:nvPr/>
        </p:nvSpPr>
        <p:spPr>
          <a:xfrm>
            <a:off x="548640" y="5623560"/>
            <a:ext cx="11064240" cy="41148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Net effect: </a:t>
            </a:r>
            <a:pPr indent="0" marL="0">
              <a:buNone/>
            </a:pPr>
            <a:r>
              <a:rPr lang="en-US" sz="15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500" dirty="0"/>
          </a:p>
        </p:txBody>
      </p:sp>
      <p:sp>
        <p:nvSpPr>
          <p:cNvPr id="31" name="Text 25"/>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32" name="Text 26"/>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50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50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365760">
                <a:tc>
                  <a:txBody>
                    <a:bodyPr/>
                    <a:lstStyle/>
                    <a:p>
                      <a:pPr algn="ctr" indent="0" marL="0">
                        <a:buNone/>
                      </a:pP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Bronze</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Silver</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Gold</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Platinum</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Founding*  (our pick)</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4206240" cy="3657600"/>
          </a:xfrm>
          <a:prstGeom prst="roundRect">
            <a:avLst>
              <a:gd name="adj" fmla="val 2000"/>
            </a:avLst>
          </a:prstGeom>
          <a:solidFill>
            <a:srgbClr val="F5F5F5"/>
          </a:solidFill>
          <a:ln/>
        </p:spPr>
      </p:sp>
      <p:sp>
        <p:nvSpPr>
          <p:cNvPr id="5" name="Text 3"/>
          <p:cNvSpPr/>
          <p:nvPr/>
        </p:nvSpPr>
        <p:spPr>
          <a:xfrm>
            <a:off x="868680" y="1828800"/>
            <a:ext cx="3566160" cy="36576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T-Rock net per job</a:t>
            </a:r>
            <a:endParaRPr lang="en-US" sz="1600" dirty="0"/>
          </a:p>
        </p:txBody>
      </p:sp>
      <p:sp>
        <p:nvSpPr>
          <p:cNvPr id="6" name="Text 4"/>
          <p:cNvSpPr/>
          <p:nvPr/>
        </p:nvSpPr>
        <p:spPr>
          <a:xfrm>
            <a:off x="868680" y="2240280"/>
            <a:ext cx="3566160" cy="2286000"/>
          </a:xfrm>
          <a:prstGeom prst="rect">
            <a:avLst/>
          </a:prstGeom>
          <a:noFill/>
          <a:ln/>
        </p:spPr>
        <p:txBody>
          <a:bodyPr wrap="square" lIns="0" tIns="0" rIns="0" bIns="0" rtlCol="0" anchor="ctr"/>
          <a:lstStyle/>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Avg ticket (RCV):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$30,000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Gross margin 35%: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$10,500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Scope fee (2% RCV):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 $600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Job profit: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$9,900, split 50/50 w/ PM</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T-Rock net / job: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$4,950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Break even:  </a:t>
            </a:r>
            <a:pPr indent="0" marL="0">
              <a:buNone/>
            </a:pPr>
            <a:r>
              <a:rPr lang="en-US" sz="1250" b="1" dirty="0">
                <a:solidFill>
                  <a:srgbClr val="C8102E"/>
                </a:solidFill>
                <a:latin typeface="Arial" pitchFamily="34" charset="0"/>
                <a:ea typeface="Arial" pitchFamily="34" charset="-122"/>
                <a:cs typeface="Arial" pitchFamily="34" charset="-120"/>
              </a:rPr>
              <a:t>annual cost ÷ $4,950</a:t>
            </a:r>
            <a:endParaRPr lang="en-US" sz="1250" dirty="0"/>
          </a:p>
        </p:txBody>
      </p:sp>
      <p:sp>
        <p:nvSpPr>
          <p:cNvPr id="7" name="Text 5"/>
          <p:cNvSpPr/>
          <p:nvPr/>
        </p:nvSpPr>
        <p:spPr>
          <a:xfrm>
            <a:off x="868680" y="4617720"/>
            <a:ext cx="3566160" cy="54864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Subscription is overhead (not job-attributable), so it's measured against T-Rock's share — the conservative view.</a:t>
            </a:r>
            <a:endParaRPr lang="en-US" sz="1050" dirty="0"/>
          </a:p>
        </p:txBody>
      </p:sp>
      <p:graphicFrame>
        <p:nvGraphicFramePr>
          <p:cNvPr id="8" name="Chart 0" descr=""/>
          <p:cNvGraphicFramePr/>
          <p:nvPr/>
        </p:nvGraphicFramePr>
        <p:xfrm>
          <a:off x="5029200" y="1645920"/>
          <a:ext cx="6583680" cy="36576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48640" y="5532120"/>
            <a:ext cx="11064240" cy="731520"/>
          </a:xfrm>
          <a:prstGeom prst="roundRect">
            <a:avLst>
              <a:gd name="adj" fmla="val 7500"/>
            </a:avLst>
          </a:prstGeom>
          <a:solidFill>
            <a:srgbClr val="111111"/>
          </a:solidFill>
          <a:ln/>
        </p:spPr>
      </p:sp>
      <p:sp>
        <p:nvSpPr>
          <p:cNvPr id="10" name="Text 7"/>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Founding breaks even at 4.8 jobs a year — one incremental roof every ~11 weeks — on T-Rock's share alone. </a:t>
            </a:r>
            <a:pPr indent="0" marL="0">
              <a:buNone/>
            </a:pPr>
            <a:r>
              <a:rPr lang="en-US" sz="1500" dirty="0">
                <a:solidFill>
                  <a:srgbClr val="E6E6E6"/>
                </a:solidFill>
                <a:latin typeface="Arial" pitchFamily="34" charset="0"/>
                <a:ea typeface="Arial" pitchFamily="34" charset="-122"/>
                <a:cs typeface="Arial" pitchFamily="34" charset="-120"/>
              </a:rPr>
              <a:t>Past that it's margin, at $500/mo under Platinum sticker forever.</a:t>
            </a:r>
            <a:endParaRPr lang="en-US" sz="1500" dirty="0"/>
          </a:p>
        </p:txBody>
      </p:sp>
      <p:sp>
        <p:nvSpPr>
          <p:cNvPr id="11" name="Text 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Per job: $30,000 × 35% = $10,500, less 2% RCV scope fee ($600) = $9,900, split 50/50 with the PM → $4,950 to T-Rock.</a:t>
            </a:r>
            <a:endParaRPr lang="en-US" sz="900" dirty="0"/>
          </a:p>
        </p:txBody>
      </p:sp>
      <p:sp>
        <p:nvSpPr>
          <p:cNvPr id="12" name="Text 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685800" y="5074920"/>
            <a:ext cx="594360" cy="59436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840334" y="5229454"/>
            <a:ext cx="285293" cy="285293"/>
          </a:xfrm>
          <a:prstGeom prst="rect">
            <a:avLst/>
          </a:prstGeom>
        </p:spPr>
      </p:pic>
      <p:sp>
        <p:nvSpPr>
          <p:cNvPr id="7" name="Text 3"/>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T-Rock's net on about 1.2 jobs. Founding bills $2,000 monthly; we get clean cancellation terms in writing before signing.</a:t>
            </a:r>
            <a:endParaRPr lang="en-US" sz="1450" dirty="0"/>
          </a:p>
        </p:txBody>
      </p:sp>
      <p:sp>
        <p:nvSpPr>
          <p:cNvPr id="8"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Targets are proposals — Aaron/Alan set final thresholds before we start.</a:t>
            </a:r>
            <a:endParaRPr lang="en-US" sz="900" dirty="0"/>
          </a:p>
        </p:txBody>
      </p:sp>
      <p:sp>
        <p:nvSpPr>
          <p:cNvPr id="9"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sp>
        <p:nvSpPr>
          <p:cNvPr id="4" name="Shape 2"/>
          <p:cNvSpPr/>
          <p:nvPr/>
        </p:nvSpPr>
        <p:spPr>
          <a:xfrm>
            <a:off x="822960" y="1645920"/>
            <a:ext cx="594360" cy="59436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77494" y="1800454"/>
            <a:ext cx="285293" cy="285293"/>
          </a:xfrm>
          <a:prstGeom prst="rect">
            <a:avLst/>
          </a:prstGeom>
        </p:spPr>
      </p:pic>
      <p:sp>
        <p:nvSpPr>
          <p:cNvPr id="6" name="Text 3"/>
          <p:cNvSpPr/>
          <p:nvPr/>
        </p:nvSpPr>
        <p:spPr>
          <a:xfrm>
            <a:off x="160020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“Isn't the ‘limited offer’ a sales tactic?”</a:t>
            </a:r>
            <a:endParaRPr lang="en-US" sz="1600" dirty="0"/>
          </a:p>
        </p:txBody>
      </p:sp>
      <p:sp>
        <p:nvSpPr>
          <p:cNvPr id="7" name="Text 4"/>
          <p:cNvSpPr/>
          <p:nvPr/>
        </p:nvSpPr>
        <p:spPr>
          <a:xfrm>
            <a:off x="160020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T-Rock's net on about one job. Only dealbreaker: cancellation terms that aren't clean.</a:t>
            </a:r>
            <a:endParaRPr lang="en-US" sz="1200" dirty="0"/>
          </a:p>
        </p:txBody>
      </p:sp>
      <p:sp>
        <p:nvSpPr>
          <p:cNvPr id="8" name="Shape 5"/>
          <p:cNvSpPr/>
          <p:nvPr/>
        </p:nvSpPr>
        <p:spPr>
          <a:xfrm>
            <a:off x="6217920" y="1371600"/>
            <a:ext cx="5394960" cy="2194560"/>
          </a:xfrm>
          <a:prstGeom prst="roundRect">
            <a:avLst>
              <a:gd name="adj" fmla="val 3333"/>
            </a:avLst>
          </a:prstGeom>
          <a:solidFill>
            <a:srgbClr val="F5F5F5"/>
          </a:solidFill>
          <a:ln/>
        </p:spPr>
      </p:sp>
      <p:sp>
        <p:nvSpPr>
          <p:cNvPr id="9" name="Shape 6"/>
          <p:cNvSpPr/>
          <p:nvPr/>
        </p:nvSpPr>
        <p:spPr>
          <a:xfrm>
            <a:off x="6492240" y="1645920"/>
            <a:ext cx="594360" cy="594360"/>
          </a:xfrm>
          <a:prstGeom prst="ellipse">
            <a:avLst/>
          </a:prstGeom>
          <a:solidFill>
            <a:srgbClr val="C8102E"/>
          </a:solidFill>
          <a:ln/>
        </p:spPr>
      </p:sp>
      <p:pic>
        <p:nvPicPr>
          <p:cNvPr id="10" name="Image 1" descr="preencoded.png">    </p:cNvPr>
          <p:cNvPicPr>
            <a:picLocks noChangeAspect="1"/>
          </p:cNvPicPr>
          <p:nvPr/>
        </p:nvPicPr>
        <p:blipFill>
          <a:blip r:embed="rId2"/>
          <a:stretch>
            <a:fillRect/>
          </a:stretch>
        </p:blipFill>
        <p:spPr>
          <a:xfrm>
            <a:off x="6646774" y="1800454"/>
            <a:ext cx="285293" cy="285293"/>
          </a:xfrm>
          <a:prstGeom prst="rect">
            <a:avLst/>
          </a:prstGeom>
        </p:spPr>
      </p:pic>
      <p:sp>
        <p:nvSpPr>
          <p:cNvPr id="11" name="Text 7"/>
          <p:cNvSpPr/>
          <p:nvPr/>
        </p:nvSpPr>
        <p:spPr>
          <a:xfrm>
            <a:off x="726948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“Their case studies are marketing.”</a:t>
            </a:r>
            <a:endParaRPr lang="en-US" sz="1600" dirty="0"/>
          </a:p>
        </p:txBody>
      </p:sp>
      <p:sp>
        <p:nvSpPr>
          <p:cNvPr id="12" name="Text 8"/>
          <p:cNvSpPr/>
          <p:nvPr/>
        </p:nvSpPr>
        <p:spPr>
          <a:xfrm>
            <a:off x="726948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3" name="Shape 9"/>
          <p:cNvSpPr/>
          <p:nvPr/>
        </p:nvSpPr>
        <p:spPr>
          <a:xfrm>
            <a:off x="548640" y="3794760"/>
            <a:ext cx="5394960" cy="2194560"/>
          </a:xfrm>
          <a:prstGeom prst="roundRect">
            <a:avLst>
              <a:gd name="adj" fmla="val 3333"/>
            </a:avLst>
          </a:prstGeom>
          <a:solidFill>
            <a:srgbClr val="F5F5F5"/>
          </a:solidFill>
          <a:ln/>
        </p:spPr>
      </p:sp>
      <p:sp>
        <p:nvSpPr>
          <p:cNvPr id="14" name="Shape 10"/>
          <p:cNvSpPr/>
          <p:nvPr/>
        </p:nvSpPr>
        <p:spPr>
          <a:xfrm>
            <a:off x="822960" y="4069080"/>
            <a:ext cx="594360" cy="594360"/>
          </a:xfrm>
          <a:prstGeom prst="ellipse">
            <a:avLst/>
          </a:prstGeom>
          <a:solidFill>
            <a:srgbClr val="C8102E"/>
          </a:solidFill>
          <a:ln/>
        </p:spPr>
      </p:sp>
      <p:pic>
        <p:nvPicPr>
          <p:cNvPr id="15" name="Image 2" descr="preencoded.png">    </p:cNvPr>
          <p:cNvPicPr>
            <a:picLocks noChangeAspect="1"/>
          </p:cNvPicPr>
          <p:nvPr/>
        </p:nvPicPr>
        <p:blipFill>
          <a:blip r:embed="rId3"/>
          <a:stretch>
            <a:fillRect/>
          </a:stretch>
        </p:blipFill>
        <p:spPr>
          <a:xfrm>
            <a:off x="977494" y="4223614"/>
            <a:ext cx="285293" cy="285293"/>
          </a:xfrm>
          <a:prstGeom prst="rect">
            <a:avLst/>
          </a:prstGeom>
        </p:spPr>
      </p:pic>
      <p:sp>
        <p:nvSpPr>
          <p:cNvPr id="16" name="Text 11"/>
          <p:cNvSpPr/>
          <p:nvPr/>
        </p:nvSpPr>
        <p:spPr>
          <a:xfrm>
            <a:off x="160020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 the damage data real?”</a:t>
            </a:r>
            <a:endParaRPr lang="en-US" sz="1600" dirty="0"/>
          </a:p>
        </p:txBody>
      </p:sp>
      <p:sp>
        <p:nvSpPr>
          <p:cNvPr id="17" name="Text 12"/>
          <p:cNvSpPr/>
          <p:nvPr/>
        </p:nvSpPr>
        <p:spPr>
          <a:xfrm>
            <a:off x="160020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8" name="Shape 13"/>
          <p:cNvSpPr/>
          <p:nvPr/>
        </p:nvSpPr>
        <p:spPr>
          <a:xfrm>
            <a:off x="6217920" y="3794760"/>
            <a:ext cx="5394960" cy="2194560"/>
          </a:xfrm>
          <a:prstGeom prst="roundRect">
            <a:avLst>
              <a:gd name="adj" fmla="val 3333"/>
            </a:avLst>
          </a:prstGeom>
          <a:solidFill>
            <a:srgbClr val="F5F5F5"/>
          </a:solidFill>
          <a:ln/>
        </p:spPr>
      </p:sp>
      <p:sp>
        <p:nvSpPr>
          <p:cNvPr id="19" name="Shape 14"/>
          <p:cNvSpPr/>
          <p:nvPr/>
        </p:nvSpPr>
        <p:spPr>
          <a:xfrm>
            <a:off x="6492240" y="4069080"/>
            <a:ext cx="594360" cy="594360"/>
          </a:xfrm>
          <a:prstGeom prst="ellipse">
            <a:avLst/>
          </a:prstGeom>
          <a:solidFill>
            <a:srgbClr val="C8102E"/>
          </a:solidFill>
          <a:ln/>
        </p:spPr>
      </p:sp>
      <p:pic>
        <p:nvPicPr>
          <p:cNvPr id="20" name="Image 3" descr="preencoded.png">    </p:cNvPr>
          <p:cNvPicPr>
            <a:picLocks noChangeAspect="1"/>
          </p:cNvPicPr>
          <p:nvPr/>
        </p:nvPicPr>
        <p:blipFill>
          <a:blip r:embed="rId4"/>
          <a:stretch>
            <a:fillRect/>
          </a:stretch>
        </p:blipFill>
        <p:spPr>
          <a:xfrm>
            <a:off x="6646774" y="4223614"/>
            <a:ext cx="285293" cy="285293"/>
          </a:xfrm>
          <a:prstGeom prst="rect">
            <a:avLst/>
          </a:prstGeom>
        </p:spPr>
      </p:pic>
      <p:sp>
        <p:nvSpPr>
          <p:cNvPr id="21" name="Text 15"/>
          <p:cNvSpPr/>
          <p:nvPr/>
        </p:nvSpPr>
        <p:spPr>
          <a:xfrm>
            <a:off x="726948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“Will the reps actually use it?”</a:t>
            </a:r>
            <a:endParaRPr lang="en-US" sz="1600" dirty="0"/>
          </a:p>
        </p:txBody>
      </p:sp>
      <p:sp>
        <p:nvSpPr>
          <p:cNvPr id="22" name="Text 16"/>
          <p:cNvSpPr/>
          <p:nvPr/>
        </p:nvSpPr>
        <p:spPr>
          <a:xfrm>
            <a:off x="726948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23" name="Text 17"/>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4" name="Text 1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sp>
        <p:nvSpPr>
          <p:cNvPr id="4" name="Shape 2"/>
          <p:cNvSpPr/>
          <p:nvPr/>
        </p:nvSpPr>
        <p:spPr>
          <a:xfrm>
            <a:off x="978408" y="187452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1144829" y="2040941"/>
            <a:ext cx="307238" cy="307238"/>
          </a:xfrm>
          <a:prstGeom prst="rect">
            <a:avLst/>
          </a:prstGeom>
        </p:spPr>
      </p:pic>
      <p:sp>
        <p:nvSpPr>
          <p:cNvPr id="6" name="Text 3"/>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7" name="Text 4"/>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8" name="Text 5"/>
          <p:cNvSpPr/>
          <p:nvPr/>
        </p:nvSpPr>
        <p:spPr>
          <a:xfrm>
            <a:off x="97840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30 minutes. Confirm the Founding offer is still open, get cancellation terms in writing, and ask how automated calls/texts handle DNC &amp; TCPA compliance.</a:t>
            </a:r>
            <a:endParaRPr lang="en-US" sz="1250" dirty="0"/>
          </a:p>
        </p:txBody>
      </p:sp>
      <p:sp>
        <p:nvSpPr>
          <p:cNvPr id="9" name="Shape 6"/>
          <p:cNvSpPr/>
          <p:nvPr/>
        </p:nvSpPr>
        <p:spPr>
          <a:xfrm>
            <a:off x="4434840" y="1600200"/>
            <a:ext cx="3474720" cy="3108960"/>
          </a:xfrm>
          <a:prstGeom prst="roundRect">
            <a:avLst>
              <a:gd name="adj" fmla="val 2353"/>
            </a:avLst>
          </a:prstGeom>
          <a:solidFill>
            <a:srgbClr val="1E1E1E"/>
          </a:solidFill>
          <a:ln/>
        </p:spPr>
      </p:sp>
      <p:sp>
        <p:nvSpPr>
          <p:cNvPr id="10" name="Shape 7"/>
          <p:cNvSpPr/>
          <p:nvPr/>
        </p:nvSpPr>
        <p:spPr>
          <a:xfrm>
            <a:off x="4727448" y="18745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93869" y="2040941"/>
            <a:ext cx="307238" cy="307238"/>
          </a:xfrm>
          <a:prstGeom prst="rect">
            <a:avLst/>
          </a:prstGeom>
        </p:spPr>
      </p:pic>
      <p:sp>
        <p:nvSpPr>
          <p:cNvPr id="12" name="Text 8"/>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3" name="Text 9"/>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4" name="Text 10"/>
          <p:cNvSpPr/>
          <p:nvPr/>
        </p:nvSpPr>
        <p:spPr>
          <a:xfrm>
            <a:off x="472744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a:t>
            </a:r>
            <a:endParaRPr lang="en-US" sz="1250" dirty="0"/>
          </a:p>
        </p:txBody>
      </p:sp>
      <p:sp>
        <p:nvSpPr>
          <p:cNvPr id="15" name="Shape 11"/>
          <p:cNvSpPr/>
          <p:nvPr/>
        </p:nvSpPr>
        <p:spPr>
          <a:xfrm>
            <a:off x="8183880" y="1600200"/>
            <a:ext cx="3474720" cy="3108960"/>
          </a:xfrm>
          <a:prstGeom prst="roundRect">
            <a:avLst>
              <a:gd name="adj" fmla="val 2353"/>
            </a:avLst>
          </a:prstGeom>
          <a:solidFill>
            <a:srgbClr val="1E1E1E"/>
          </a:solidFill>
          <a:ln/>
        </p:spPr>
      </p:sp>
      <p:sp>
        <p:nvSpPr>
          <p:cNvPr id="16" name="Shape 12"/>
          <p:cNvSpPr/>
          <p:nvPr/>
        </p:nvSpPr>
        <p:spPr>
          <a:xfrm>
            <a:off x="8476488" y="1874520"/>
            <a:ext cx="640080" cy="640080"/>
          </a:xfrm>
          <a:prstGeom prst="ellipse">
            <a:avLst/>
          </a:prstGeom>
          <a:solidFill>
            <a:srgbClr val="C8102E"/>
          </a:solidFill>
          <a:ln/>
        </p:spPr>
      </p:sp>
      <p:pic>
        <p:nvPicPr>
          <p:cNvPr id="17" name="Image 2" descr="preencoded.png">    </p:cNvPr>
          <p:cNvPicPr>
            <a:picLocks noChangeAspect="1"/>
          </p:cNvPicPr>
          <p:nvPr/>
        </p:nvPicPr>
        <p:blipFill>
          <a:blip r:embed="rId3"/>
          <a:stretch>
            <a:fillRect/>
          </a:stretch>
        </p:blipFill>
        <p:spPr>
          <a:xfrm>
            <a:off x="8642909" y="2040941"/>
            <a:ext cx="307238" cy="307238"/>
          </a:xfrm>
          <a:prstGeom prst="rect">
            <a:avLst/>
          </a:prstGeom>
        </p:spPr>
      </p:pic>
      <p:sp>
        <p:nvSpPr>
          <p:cNvPr id="18" name="Text 13"/>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9" name="Text 14"/>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20" name="Text 15"/>
          <p:cNvSpPr/>
          <p:nvPr/>
        </p:nvSpPr>
        <p:spPr>
          <a:xfrm>
            <a:off x="847648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50" dirty="0"/>
          </a:p>
        </p:txBody>
      </p:sp>
      <p:sp>
        <p:nvSpPr>
          <p:cNvPr id="21" name="Text 16"/>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22" name="Text 17"/>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2026-08-21T02:18:09Z</dcterms:created>
  <dcterms:modified xsi:type="dcterms:W3CDTF">2026-08-21T02:18:09Z</dcterms:modified>
</cp:coreProperties>
</file>