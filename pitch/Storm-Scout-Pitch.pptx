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777240"/>
            <a:ext cx="822960" cy="822960"/>
          </a:xfrm>
          <a:prstGeom prst="rect">
            <a:avLst/>
          </a:prstGeom>
        </p:spPr>
      </p:pic>
      <p:sp>
        <p:nvSpPr>
          <p:cNvPr id="3" name="Text 0"/>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4" name="Text 1"/>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5" name="Text 2"/>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6" name="Text 3"/>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68680" y="2057400"/>
            <a:ext cx="685800" cy="685800"/>
          </a:xfrm>
          <a:prstGeom prst="rect">
            <a:avLst/>
          </a:prstGeom>
        </p:spPr>
      </p:pic>
      <p:sp>
        <p:nvSpPr>
          <p:cNvPr id="6" name="Text 3"/>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7" name="Text 4"/>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8" name="Shape 5"/>
          <p:cNvSpPr/>
          <p:nvPr/>
        </p:nvSpPr>
        <p:spPr>
          <a:xfrm>
            <a:off x="4343400" y="1737360"/>
            <a:ext cx="3520440" cy="3566160"/>
          </a:xfrm>
          <a:prstGeom prst="roundRect">
            <a:avLst>
              <a:gd name="adj" fmla="val 2078"/>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4663440" y="2057400"/>
            <a:ext cx="685800" cy="685800"/>
          </a:xfrm>
          <a:prstGeom prst="rect">
            <a:avLst/>
          </a:prstGeom>
        </p:spPr>
      </p:pic>
      <p:sp>
        <p:nvSpPr>
          <p:cNvPr id="10" name="Text 6"/>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1" name="Text 7"/>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2" name="Shape 8"/>
          <p:cNvSpPr/>
          <p:nvPr/>
        </p:nvSpPr>
        <p:spPr>
          <a:xfrm>
            <a:off x="8138160" y="1737360"/>
            <a:ext cx="3520440" cy="3566160"/>
          </a:xfrm>
          <a:prstGeom prst="roundRect">
            <a:avLst>
              <a:gd name="adj" fmla="val 2078"/>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458200" y="2057400"/>
            <a:ext cx="685800" cy="685800"/>
          </a:xfrm>
          <a:prstGeom prst="rect">
            <a:avLst/>
          </a:prstGeom>
        </p:spPr>
      </p:pic>
      <p:sp>
        <p:nvSpPr>
          <p:cNvPr id="14" name="Text 9"/>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5" name="Text 10"/>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6" name="Shape 11"/>
          <p:cNvSpPr/>
          <p:nvPr/>
        </p:nvSpPr>
        <p:spPr>
          <a:xfrm>
            <a:off x="548640" y="5577840"/>
            <a:ext cx="11064240" cy="685800"/>
          </a:xfrm>
          <a:prstGeom prst="roundRect">
            <a:avLst>
              <a:gd name="adj" fmla="val 8000"/>
            </a:avLst>
          </a:prstGeom>
          <a:solidFill>
            <a:srgbClr val="111111"/>
          </a:solidFill>
          <a:ln/>
        </p:spPr>
      </p:sp>
      <p:sp>
        <p:nvSpPr>
          <p:cNvPr id="17" name="Text 12"/>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500" dirty="0"/>
          </a:p>
        </p:txBody>
      </p:sp>
      <p:sp>
        <p:nvSpPr>
          <p:cNvPr id="18" name="Text 1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19"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2103120"/>
            <a:ext cx="640080" cy="640080"/>
          </a:xfrm>
          <a:prstGeom prst="rect">
            <a:avLst/>
          </a:prstGeom>
        </p:spPr>
      </p:pic>
      <p:sp>
        <p:nvSpPr>
          <p:cNvPr id="6" name="Text 3"/>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7" name="Text 4"/>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8" name="Shape 5"/>
          <p:cNvSpPr/>
          <p:nvPr/>
        </p:nvSpPr>
        <p:spPr>
          <a:xfrm>
            <a:off x="6217920" y="1828800"/>
            <a:ext cx="5394960" cy="1965960"/>
          </a:xfrm>
          <a:prstGeom prst="roundRect">
            <a:avLst>
              <a:gd name="adj" fmla="val 3721"/>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6492240" y="2103120"/>
            <a:ext cx="640080" cy="640080"/>
          </a:xfrm>
          <a:prstGeom prst="rect">
            <a:avLst/>
          </a:prstGeom>
        </p:spPr>
      </p:pic>
      <p:sp>
        <p:nvSpPr>
          <p:cNvPr id="10" name="Text 6"/>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1" name="Text 7"/>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2" name="Shape 8"/>
          <p:cNvSpPr/>
          <p:nvPr/>
        </p:nvSpPr>
        <p:spPr>
          <a:xfrm>
            <a:off x="548640" y="4023360"/>
            <a:ext cx="5394960" cy="1965960"/>
          </a:xfrm>
          <a:prstGeom prst="roundRect">
            <a:avLst>
              <a:gd name="adj" fmla="val 3721"/>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22960" y="4297680"/>
            <a:ext cx="640080" cy="640080"/>
          </a:xfrm>
          <a:prstGeom prst="rect">
            <a:avLst/>
          </a:prstGeom>
        </p:spPr>
      </p:pic>
      <p:sp>
        <p:nvSpPr>
          <p:cNvPr id="14" name="Text 9"/>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5" name="Text 10"/>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6" name="Shape 11"/>
          <p:cNvSpPr/>
          <p:nvPr/>
        </p:nvSpPr>
        <p:spPr>
          <a:xfrm>
            <a:off x="6217920" y="4023360"/>
            <a:ext cx="5394960" cy="1965960"/>
          </a:xfrm>
          <a:prstGeom prst="roundRect">
            <a:avLst>
              <a:gd name="adj" fmla="val 3721"/>
            </a:avLst>
          </a:prstGeom>
          <a:solidFill>
            <a:srgbClr val="F5F5F5"/>
          </a:solidFill>
          <a:ln/>
        </p:spPr>
      </p:sp>
      <p:pic>
        <p:nvPicPr>
          <p:cNvPr id="17" name="Image 3" descr="preencoded.png">    </p:cNvPr>
          <p:cNvPicPr>
            <a:picLocks noChangeAspect="1"/>
          </p:cNvPicPr>
          <p:nvPr/>
        </p:nvPicPr>
        <p:blipFill>
          <a:blip r:embed="rId4"/>
          <a:stretch>
            <a:fillRect/>
          </a:stretch>
        </p:blipFill>
        <p:spPr>
          <a:xfrm>
            <a:off x="6492240" y="4297680"/>
            <a:ext cx="640080" cy="640080"/>
          </a:xfrm>
          <a:prstGeom prst="rect">
            <a:avLst/>
          </a:prstGeom>
        </p:spPr>
      </p:pic>
      <p:sp>
        <p:nvSpPr>
          <p:cNvPr id="18" name="Text 12"/>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19" name="Text 13"/>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0" name="Text 1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1" name="Text 1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828800"/>
            <a:ext cx="640080" cy="640080"/>
          </a:xfrm>
          <a:prstGeom prst="rect">
            <a:avLst/>
          </a:prstGeom>
        </p:spPr>
      </p:pic>
      <p:sp>
        <p:nvSpPr>
          <p:cNvPr id="5" name="Text 2"/>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6" name="Text 3"/>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7" name="Text 4"/>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8" name="Text 5"/>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9" name="Shape 6"/>
          <p:cNvSpPr/>
          <p:nvPr/>
        </p:nvSpPr>
        <p:spPr>
          <a:xfrm>
            <a:off x="3493008" y="1554480"/>
            <a:ext cx="2670048" cy="3749040"/>
          </a:xfrm>
          <a:prstGeom prst="roundRect">
            <a:avLst>
              <a:gd name="adj" fmla="val 2740"/>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3767328" y="1828800"/>
            <a:ext cx="640080" cy="640080"/>
          </a:xfrm>
          <a:prstGeom prst="rect">
            <a:avLst/>
          </a:prstGeom>
        </p:spPr>
      </p:pic>
      <p:sp>
        <p:nvSpPr>
          <p:cNvPr id="11" name="Text 7"/>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2" name="Text 8"/>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3" name="Text 9"/>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4" name="Text 10"/>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5" name="Shape 11"/>
          <p:cNvSpPr/>
          <p:nvPr/>
        </p:nvSpPr>
        <p:spPr>
          <a:xfrm>
            <a:off x="6437376" y="1554480"/>
            <a:ext cx="2670048" cy="3749040"/>
          </a:xfrm>
          <a:prstGeom prst="roundRect">
            <a:avLst>
              <a:gd name="adj" fmla="val 2740"/>
            </a:avLst>
          </a:prstGeom>
          <a:solidFill>
            <a:srgbClr val="F5F5F5"/>
          </a:solidFill>
          <a:ln/>
        </p:spPr>
      </p:sp>
      <p:pic>
        <p:nvPicPr>
          <p:cNvPr id="16" name="Image 2" descr="preencoded.png">    </p:cNvPr>
          <p:cNvPicPr>
            <a:picLocks noChangeAspect="1"/>
          </p:cNvPicPr>
          <p:nvPr/>
        </p:nvPicPr>
        <p:blipFill>
          <a:blip r:embed="rId3"/>
          <a:stretch>
            <a:fillRect/>
          </a:stretch>
        </p:blipFill>
        <p:spPr>
          <a:xfrm>
            <a:off x="6711696" y="1828800"/>
            <a:ext cx="640080" cy="640080"/>
          </a:xfrm>
          <a:prstGeom prst="rect">
            <a:avLst/>
          </a:prstGeom>
        </p:spPr>
      </p:pic>
      <p:sp>
        <p:nvSpPr>
          <p:cNvPr id="17" name="Text 12"/>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18" name="Text 13"/>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19" name="Text 14"/>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0" name="Text 15"/>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1" name="Shape 16"/>
          <p:cNvSpPr/>
          <p:nvPr/>
        </p:nvSpPr>
        <p:spPr>
          <a:xfrm>
            <a:off x="9381744" y="1554480"/>
            <a:ext cx="2670048" cy="3749040"/>
          </a:xfrm>
          <a:prstGeom prst="roundRect">
            <a:avLst>
              <a:gd name="adj" fmla="val 2740"/>
            </a:avLst>
          </a:prstGeom>
          <a:solidFill>
            <a:srgbClr val="111111"/>
          </a:solidFill>
          <a:ln/>
        </p:spPr>
      </p:sp>
      <p:pic>
        <p:nvPicPr>
          <p:cNvPr id="22" name="Image 3" descr="preencoded.png">    </p:cNvPr>
          <p:cNvPicPr>
            <a:picLocks noChangeAspect="1"/>
          </p:cNvPicPr>
          <p:nvPr/>
        </p:nvPicPr>
        <p:blipFill>
          <a:blip r:embed="rId4"/>
          <a:stretch>
            <a:fillRect/>
          </a:stretch>
        </p:blipFill>
        <p:spPr>
          <a:xfrm>
            <a:off x="9656064" y="1828800"/>
            <a:ext cx="640080" cy="640080"/>
          </a:xfrm>
          <a:prstGeom prst="rect">
            <a:avLst/>
          </a:prstGeom>
        </p:spPr>
      </p:pic>
      <p:sp>
        <p:nvSpPr>
          <p:cNvPr id="23" name="Text 17"/>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4" name="Text 18"/>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5" name="Text 19"/>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26" name="Text 20"/>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27" name="Text 21"/>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28" name="Text 22"/>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sp>
        <p:nvSpPr>
          <p:cNvPr id="4" name="Text 2"/>
          <p:cNvSpPr/>
          <p:nvPr/>
        </p:nvSpPr>
        <p:spPr>
          <a:xfrm>
            <a:off x="54864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Typical cost per roofing lead  ($ midpoints)</a:t>
            </a:r>
            <a:endParaRPr lang="en-US" sz="1400" dirty="0"/>
          </a:p>
        </p:txBody>
      </p:sp>
      <p:sp>
        <p:nvSpPr>
          <p:cNvPr id="5" name="Text 3"/>
          <p:cNvSpPr/>
          <p:nvPr/>
        </p:nvSpPr>
        <p:spPr>
          <a:xfrm>
            <a:off x="548640" y="2057400"/>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Google Ads / LSA</a:t>
            </a:r>
            <a:endParaRPr lang="en-US" sz="1250" dirty="0"/>
          </a:p>
        </p:txBody>
      </p:sp>
      <p:sp>
        <p:nvSpPr>
          <p:cNvPr id="6" name="Shape 4"/>
          <p:cNvSpPr/>
          <p:nvPr/>
        </p:nvSpPr>
        <p:spPr>
          <a:xfrm>
            <a:off x="2377440" y="2103120"/>
            <a:ext cx="4114800" cy="384048"/>
          </a:xfrm>
          <a:prstGeom prst="roundRect">
            <a:avLst>
              <a:gd name="adj" fmla="val 9524"/>
            </a:avLst>
          </a:prstGeom>
          <a:solidFill>
            <a:srgbClr val="9AA0A6"/>
          </a:solidFill>
          <a:ln/>
        </p:spPr>
      </p:sp>
      <p:sp>
        <p:nvSpPr>
          <p:cNvPr id="7" name="Text 5"/>
          <p:cNvSpPr/>
          <p:nvPr/>
        </p:nvSpPr>
        <p:spPr>
          <a:xfrm>
            <a:off x="6583680" y="2057400"/>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$160</a:t>
            </a:r>
            <a:endParaRPr lang="en-US" sz="1400" dirty="0"/>
          </a:p>
        </p:txBody>
      </p:sp>
      <p:sp>
        <p:nvSpPr>
          <p:cNvPr id="8" name="Text 6"/>
          <p:cNvSpPr/>
          <p:nvPr/>
        </p:nvSpPr>
        <p:spPr>
          <a:xfrm>
            <a:off x="548640" y="2715768"/>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Angi</a:t>
            </a:r>
            <a:endParaRPr lang="en-US" sz="1250" dirty="0"/>
          </a:p>
        </p:txBody>
      </p:sp>
      <p:sp>
        <p:nvSpPr>
          <p:cNvPr id="9" name="Shape 7"/>
          <p:cNvSpPr/>
          <p:nvPr/>
        </p:nvSpPr>
        <p:spPr>
          <a:xfrm>
            <a:off x="2377440" y="2761488"/>
            <a:ext cx="2314575" cy="384048"/>
          </a:xfrm>
          <a:prstGeom prst="roundRect">
            <a:avLst>
              <a:gd name="adj" fmla="val 9524"/>
            </a:avLst>
          </a:prstGeom>
          <a:solidFill>
            <a:srgbClr val="9AA0A6"/>
          </a:solidFill>
          <a:ln/>
        </p:spPr>
      </p:sp>
      <p:sp>
        <p:nvSpPr>
          <p:cNvPr id="10" name="Text 8"/>
          <p:cNvSpPr/>
          <p:nvPr/>
        </p:nvSpPr>
        <p:spPr>
          <a:xfrm>
            <a:off x="4783455" y="2715768"/>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$90</a:t>
            </a:r>
            <a:endParaRPr lang="en-US" sz="1400" dirty="0"/>
          </a:p>
        </p:txBody>
      </p:sp>
      <p:sp>
        <p:nvSpPr>
          <p:cNvPr id="11" name="Text 9"/>
          <p:cNvSpPr/>
          <p:nvPr/>
        </p:nvSpPr>
        <p:spPr>
          <a:xfrm>
            <a:off x="548640" y="3374136"/>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Thumbtack</a:t>
            </a:r>
            <a:endParaRPr lang="en-US" sz="1250" dirty="0"/>
          </a:p>
        </p:txBody>
      </p:sp>
      <p:sp>
        <p:nvSpPr>
          <p:cNvPr id="12" name="Shape 10"/>
          <p:cNvSpPr/>
          <p:nvPr/>
        </p:nvSpPr>
        <p:spPr>
          <a:xfrm>
            <a:off x="2377440" y="3419856"/>
            <a:ext cx="1491615" cy="384048"/>
          </a:xfrm>
          <a:prstGeom prst="roundRect">
            <a:avLst>
              <a:gd name="adj" fmla="val 9524"/>
            </a:avLst>
          </a:prstGeom>
          <a:solidFill>
            <a:srgbClr val="9AA0A6"/>
          </a:solidFill>
          <a:ln/>
        </p:spPr>
      </p:sp>
      <p:sp>
        <p:nvSpPr>
          <p:cNvPr id="13" name="Text 11"/>
          <p:cNvSpPr/>
          <p:nvPr/>
        </p:nvSpPr>
        <p:spPr>
          <a:xfrm>
            <a:off x="3960495" y="3374136"/>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$58</a:t>
            </a:r>
            <a:endParaRPr lang="en-US" sz="1400" dirty="0"/>
          </a:p>
        </p:txBody>
      </p:sp>
      <p:sp>
        <p:nvSpPr>
          <p:cNvPr id="14" name="Text 12"/>
          <p:cNvSpPr/>
          <p:nvPr/>
        </p:nvSpPr>
        <p:spPr>
          <a:xfrm>
            <a:off x="548640" y="4032504"/>
            <a:ext cx="1737360" cy="457200"/>
          </a:xfrm>
          <a:prstGeom prst="rect">
            <a:avLst/>
          </a:prstGeom>
          <a:noFill/>
          <a:ln/>
        </p:spPr>
        <p:txBody>
          <a:bodyPr wrap="square" lIns="0" tIns="0" rIns="0" bIns="0" rtlCol="0" anchor="ctr"/>
          <a:lstStyle/>
          <a:p>
            <a:pPr algn="r" indent="0" marL="0">
              <a:buNone/>
            </a:pPr>
            <a:r>
              <a:rPr lang="en-US" sz="1250" b="1" dirty="0">
                <a:solidFill>
                  <a:srgbClr val="C8102E"/>
                </a:solidFill>
                <a:latin typeface="Arial" pitchFamily="34" charset="0"/>
                <a:ea typeface="Arial" pitchFamily="34" charset="-122"/>
                <a:cs typeface="Arial" pitchFamily="34" charset="-120"/>
              </a:rPr>
              <a:t>Storm Scout*</a:t>
            </a:r>
            <a:endParaRPr lang="en-US" sz="1250" dirty="0"/>
          </a:p>
        </p:txBody>
      </p:sp>
      <p:sp>
        <p:nvSpPr>
          <p:cNvPr id="15" name="Shape 13"/>
          <p:cNvSpPr/>
          <p:nvPr/>
        </p:nvSpPr>
        <p:spPr>
          <a:xfrm>
            <a:off x="2377440" y="4078224"/>
            <a:ext cx="257175" cy="384048"/>
          </a:xfrm>
          <a:prstGeom prst="roundRect">
            <a:avLst>
              <a:gd name="adj" fmla="val 14222"/>
            </a:avLst>
          </a:prstGeom>
          <a:solidFill>
            <a:srgbClr val="C8102E"/>
          </a:solidFill>
          <a:ln/>
        </p:spPr>
      </p:sp>
      <p:sp>
        <p:nvSpPr>
          <p:cNvPr id="16" name="Text 14"/>
          <p:cNvSpPr/>
          <p:nvPr/>
        </p:nvSpPr>
        <p:spPr>
          <a:xfrm>
            <a:off x="2726055" y="4032504"/>
            <a:ext cx="822960" cy="45720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a:t>
            </a:r>
            <a:endParaRPr lang="en-US" sz="1400" dirty="0"/>
          </a:p>
        </p:txBody>
      </p:sp>
      <p:sp>
        <p:nvSpPr>
          <p:cNvPr id="17" name="Text 15"/>
          <p:cNvSpPr/>
          <p:nvPr/>
        </p:nvSpPr>
        <p:spPr>
          <a:xfrm>
            <a:off x="548640" y="4617720"/>
            <a:ext cx="6675120" cy="274320"/>
          </a:xfrm>
          <a:prstGeom prst="rect">
            <a:avLst/>
          </a:prstGeom>
          <a:noFill/>
          <a:ln/>
        </p:spPr>
        <p:txBody>
          <a:bodyPr wrap="square" lIns="0" tIns="0" rIns="0" bIns="0" rtlCol="0" anchor="ctr"/>
          <a:lstStyle/>
          <a:p>
            <a:pPr indent="0" marL="0">
              <a:buNone/>
            </a:pPr>
            <a:r>
              <a:rPr lang="en-US" sz="1100" b="1" dirty="0">
                <a:solidFill>
                  <a:srgbClr val="111111"/>
                </a:solidFill>
                <a:latin typeface="Arial" pitchFamily="34" charset="0"/>
                <a:ea typeface="Arial" pitchFamily="34" charset="-122"/>
                <a:cs typeface="Arial" pitchFamily="34" charset="-120"/>
              </a:rPr>
              <a:t>*Subscription cost per lead falls with volume (leads provided, not closed):</a:t>
            </a:r>
            <a:endParaRPr lang="en-US" sz="1100" dirty="0"/>
          </a:p>
        </p:txBody>
      </p:sp>
      <p:sp>
        <p:nvSpPr>
          <p:cNvPr id="18" name="Shape 16"/>
          <p:cNvSpPr/>
          <p:nvPr/>
        </p:nvSpPr>
        <p:spPr>
          <a:xfrm>
            <a:off x="548640" y="4937760"/>
            <a:ext cx="1554480" cy="411480"/>
          </a:xfrm>
          <a:prstGeom prst="roundRect">
            <a:avLst>
              <a:gd name="adj" fmla="val 13333"/>
            </a:avLst>
          </a:prstGeom>
          <a:solidFill>
            <a:srgbClr val="F5F5F5"/>
          </a:solidFill>
          <a:ln/>
        </p:spPr>
      </p:sp>
      <p:sp>
        <p:nvSpPr>
          <p:cNvPr id="19" name="Text 17"/>
          <p:cNvSpPr/>
          <p:nvPr/>
        </p:nvSpPr>
        <p:spPr>
          <a:xfrm>
            <a:off x="64008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$20 </a:t>
            </a:r>
            <a:pPr indent="0" marL="0">
              <a:buNone/>
            </a:pPr>
            <a:r>
              <a:rPr lang="en-US" sz="950" dirty="0">
                <a:solidFill>
                  <a:srgbClr val="6E6E6E"/>
                </a:solidFill>
                <a:latin typeface="Arial" pitchFamily="34" charset="0"/>
                <a:ea typeface="Arial" pitchFamily="34" charset="-122"/>
                <a:cs typeface="Arial" pitchFamily="34" charset="-120"/>
              </a:rPr>
              <a:t>100 leads/mo</a:t>
            </a:r>
            <a:endParaRPr lang="en-US" sz="1400" dirty="0"/>
          </a:p>
        </p:txBody>
      </p:sp>
      <p:sp>
        <p:nvSpPr>
          <p:cNvPr id="20" name="Shape 18"/>
          <p:cNvSpPr/>
          <p:nvPr/>
        </p:nvSpPr>
        <p:spPr>
          <a:xfrm>
            <a:off x="2240280" y="4937760"/>
            <a:ext cx="1554480" cy="411480"/>
          </a:xfrm>
          <a:prstGeom prst="roundRect">
            <a:avLst>
              <a:gd name="adj" fmla="val 13333"/>
            </a:avLst>
          </a:prstGeom>
          <a:solidFill>
            <a:srgbClr val="F5F5F5"/>
          </a:solidFill>
          <a:ln/>
        </p:spPr>
      </p:sp>
      <p:sp>
        <p:nvSpPr>
          <p:cNvPr id="21" name="Text 19"/>
          <p:cNvSpPr/>
          <p:nvPr/>
        </p:nvSpPr>
        <p:spPr>
          <a:xfrm>
            <a:off x="233172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 </a:t>
            </a:r>
            <a:pPr indent="0" marL="0">
              <a:buNone/>
            </a:pPr>
            <a:r>
              <a:rPr lang="en-US" sz="950" dirty="0">
                <a:solidFill>
                  <a:srgbClr val="6E6E6E"/>
                </a:solidFill>
                <a:latin typeface="Arial" pitchFamily="34" charset="0"/>
                <a:ea typeface="Arial" pitchFamily="34" charset="-122"/>
                <a:cs typeface="Arial" pitchFamily="34" charset="-120"/>
              </a:rPr>
              <a:t>200</a:t>
            </a:r>
            <a:endParaRPr lang="en-US" sz="1400" dirty="0"/>
          </a:p>
        </p:txBody>
      </p:sp>
      <p:sp>
        <p:nvSpPr>
          <p:cNvPr id="22" name="Shape 20"/>
          <p:cNvSpPr/>
          <p:nvPr/>
        </p:nvSpPr>
        <p:spPr>
          <a:xfrm>
            <a:off x="3931920" y="4937760"/>
            <a:ext cx="1554480" cy="411480"/>
          </a:xfrm>
          <a:prstGeom prst="roundRect">
            <a:avLst>
              <a:gd name="adj" fmla="val 13333"/>
            </a:avLst>
          </a:prstGeom>
          <a:solidFill>
            <a:srgbClr val="F5F5F5"/>
          </a:solidFill>
          <a:ln/>
        </p:spPr>
      </p:sp>
      <p:sp>
        <p:nvSpPr>
          <p:cNvPr id="23" name="Text 21"/>
          <p:cNvSpPr/>
          <p:nvPr/>
        </p:nvSpPr>
        <p:spPr>
          <a:xfrm>
            <a:off x="402336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$4 </a:t>
            </a:r>
            <a:pPr indent="0" marL="0">
              <a:buNone/>
            </a:pPr>
            <a:r>
              <a:rPr lang="en-US" sz="950" dirty="0">
                <a:solidFill>
                  <a:srgbClr val="6E6E6E"/>
                </a:solidFill>
                <a:latin typeface="Arial" pitchFamily="34" charset="0"/>
                <a:ea typeface="Arial" pitchFamily="34" charset="-122"/>
                <a:cs typeface="Arial" pitchFamily="34" charset="-120"/>
              </a:rPr>
              <a:t>500</a:t>
            </a:r>
            <a:endParaRPr lang="en-US" sz="1400" dirty="0"/>
          </a:p>
        </p:txBody>
      </p:sp>
      <p:sp>
        <p:nvSpPr>
          <p:cNvPr id="24" name="Shape 22"/>
          <p:cNvSpPr/>
          <p:nvPr/>
        </p:nvSpPr>
        <p:spPr>
          <a:xfrm>
            <a:off x="5623560" y="4937760"/>
            <a:ext cx="1554480" cy="411480"/>
          </a:xfrm>
          <a:prstGeom prst="roundRect">
            <a:avLst>
              <a:gd name="adj" fmla="val 13333"/>
            </a:avLst>
          </a:prstGeom>
          <a:solidFill>
            <a:srgbClr val="C8102E"/>
          </a:solidFill>
          <a:ln/>
        </p:spPr>
      </p:sp>
      <p:sp>
        <p:nvSpPr>
          <p:cNvPr id="25" name="Text 23"/>
          <p:cNvSpPr/>
          <p:nvPr/>
        </p:nvSpPr>
        <p:spPr>
          <a:xfrm>
            <a:off x="5715000" y="4937760"/>
            <a:ext cx="1417320" cy="4114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$2 </a:t>
            </a:r>
            <a:pPr indent="0" marL="0">
              <a:buNone/>
            </a:pPr>
            <a:r>
              <a:rPr lang="en-US" sz="950" dirty="0">
                <a:solidFill>
                  <a:srgbClr val="F2C6CD"/>
                </a:solidFill>
                <a:latin typeface="Arial" pitchFamily="34" charset="0"/>
                <a:ea typeface="Arial" pitchFamily="34" charset="-122"/>
                <a:cs typeface="Arial" pitchFamily="34" charset="-120"/>
              </a:rPr>
              <a:t>1,000</a:t>
            </a:r>
            <a:endParaRPr lang="en-US" sz="1400" dirty="0"/>
          </a:p>
        </p:txBody>
      </p:sp>
      <p:sp>
        <p:nvSpPr>
          <p:cNvPr id="26" name="Shape 24"/>
          <p:cNvSpPr/>
          <p:nvPr/>
        </p:nvSpPr>
        <p:spPr>
          <a:xfrm>
            <a:off x="7452360" y="1600200"/>
            <a:ext cx="4160520" cy="3749040"/>
          </a:xfrm>
          <a:prstGeom prst="roundRect">
            <a:avLst>
              <a:gd name="adj" fmla="val 1951"/>
            </a:avLst>
          </a:prstGeom>
          <a:solidFill>
            <a:srgbClr val="F5F5F5"/>
          </a:solidFill>
          <a:ln/>
        </p:spPr>
      </p:sp>
      <p:sp>
        <p:nvSpPr>
          <p:cNvPr id="27" name="Text 25"/>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28" name="Text 26"/>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29" name="Shape 27"/>
          <p:cNvSpPr/>
          <p:nvPr/>
        </p:nvSpPr>
        <p:spPr>
          <a:xfrm>
            <a:off x="548640" y="5532120"/>
            <a:ext cx="11064240" cy="731520"/>
          </a:xfrm>
          <a:prstGeom prst="roundRect">
            <a:avLst>
              <a:gd name="adj" fmla="val 7500"/>
            </a:avLst>
          </a:prstGeom>
          <a:solidFill>
            <a:srgbClr val="111111"/>
          </a:solidFill>
          <a:ln/>
        </p:spPr>
      </p:sp>
      <p:sp>
        <p:nvSpPr>
          <p:cNvPr id="30" name="Text 28"/>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31" name="Text 2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32" name="Text 3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3931920" cy="3657600"/>
          </a:xfrm>
          <a:prstGeom prst="roundRect">
            <a:avLst>
              <a:gd name="adj" fmla="val 2000"/>
            </a:avLst>
          </a:prstGeom>
          <a:solidFill>
            <a:srgbClr val="F5F5F5"/>
          </a:solidFill>
          <a:ln/>
        </p:spPr>
      </p:sp>
      <p:sp>
        <p:nvSpPr>
          <p:cNvPr id="5" name="Text 3"/>
          <p:cNvSpPr/>
          <p:nvPr/>
        </p:nvSpPr>
        <p:spPr>
          <a:xfrm>
            <a:off x="868680" y="192024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T^Rock keeps</a:t>
            </a:r>
            <a:endParaRPr lang="en-US" sz="1700" dirty="0"/>
          </a:p>
        </p:txBody>
      </p:sp>
      <p:sp>
        <p:nvSpPr>
          <p:cNvPr id="6" name="Text 4"/>
          <p:cNvSpPr/>
          <p:nvPr/>
        </p:nvSpPr>
        <p:spPr>
          <a:xfrm>
            <a:off x="868680" y="2286000"/>
            <a:ext cx="3291840" cy="914400"/>
          </a:xfrm>
          <a:prstGeom prst="rect">
            <a:avLst/>
          </a:prstGeom>
          <a:noFill/>
          <a:ln/>
        </p:spPr>
        <p:txBody>
          <a:bodyPr wrap="square" lIns="0" tIns="0" rIns="0" bIns="0" rtlCol="0" anchor="ctr"/>
          <a:lstStyle/>
          <a:p>
            <a:pPr indent="0" marL="0">
              <a:buNone/>
            </a:pPr>
            <a:r>
              <a:rPr lang="en-US" sz="6000" b="1" dirty="0">
                <a:solidFill>
                  <a:srgbClr val="C8102E"/>
                </a:solidFill>
                <a:latin typeface="Arial" pitchFamily="34" charset="0"/>
                <a:ea typeface="Arial" pitchFamily="34" charset="-122"/>
                <a:cs typeface="Arial" pitchFamily="34" charset="-120"/>
              </a:rPr>
              <a:t>$4,950</a:t>
            </a:r>
            <a:endParaRPr lang="en-US" sz="6000" dirty="0"/>
          </a:p>
        </p:txBody>
      </p:sp>
      <p:sp>
        <p:nvSpPr>
          <p:cNvPr id="7" name="Text 5"/>
          <p:cNvSpPr/>
          <p:nvPr/>
        </p:nvSpPr>
        <p:spPr>
          <a:xfrm>
            <a:off x="868680" y="324612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of every closed roof</a:t>
            </a:r>
            <a:endParaRPr lang="en-US" sz="1700" dirty="0"/>
          </a:p>
        </p:txBody>
      </p:sp>
      <p:sp>
        <p:nvSpPr>
          <p:cNvPr id="8" name="Text 6"/>
          <p:cNvSpPr/>
          <p:nvPr/>
        </p:nvSpPr>
        <p:spPr>
          <a:xfrm>
            <a:off x="868680" y="3703320"/>
            <a:ext cx="3291840" cy="68580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Company share of each job after all job costs and the 50/50 PM split — full math in the footnote.</a:t>
            </a:r>
            <a:endParaRPr lang="en-US" sz="1200" dirty="0"/>
          </a:p>
        </p:txBody>
      </p:sp>
      <p:sp>
        <p:nvSpPr>
          <p:cNvPr id="9" name="Text 7"/>
          <p:cNvSpPr/>
          <p:nvPr/>
        </p:nvSpPr>
        <p:spPr>
          <a:xfrm>
            <a:off x="868680" y="4526280"/>
            <a:ext cx="32918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Break even = </a:t>
            </a:r>
            <a:pPr indent="0" marL="0">
              <a:buNone/>
            </a:pPr>
            <a:r>
              <a:rPr lang="en-US" sz="1400" b="1" dirty="0">
                <a:solidFill>
                  <a:srgbClr val="C8102E"/>
                </a:solidFill>
                <a:latin typeface="Arial" pitchFamily="34" charset="0"/>
                <a:ea typeface="Arial" pitchFamily="34" charset="-122"/>
                <a:cs typeface="Arial" pitchFamily="34" charset="-120"/>
              </a:rPr>
              <a:t>annual subscription ÷ $4,950</a:t>
            </a:r>
            <a:endParaRPr lang="en-US" sz="1400" dirty="0"/>
          </a:p>
        </p:txBody>
      </p:sp>
      <p:sp>
        <p:nvSpPr>
          <p:cNvPr id="10" name="Text 8"/>
          <p:cNvSpPr/>
          <p:nvPr/>
        </p:nvSpPr>
        <p:spPr>
          <a:xfrm>
            <a:off x="493776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Incremental jobs per year to cover each tier</a:t>
            </a:r>
            <a:endParaRPr lang="en-US" sz="1400" dirty="0"/>
          </a:p>
        </p:txBody>
      </p:sp>
      <p:sp>
        <p:nvSpPr>
          <p:cNvPr id="11" name="Shape 9"/>
          <p:cNvSpPr/>
          <p:nvPr/>
        </p:nvSpPr>
        <p:spPr>
          <a:xfrm>
            <a:off x="4892040" y="4846320"/>
            <a:ext cx="6675120" cy="13716"/>
          </a:xfrm>
          <a:prstGeom prst="rect">
            <a:avLst/>
          </a:prstGeom>
          <a:solidFill>
            <a:srgbClr val="CCCCCC"/>
          </a:solidFill>
          <a:ln/>
        </p:spPr>
      </p:sp>
      <p:sp>
        <p:nvSpPr>
          <p:cNvPr id="12" name="Shape 10"/>
          <p:cNvSpPr/>
          <p:nvPr/>
        </p:nvSpPr>
        <p:spPr>
          <a:xfrm>
            <a:off x="5029200" y="4763874"/>
            <a:ext cx="914400" cy="82446"/>
          </a:xfrm>
          <a:prstGeom prst="roundRect">
            <a:avLst>
              <a:gd name="adj" fmla="val 33273"/>
            </a:avLst>
          </a:prstGeom>
          <a:solidFill>
            <a:srgbClr val="B9BDC2"/>
          </a:solidFill>
          <a:ln/>
        </p:spPr>
      </p:sp>
      <p:sp>
        <p:nvSpPr>
          <p:cNvPr id="13" name="Text 11"/>
          <p:cNvSpPr/>
          <p:nvPr/>
        </p:nvSpPr>
        <p:spPr>
          <a:xfrm>
            <a:off x="4846320" y="4416402"/>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0.2</a:t>
            </a:r>
            <a:endParaRPr lang="en-US" sz="1300" dirty="0"/>
          </a:p>
        </p:txBody>
      </p:sp>
      <p:sp>
        <p:nvSpPr>
          <p:cNvPr id="14" name="Text 12"/>
          <p:cNvSpPr/>
          <p:nvPr/>
        </p:nvSpPr>
        <p:spPr>
          <a:xfrm>
            <a:off x="484632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Bronze</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$100/mo</a:t>
            </a:r>
            <a:endParaRPr lang="en-US" sz="1100" dirty="0"/>
          </a:p>
        </p:txBody>
      </p:sp>
      <p:sp>
        <p:nvSpPr>
          <p:cNvPr id="15" name="Shape 13"/>
          <p:cNvSpPr/>
          <p:nvPr/>
        </p:nvSpPr>
        <p:spPr>
          <a:xfrm>
            <a:off x="6355080" y="4351645"/>
            <a:ext cx="914400" cy="494675"/>
          </a:xfrm>
          <a:prstGeom prst="roundRect">
            <a:avLst>
              <a:gd name="adj" fmla="val 5545"/>
            </a:avLst>
          </a:prstGeom>
          <a:solidFill>
            <a:srgbClr val="B9BDC2"/>
          </a:solidFill>
          <a:ln/>
        </p:spPr>
      </p:sp>
      <p:sp>
        <p:nvSpPr>
          <p:cNvPr id="16" name="Text 14"/>
          <p:cNvSpPr/>
          <p:nvPr/>
        </p:nvSpPr>
        <p:spPr>
          <a:xfrm>
            <a:off x="6172200" y="4004173"/>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1.2</a:t>
            </a:r>
            <a:endParaRPr lang="en-US" sz="1300" dirty="0"/>
          </a:p>
        </p:txBody>
      </p:sp>
      <p:sp>
        <p:nvSpPr>
          <p:cNvPr id="17" name="Text 15"/>
          <p:cNvSpPr/>
          <p:nvPr/>
        </p:nvSpPr>
        <p:spPr>
          <a:xfrm>
            <a:off x="617220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Silver</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$500/mo</a:t>
            </a:r>
            <a:endParaRPr lang="en-US" sz="1100" dirty="0"/>
          </a:p>
        </p:txBody>
      </p:sp>
      <p:sp>
        <p:nvSpPr>
          <p:cNvPr id="18" name="Shape 16"/>
          <p:cNvSpPr/>
          <p:nvPr/>
        </p:nvSpPr>
        <p:spPr>
          <a:xfrm>
            <a:off x="7680960" y="3856969"/>
            <a:ext cx="914400" cy="989351"/>
          </a:xfrm>
          <a:prstGeom prst="roundRect">
            <a:avLst>
              <a:gd name="adj" fmla="val 3000"/>
            </a:avLst>
          </a:prstGeom>
          <a:solidFill>
            <a:srgbClr val="B9BDC2"/>
          </a:solidFill>
          <a:ln/>
        </p:spPr>
      </p:sp>
      <p:sp>
        <p:nvSpPr>
          <p:cNvPr id="19" name="Text 17"/>
          <p:cNvSpPr/>
          <p:nvPr/>
        </p:nvSpPr>
        <p:spPr>
          <a:xfrm>
            <a:off x="7498080" y="3509497"/>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2.4</a:t>
            </a:r>
            <a:endParaRPr lang="en-US" sz="1300" dirty="0"/>
          </a:p>
        </p:txBody>
      </p:sp>
      <p:sp>
        <p:nvSpPr>
          <p:cNvPr id="20" name="Text 18"/>
          <p:cNvSpPr/>
          <p:nvPr/>
        </p:nvSpPr>
        <p:spPr>
          <a:xfrm>
            <a:off x="749808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Gold</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$1,000/mo</a:t>
            </a:r>
            <a:endParaRPr lang="en-US" sz="1100" dirty="0"/>
          </a:p>
        </p:txBody>
      </p:sp>
      <p:sp>
        <p:nvSpPr>
          <p:cNvPr id="21" name="Shape 19"/>
          <p:cNvSpPr/>
          <p:nvPr/>
        </p:nvSpPr>
        <p:spPr>
          <a:xfrm>
            <a:off x="9006840" y="2867618"/>
            <a:ext cx="914400" cy="1978702"/>
          </a:xfrm>
          <a:prstGeom prst="roundRect">
            <a:avLst>
              <a:gd name="adj" fmla="val 3000"/>
            </a:avLst>
          </a:prstGeom>
          <a:solidFill>
            <a:srgbClr val="C8102E"/>
          </a:solidFill>
          <a:ln/>
        </p:spPr>
      </p:sp>
      <p:sp>
        <p:nvSpPr>
          <p:cNvPr id="22" name="Text 20"/>
          <p:cNvSpPr/>
          <p:nvPr/>
        </p:nvSpPr>
        <p:spPr>
          <a:xfrm>
            <a:off x="8823960" y="2520146"/>
            <a:ext cx="1280160" cy="320040"/>
          </a:xfrm>
          <a:prstGeom prst="rect">
            <a:avLst/>
          </a:prstGeom>
          <a:noFill/>
          <a:ln/>
        </p:spPr>
        <p:txBody>
          <a:bodyPr wrap="square" lIns="0" tIns="0" rIns="0" bIns="0" rtlCol="0" anchor="ctr"/>
          <a:lstStyle/>
          <a:p>
            <a:pPr algn="ctr" indent="0" marL="0">
              <a:buNone/>
            </a:pPr>
            <a:r>
              <a:rPr lang="en-US" sz="1600" b="1" dirty="0">
                <a:solidFill>
                  <a:srgbClr val="C8102E"/>
                </a:solidFill>
                <a:latin typeface="Arial" pitchFamily="34" charset="0"/>
                <a:ea typeface="Arial" pitchFamily="34" charset="-122"/>
                <a:cs typeface="Arial" pitchFamily="34" charset="-120"/>
              </a:rPr>
              <a:t>4.8</a:t>
            </a:r>
            <a:endParaRPr lang="en-US" sz="1600" dirty="0"/>
          </a:p>
        </p:txBody>
      </p:sp>
      <p:sp>
        <p:nvSpPr>
          <p:cNvPr id="23" name="Text 21"/>
          <p:cNvSpPr/>
          <p:nvPr/>
        </p:nvSpPr>
        <p:spPr>
          <a:xfrm>
            <a:off x="8823960" y="4919472"/>
            <a:ext cx="1280160" cy="502920"/>
          </a:xfrm>
          <a:prstGeom prst="rect">
            <a:avLst/>
          </a:prstGeom>
          <a:noFill/>
          <a:ln/>
        </p:spPr>
        <p:txBody>
          <a:bodyPr wrap="square" lIns="0" tIns="0" rIns="0" bIns="0" rtlCol="0" anchor="ctr"/>
          <a:lstStyle/>
          <a:p>
            <a:pPr algn="ctr" indent="0" marL="0">
              <a:buNone/>
            </a:pPr>
            <a:r>
              <a:rPr lang="en-US" sz="1100" b="1" dirty="0">
                <a:solidFill>
                  <a:srgbClr val="C8102E"/>
                </a:solidFill>
                <a:latin typeface="Arial" pitchFamily="34" charset="0"/>
                <a:ea typeface="Arial" pitchFamily="34" charset="-122"/>
                <a:cs typeface="Arial" pitchFamily="34" charset="-120"/>
              </a:rPr>
              <a:t>Founding</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$2,000/mo</a:t>
            </a:r>
            <a:endParaRPr lang="en-US" sz="1100" dirty="0"/>
          </a:p>
        </p:txBody>
      </p:sp>
      <p:sp>
        <p:nvSpPr>
          <p:cNvPr id="24" name="Shape 22"/>
          <p:cNvSpPr/>
          <p:nvPr/>
        </p:nvSpPr>
        <p:spPr>
          <a:xfrm>
            <a:off x="10332720" y="2331720"/>
            <a:ext cx="914400" cy="2514600"/>
          </a:xfrm>
          <a:prstGeom prst="roundRect">
            <a:avLst>
              <a:gd name="adj" fmla="val 3000"/>
            </a:avLst>
          </a:prstGeom>
          <a:solidFill>
            <a:srgbClr val="B9BDC2"/>
          </a:solidFill>
          <a:ln/>
        </p:spPr>
      </p:sp>
      <p:sp>
        <p:nvSpPr>
          <p:cNvPr id="25" name="Text 23"/>
          <p:cNvSpPr/>
          <p:nvPr/>
        </p:nvSpPr>
        <p:spPr>
          <a:xfrm>
            <a:off x="10149840" y="1984248"/>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6.1</a:t>
            </a:r>
            <a:endParaRPr lang="en-US" sz="1300" dirty="0"/>
          </a:p>
        </p:txBody>
      </p:sp>
      <p:sp>
        <p:nvSpPr>
          <p:cNvPr id="26" name="Text 24"/>
          <p:cNvSpPr/>
          <p:nvPr/>
        </p:nvSpPr>
        <p:spPr>
          <a:xfrm>
            <a:off x="1014984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Platinum</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$2,500/mo</a:t>
            </a:r>
            <a:endParaRPr lang="en-US" sz="1100" dirty="0"/>
          </a:p>
        </p:txBody>
      </p:sp>
      <p:sp>
        <p:nvSpPr>
          <p:cNvPr id="27" name="Shape 25"/>
          <p:cNvSpPr/>
          <p:nvPr/>
        </p:nvSpPr>
        <p:spPr>
          <a:xfrm>
            <a:off x="548640" y="5532120"/>
            <a:ext cx="11064240" cy="731520"/>
          </a:xfrm>
          <a:prstGeom prst="roundRect">
            <a:avLst>
              <a:gd name="adj" fmla="val 7500"/>
            </a:avLst>
          </a:prstGeom>
          <a:solidFill>
            <a:srgbClr val="111111"/>
          </a:solidFill>
          <a:ln/>
        </p:spPr>
      </p:sp>
      <p:sp>
        <p:nvSpPr>
          <p:cNvPr id="28" name="Text 26"/>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4.8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29" name="Text 2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 RCV scope fee ($600) = $9,900, split 50/50 with the PM → $4,950 to T^Rock.</a:t>
            </a:r>
            <a:endParaRPr lang="en-US" sz="900" dirty="0"/>
          </a:p>
        </p:txBody>
      </p:sp>
      <p:sp>
        <p:nvSpPr>
          <p:cNvPr id="30" name="Text 2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691640"/>
            <a:ext cx="3520440" cy="1691640"/>
          </a:xfrm>
          <a:prstGeom prst="roundRect">
            <a:avLst>
              <a:gd name="adj" fmla="val 4324"/>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1920240"/>
            <a:ext cx="502920" cy="502920"/>
          </a:xfrm>
          <a:prstGeom prst="rect">
            <a:avLst/>
          </a:prstGeom>
        </p:spPr>
      </p:pic>
      <p:sp>
        <p:nvSpPr>
          <p:cNvPr id="6" name="Text 3"/>
          <p:cNvSpPr/>
          <p:nvPr/>
        </p:nvSpPr>
        <p:spPr>
          <a:xfrm>
            <a:off x="146304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7" name="Text 4"/>
          <p:cNvSpPr/>
          <p:nvPr/>
        </p:nvSpPr>
        <p:spPr>
          <a:xfrm>
            <a:off x="82296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8</a:t>
            </a:r>
            <a:endParaRPr lang="en-US" sz="4000" dirty="0"/>
          </a:p>
        </p:txBody>
      </p:sp>
      <p:sp>
        <p:nvSpPr>
          <p:cNvPr id="8" name="Text 5"/>
          <p:cNvSpPr/>
          <p:nvPr/>
        </p:nvSpPr>
        <p:spPr>
          <a:xfrm>
            <a:off x="201168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9" name="Shape 6"/>
          <p:cNvSpPr/>
          <p:nvPr/>
        </p:nvSpPr>
        <p:spPr>
          <a:xfrm>
            <a:off x="4343400" y="1691640"/>
            <a:ext cx="3520440" cy="1691640"/>
          </a:xfrm>
          <a:prstGeom prst="roundRect">
            <a:avLst>
              <a:gd name="adj" fmla="val 4324"/>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4617720" y="1920240"/>
            <a:ext cx="502920" cy="502920"/>
          </a:xfrm>
          <a:prstGeom prst="rect">
            <a:avLst/>
          </a:prstGeom>
        </p:spPr>
      </p:pic>
      <p:sp>
        <p:nvSpPr>
          <p:cNvPr id="11" name="Text 7"/>
          <p:cNvSpPr/>
          <p:nvPr/>
        </p:nvSpPr>
        <p:spPr>
          <a:xfrm>
            <a:off x="525780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2" name="Text 8"/>
          <p:cNvSpPr/>
          <p:nvPr/>
        </p:nvSpPr>
        <p:spPr>
          <a:xfrm>
            <a:off x="461772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18</a:t>
            </a:r>
            <a:endParaRPr lang="en-US" sz="4000" dirty="0"/>
          </a:p>
        </p:txBody>
      </p:sp>
      <p:sp>
        <p:nvSpPr>
          <p:cNvPr id="13" name="Text 9"/>
          <p:cNvSpPr/>
          <p:nvPr/>
        </p:nvSpPr>
        <p:spPr>
          <a:xfrm>
            <a:off x="580644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4" name="Shape 10"/>
          <p:cNvSpPr/>
          <p:nvPr/>
        </p:nvSpPr>
        <p:spPr>
          <a:xfrm>
            <a:off x="8138160" y="1691640"/>
            <a:ext cx="3520440" cy="1691640"/>
          </a:xfrm>
          <a:prstGeom prst="roundRect">
            <a:avLst>
              <a:gd name="adj" fmla="val 4324"/>
            </a:avLst>
          </a:prstGeom>
          <a:solidFill>
            <a:srgbClr val="F5F5F5"/>
          </a:solidFill>
          <a:ln/>
        </p:spPr>
      </p:sp>
      <p:pic>
        <p:nvPicPr>
          <p:cNvPr id="15" name="Image 2" descr="preencoded.png">    </p:cNvPr>
          <p:cNvPicPr>
            <a:picLocks noChangeAspect="1"/>
          </p:cNvPicPr>
          <p:nvPr/>
        </p:nvPicPr>
        <p:blipFill>
          <a:blip r:embed="rId3"/>
          <a:stretch>
            <a:fillRect/>
          </a:stretch>
        </p:blipFill>
        <p:spPr>
          <a:xfrm>
            <a:off x="8412480" y="1920240"/>
            <a:ext cx="502920" cy="502920"/>
          </a:xfrm>
          <a:prstGeom prst="rect">
            <a:avLst/>
          </a:prstGeom>
        </p:spPr>
      </p:pic>
      <p:sp>
        <p:nvSpPr>
          <p:cNvPr id="16" name="Text 11"/>
          <p:cNvSpPr/>
          <p:nvPr/>
        </p:nvSpPr>
        <p:spPr>
          <a:xfrm>
            <a:off x="905256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17" name="Text 12"/>
          <p:cNvSpPr/>
          <p:nvPr/>
        </p:nvSpPr>
        <p:spPr>
          <a:xfrm>
            <a:off x="841248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30</a:t>
            </a:r>
            <a:endParaRPr lang="en-US" sz="4000" dirty="0"/>
          </a:p>
        </p:txBody>
      </p:sp>
      <p:sp>
        <p:nvSpPr>
          <p:cNvPr id="18" name="Text 13"/>
          <p:cNvSpPr/>
          <p:nvPr/>
        </p:nvSpPr>
        <p:spPr>
          <a:xfrm>
            <a:off x="960120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1005840"/>
                <a:gridCol w="2148840"/>
                <a:gridCol w="2011680"/>
                <a:gridCol w="2011680"/>
                <a:gridCol w="1965960"/>
                <a:gridCol w="192024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Roofs</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Revenue (× $30,000)</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Gross profit (35%)</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Scope fee (2% RCV)</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T^Rock half after fee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Less $24,000 sub = NET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$240,000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$84,000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$4,800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$39,600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+$15,600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$540,000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$189,000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$10,800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$89,100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+$65,100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$900,000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$315,000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$18,000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$148,500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+$124,500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20" name="Shape 14"/>
          <p:cNvSpPr/>
          <p:nvPr/>
        </p:nvSpPr>
        <p:spPr>
          <a:xfrm>
            <a:off x="548640" y="5532120"/>
            <a:ext cx="11064240" cy="731520"/>
          </a:xfrm>
          <a:prstGeom prst="roundRect">
            <a:avLst>
              <a:gd name="adj" fmla="val 7500"/>
            </a:avLst>
          </a:prstGeom>
          <a:solidFill>
            <a:srgbClr val="111111"/>
          </a:solidFill>
          <a:ln/>
        </p:spPr>
      </p:sp>
      <p:sp>
        <p:nvSpPr>
          <p:cNvPr id="21" name="Text 15"/>
          <p:cNvSpPr/>
          <p:nvPr/>
        </p:nvSpPr>
        <p:spPr>
          <a:xfrm>
            <a:off x="868680" y="565099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22"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T^Rock half = (gross profit − scope fee) ÷ 2 (50/50 PM split). Any shared-lead or ad spend this replaces is a direct offset on top.</a:t>
            </a:r>
            <a:endParaRPr lang="en-US" sz="900" dirty="0"/>
          </a:p>
        </p:txBody>
      </p:sp>
      <p:sp>
        <p:nvSpPr>
          <p:cNvPr id="23"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pic>
        <p:nvPicPr>
          <p:cNvPr id="5" name="Image 0" descr="preencoded.png">    </p:cNvPr>
          <p:cNvPicPr>
            <a:picLocks noChangeAspect="1"/>
          </p:cNvPicPr>
          <p:nvPr/>
        </p:nvPicPr>
        <p:blipFill>
          <a:blip r:embed="rId1"/>
          <a:stretch>
            <a:fillRect/>
          </a:stretch>
        </p:blipFill>
        <p:spPr>
          <a:xfrm>
            <a:off x="685800" y="5074920"/>
            <a:ext cx="594360" cy="594360"/>
          </a:xfrm>
          <a:prstGeom prst="rect">
            <a:avLst/>
          </a:prstGeom>
        </p:spPr>
      </p:pic>
      <p:sp>
        <p:nvSpPr>
          <p:cNvPr id="6" name="Text 2"/>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7" name="Text 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8" name="Text 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645920"/>
            <a:ext cx="594360" cy="594360"/>
          </a:xfrm>
          <a:prstGeom prst="rect">
            <a:avLst/>
          </a:prstGeom>
        </p:spPr>
      </p:pic>
      <p:sp>
        <p:nvSpPr>
          <p:cNvPr id="5" name="Text 2"/>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6" name="Text 3"/>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7" name="Shape 4"/>
          <p:cNvSpPr/>
          <p:nvPr/>
        </p:nvSpPr>
        <p:spPr>
          <a:xfrm>
            <a:off x="6217920" y="1371600"/>
            <a:ext cx="5394960" cy="2194560"/>
          </a:xfrm>
          <a:prstGeom prst="roundRect">
            <a:avLst>
              <a:gd name="adj" fmla="val 3333"/>
            </a:avLst>
          </a:prstGeom>
          <a:solidFill>
            <a:srgbClr val="F5F5F5"/>
          </a:solidFill>
          <a:ln/>
        </p:spPr>
      </p:sp>
      <p:pic>
        <p:nvPicPr>
          <p:cNvPr id="8" name="Image 1" descr="preencoded.png">    </p:cNvPr>
          <p:cNvPicPr>
            <a:picLocks noChangeAspect="1"/>
          </p:cNvPicPr>
          <p:nvPr/>
        </p:nvPicPr>
        <p:blipFill>
          <a:blip r:embed="rId2"/>
          <a:stretch>
            <a:fillRect/>
          </a:stretch>
        </p:blipFill>
        <p:spPr>
          <a:xfrm>
            <a:off x="6492240" y="1645920"/>
            <a:ext cx="594360" cy="594360"/>
          </a:xfrm>
          <a:prstGeom prst="rect">
            <a:avLst/>
          </a:prstGeom>
        </p:spPr>
      </p:pic>
      <p:sp>
        <p:nvSpPr>
          <p:cNvPr id="9" name="Text 5"/>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0" name="Text 6"/>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1" name="Shape 7"/>
          <p:cNvSpPr/>
          <p:nvPr/>
        </p:nvSpPr>
        <p:spPr>
          <a:xfrm>
            <a:off x="548640" y="3794760"/>
            <a:ext cx="5394960" cy="2194560"/>
          </a:xfrm>
          <a:prstGeom prst="roundRect">
            <a:avLst>
              <a:gd name="adj" fmla="val 3333"/>
            </a:avLst>
          </a:prstGeom>
          <a:solidFill>
            <a:srgbClr val="F5F5F5"/>
          </a:solidFill>
          <a:ln/>
        </p:spPr>
      </p:sp>
      <p:pic>
        <p:nvPicPr>
          <p:cNvPr id="12" name="Image 2" descr="preencoded.png">    </p:cNvPr>
          <p:cNvPicPr>
            <a:picLocks noChangeAspect="1"/>
          </p:cNvPicPr>
          <p:nvPr/>
        </p:nvPicPr>
        <p:blipFill>
          <a:blip r:embed="rId3"/>
          <a:stretch>
            <a:fillRect/>
          </a:stretch>
        </p:blipFill>
        <p:spPr>
          <a:xfrm>
            <a:off x="822960" y="4069080"/>
            <a:ext cx="594360" cy="594360"/>
          </a:xfrm>
          <a:prstGeom prst="rect">
            <a:avLst/>
          </a:prstGeom>
        </p:spPr>
      </p:pic>
      <p:sp>
        <p:nvSpPr>
          <p:cNvPr id="13" name="Text 8"/>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4" name="Text 9"/>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5" name="Shape 10"/>
          <p:cNvSpPr/>
          <p:nvPr/>
        </p:nvSpPr>
        <p:spPr>
          <a:xfrm>
            <a:off x="6217920" y="3794760"/>
            <a:ext cx="5394960" cy="2194560"/>
          </a:xfrm>
          <a:prstGeom prst="roundRect">
            <a:avLst>
              <a:gd name="adj" fmla="val 3333"/>
            </a:avLst>
          </a:prstGeom>
          <a:solidFill>
            <a:srgbClr val="F5F5F5"/>
          </a:solidFill>
          <a:ln/>
        </p:spPr>
      </p:sp>
      <p:pic>
        <p:nvPicPr>
          <p:cNvPr id="16" name="Image 3" descr="preencoded.png">    </p:cNvPr>
          <p:cNvPicPr>
            <a:picLocks noChangeAspect="1"/>
          </p:cNvPicPr>
          <p:nvPr/>
        </p:nvPicPr>
        <p:blipFill>
          <a:blip r:embed="rId4"/>
          <a:stretch>
            <a:fillRect/>
          </a:stretch>
        </p:blipFill>
        <p:spPr>
          <a:xfrm>
            <a:off x="6492240" y="4069080"/>
            <a:ext cx="594360" cy="594360"/>
          </a:xfrm>
          <a:prstGeom prst="rect">
            <a:avLst/>
          </a:prstGeom>
        </p:spPr>
      </p:pic>
      <p:sp>
        <p:nvSpPr>
          <p:cNvPr id="17" name="Text 11"/>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18" name="Text 12"/>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19" name="Text 13"/>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0"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pic>
        <p:nvPicPr>
          <p:cNvPr id="4" name="Image 0" descr="preencoded.png">    </p:cNvPr>
          <p:cNvPicPr>
            <a:picLocks noChangeAspect="1"/>
          </p:cNvPicPr>
          <p:nvPr/>
        </p:nvPicPr>
        <p:blipFill>
          <a:blip r:embed="rId1"/>
          <a:stretch>
            <a:fillRect/>
          </a:stretch>
        </p:blipFill>
        <p:spPr>
          <a:xfrm>
            <a:off x="978408" y="1874520"/>
            <a:ext cx="640080" cy="640080"/>
          </a:xfrm>
          <a:prstGeom prst="rect">
            <a:avLst/>
          </a:prstGeom>
        </p:spPr>
      </p:pic>
      <p:sp>
        <p:nvSpPr>
          <p:cNvPr id="5" name="Text 2"/>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6" name="Text 3"/>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7" name="Text 4"/>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50" dirty="0"/>
          </a:p>
        </p:txBody>
      </p:sp>
      <p:sp>
        <p:nvSpPr>
          <p:cNvPr id="8" name="Shape 5"/>
          <p:cNvSpPr/>
          <p:nvPr/>
        </p:nvSpPr>
        <p:spPr>
          <a:xfrm>
            <a:off x="4434840" y="1600200"/>
            <a:ext cx="3474720" cy="3108960"/>
          </a:xfrm>
          <a:prstGeom prst="roundRect">
            <a:avLst>
              <a:gd name="adj" fmla="val 2353"/>
            </a:avLst>
          </a:prstGeom>
          <a:solidFill>
            <a:srgbClr val="1E1E1E"/>
          </a:solidFill>
          <a:ln/>
        </p:spPr>
      </p:sp>
      <p:pic>
        <p:nvPicPr>
          <p:cNvPr id="9" name="Image 1" descr="preencoded.png">    </p:cNvPr>
          <p:cNvPicPr>
            <a:picLocks noChangeAspect="1"/>
          </p:cNvPicPr>
          <p:nvPr/>
        </p:nvPicPr>
        <p:blipFill>
          <a:blip r:embed="rId2"/>
          <a:stretch>
            <a:fillRect/>
          </a:stretch>
        </p:blipFill>
        <p:spPr>
          <a:xfrm>
            <a:off x="4727448" y="1874520"/>
            <a:ext cx="640080" cy="640080"/>
          </a:xfrm>
          <a:prstGeom prst="rect">
            <a:avLst/>
          </a:prstGeom>
        </p:spPr>
      </p:pic>
      <p:sp>
        <p:nvSpPr>
          <p:cNvPr id="10" name="Text 6"/>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1" name="Text 7"/>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2" name="Text 8"/>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50" dirty="0"/>
          </a:p>
        </p:txBody>
      </p:sp>
      <p:sp>
        <p:nvSpPr>
          <p:cNvPr id="13" name="Shape 9"/>
          <p:cNvSpPr/>
          <p:nvPr/>
        </p:nvSpPr>
        <p:spPr>
          <a:xfrm>
            <a:off x="8183880" y="1600200"/>
            <a:ext cx="3474720" cy="3108960"/>
          </a:xfrm>
          <a:prstGeom prst="roundRect">
            <a:avLst>
              <a:gd name="adj" fmla="val 2353"/>
            </a:avLst>
          </a:prstGeom>
          <a:solidFill>
            <a:srgbClr val="1E1E1E"/>
          </a:solidFill>
          <a:ln/>
        </p:spPr>
      </p:sp>
      <p:pic>
        <p:nvPicPr>
          <p:cNvPr id="14" name="Image 2" descr="preencoded.png">    </p:cNvPr>
          <p:cNvPicPr>
            <a:picLocks noChangeAspect="1"/>
          </p:cNvPicPr>
          <p:nvPr/>
        </p:nvPicPr>
        <p:blipFill>
          <a:blip r:embed="rId3"/>
          <a:stretch>
            <a:fillRect/>
          </a:stretch>
        </p:blipFill>
        <p:spPr>
          <a:xfrm>
            <a:off x="8476488" y="1874520"/>
            <a:ext cx="640080" cy="640080"/>
          </a:xfrm>
          <a:prstGeom prst="rect">
            <a:avLst/>
          </a:prstGeom>
        </p:spPr>
      </p:pic>
      <p:sp>
        <p:nvSpPr>
          <p:cNvPr id="15" name="Text 10"/>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6" name="Text 11"/>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17" name="Text 12"/>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18" name="Text 13"/>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19" name="Text 14"/>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2026-08-21T04:07:30Z</dcterms:created>
  <dcterms:modified xsi:type="dcterms:W3CDTF">2026-08-21T04:07:30Z</dcterms:modified>
</cp:coreProperties>
</file>