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1111"/>
                </a:solidFill>
                <a:latin typeface="Arial"/>
              </a:defRPr>
            </a:pPr>
            <a:r>
              <a:rPr sz="1400" b="0" i="0" u="none" strike="noStrike">
                <a:solidFill>
                  <a:srgbClr val="111111"/>
                </a:solidFill>
                <a:latin typeface="Arial"/>
              </a:rPr>
              <a:t>Typical cost per roofing lead ($)</a:t>
            </a:r>
          </a:p>
        </c:rich>
      </c:tx>
      <c:layout/>
      <c:overlay val="0"/>
    </c:title>
    <c:autoTitleDeleted val="0"/>
    <c:plotArea>
      <c:layout/>
      <c:barChart>
        <c:barDir val="bar"/>
        <c:grouping val="clustered"/>
        <c:varyColors val="0"/>
        <c:ser>
          <c:idx val="0"/>
          <c:order val="0"/>
          <c:tx>
            <c:strRef>
              <c:f>Sheet1!$B$1</c:f>
              <c:strCache>
                <c:ptCount val="1"/>
                <c:pt idx="0">
                  <c:v>Typical cost per roofing lead</c:v>
                </c:pt>
              </c:strCache>
            </c:strRef>
          </c:tx>
          <c:spPr>
            <a:solidFill>
              <a:srgbClr val="C8102E"/>
            </a:solidFill>
            <a:effectLst/>
          </c:spPr>
          <c:invertIfNegative val="0"/>
          <c:dLbls>
            <c:numFmt formatCode="$#,##0" sourceLinked="0"/>
            <c:txPr>
              <a:bodyPr/>
              <a:lstStyle/>
              <a:p>
                <a:pPr>
                  <a:defRPr b="0" i="0" strike="noStrike" sz="1200" u="none">
                    <a:solidFill>
                      <a:srgbClr val="111111"/>
                    </a:solidFill>
                    <a:latin typeface="Arial"/>
                  </a:defRPr>
                </a:pPr>
              </a:p>
            </c:txPr>
            <c:showLegendKey val="0"/>
            <c:showVal val="1"/>
            <c:showCatName val="0"/>
            <c:showSerName val="0"/>
            <c:showPercent val="0"/>
            <c:showBubbleSize val="0"/>
            <c:showLeaderLines val="0"/>
          </c:dLbls>
          <c:cat>
            <c:multiLvlStrRef>
              <c:f>Sheet1!$A$2:$A$5</c:f>
              <c:multiLvlStrCache>
                <c:ptCount val="4"/>
                <c:lvl>
                  <c:pt idx="0">
                    <c:v>Storm Scout (Founding)</c:v>
                  </c:pt>
                  <c:pt idx="1">
                    <c:v>Thumbtack</c:v>
                  </c:pt>
                  <c:pt idx="2">
                    <c:v>Angi</c:v>
                  </c:pt>
                  <c:pt idx="3">
                    <c:v>Google Ads / LSA</c:v>
                  </c:pt>
                </c:lvl>
              </c:multiLvlStrCache>
            </c:multiLvlStrRef>
          </c:cat>
          <c:val>
            <c:numRef>
              <c:f>Sheet1!$B$2:$B$5</c:f>
              <c:numCache>
                <c:formatCode>General</c:formatCode>
                <c:ptCount val="4"/>
                <c:pt idx="0">
                  <c:v>10</c:v>
                </c:pt>
                <c:pt idx="1">
                  <c:v>58</c:v>
                </c:pt>
                <c:pt idx="2">
                  <c:v>90</c:v>
                </c:pt>
                <c:pt idx="3">
                  <c:v>160</c:v>
                </c:pt>
              </c:numCache>
            </c:numRef>
          </c:val>
        </c:ser>
        <c:dLbls>
          <c:numFmt formatCode="$#,##0" sourceLinked="0"/>
          <c:txPr>
            <a:bodyPr/>
            <a:lstStyle/>
            <a:p>
              <a:pPr>
                <a:defRPr b="0" i="0" strike="noStrike" sz="1200" u="none">
                  <a:solidFill>
                    <a:srgbClr val="11111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2A2A2A"/>
                </a:solidFill>
                <a:latin typeface="Arial"/>
              </a:defRPr>
            </a:pPr>
            <a:endParaRPr lang="en-US"/>
          </a:p>
        </c:txPr>
        <c:crossAx val="2094734552"/>
        <c:crosses val="autoZero"/>
        <c:auto val="1"/>
        <c:lblAlgn val="ctr"/>
        <c:noMultiLvlLbl val="1"/>
      </c:catAx>
      <c:valAx>
        <c:axId val="2094734552"/>
        <c:scaling>
          <c:orientation val="minMax"/>
          <c:max val="180"/>
        </c:scaling>
        <c:delete val="0"/>
        <c:axPos val="b"/>
        <c:majorGridlines>
          <c:spPr>
            <a:ln w="6350" cap="flat">
              <a:solidFill>
                <a:srgbClr val="E8E8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6E6E6E"/>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1111"/>
                </a:solidFill>
                <a:latin typeface="Arial"/>
              </a:defRPr>
            </a:pPr>
            <a:r>
              <a:rPr sz="1400" b="0" i="0" u="none" strike="noStrike">
                <a:solidFill>
                  <a:srgbClr val="111111"/>
                </a:solidFill>
                <a:latin typeface="Arial"/>
              </a:rPr>
              <a:t>Jobs/year needed to cover the subscription</a:t>
            </a:r>
          </a:p>
        </c:rich>
      </c:tx>
      <c:layout/>
      <c:overlay val="0"/>
    </c:title>
    <c:autoTitleDeleted val="0"/>
    <c:plotArea>
      <c:layout/>
      <c:barChart>
        <c:barDir val="col"/>
        <c:grouping val="clustered"/>
        <c:varyColors val="0"/>
        <c:ser>
          <c:idx val="0"/>
          <c:order val="0"/>
          <c:tx>
            <c:strRef>
              <c:f>Sheet1!$B$1</c:f>
              <c:strCache>
                <c:ptCount val="1"/>
                <c:pt idx="0">
                  <c:v>Incremental jobs per year to break even</c:v>
                </c:pt>
              </c:strCache>
            </c:strRef>
          </c:tx>
          <c:spPr>
            <a:solidFill>
              <a:srgbClr val="C8102E"/>
            </a:solidFill>
            <a:effectLst/>
          </c:spPr>
          <c:invertIfNegative val="0"/>
          <c:dLbls>
            <c:numFmt formatCode="0.0" sourceLinked="0"/>
            <c:txPr>
              <a:bodyPr/>
              <a:lstStyle/>
              <a:p>
                <a:pPr>
                  <a:defRPr b="0" i="0" strike="noStrike" sz="1200" u="none">
                    <a:solidFill>
                      <a:srgbClr val="111111"/>
                    </a:solidFill>
                    <a:latin typeface="Arial"/>
                  </a:defRPr>
                </a:pPr>
              </a:p>
            </c:txPr>
            <c:showLegendKey val="0"/>
            <c:showVal val="1"/>
            <c:showCatName val="0"/>
            <c:showSerName val="0"/>
            <c:showPercent val="0"/>
            <c:showBubbleSize val="0"/>
            <c:showLeaderLines val="0"/>
          </c:dLbls>
          <c:cat>
            <c:multiLvlStrRef>
              <c:f>Sheet1!$A$2:$A$6</c:f>
              <c:multiLvlStrCache>
                <c:ptCount val="5"/>
                <c:lvl>
                  <c:pt idx="0">
                    <c:v>Bronze $100</c:v>
                  </c:pt>
                  <c:pt idx="1">
                    <c:v>Silver $500</c:v>
                  </c:pt>
                  <c:pt idx="2">
                    <c:v>Gold $1,000</c:v>
                  </c:pt>
                  <c:pt idx="3">
                    <c:v>Founding $2,000</c:v>
                  </c:pt>
                  <c:pt idx="4">
                    <c:v>Platinum $2,500</c:v>
                  </c:pt>
                </c:lvl>
              </c:multiLvlStrCache>
            </c:multiLvlStrRef>
          </c:cat>
          <c:val>
            <c:numRef>
              <c:f>Sheet1!$B$2:$B$6</c:f>
              <c:numCache>
                <c:formatCode>General</c:formatCode>
                <c:ptCount val="5"/>
                <c:pt idx="0">
                  <c:v>0.2</c:v>
                </c:pt>
                <c:pt idx="1">
                  <c:v>1.2</c:v>
                </c:pt>
                <c:pt idx="2">
                  <c:v>2.4</c:v>
                </c:pt>
                <c:pt idx="3">
                  <c:v>4.8</c:v>
                </c:pt>
                <c:pt idx="4">
                  <c:v>6.1</c:v>
                </c:pt>
              </c:numCache>
            </c:numRef>
          </c:val>
        </c:ser>
        <c:dLbls>
          <c:numFmt formatCode="0.0" sourceLinked="0"/>
          <c:txPr>
            <a:bodyPr/>
            <a:lstStyle/>
            <a:p>
              <a:pPr>
                <a:defRPr b="0" i="0" strike="noStrike" sz="1200" u="none">
                  <a:solidFill>
                    <a:srgbClr val="11111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A2A2A"/>
                </a:solidFill>
                <a:latin typeface="Arial"/>
              </a:defRPr>
            </a:pPr>
            <a:endParaRPr lang="en-US"/>
          </a:p>
        </c:txPr>
        <c:crossAx val="2094734552"/>
        <c:crosses val="autoZero"/>
        <c:auto val="1"/>
        <c:lblAlgn val="ctr"/>
        <c:noMultiLvlLbl val="1"/>
      </c:catAx>
      <c:valAx>
        <c:axId val="2094734552"/>
        <c:scaling>
          <c:orientation val="minMax"/>
          <c:max val="7"/>
        </c:scaling>
        <c:delete val="0"/>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E6E"/>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777240"/>
            <a:ext cx="822960" cy="822960"/>
          </a:xfrm>
          <a:prstGeom prst="ellipse">
            <a:avLst/>
          </a:prstGeom>
          <a:solidFill>
            <a:srgbClr val="C8102E"/>
          </a:solidFill>
          <a:ln/>
        </p:spPr>
      </p:sp>
      <p:pic>
        <p:nvPicPr>
          <p:cNvPr id="3" name="Image 0" descr="preencoded.png">    </p:cNvPr>
          <p:cNvPicPr>
            <a:picLocks noChangeAspect="1"/>
          </p:cNvPicPr>
          <p:nvPr/>
        </p:nvPicPr>
        <p:blipFill>
          <a:blip r:embed="rId1"/>
          <a:stretch>
            <a:fillRect/>
          </a:stretch>
        </p:blipFill>
        <p:spPr>
          <a:xfrm>
            <a:off x="899770" y="991210"/>
            <a:ext cx="395021" cy="395021"/>
          </a:xfrm>
          <a:prstGeom prst="rect">
            <a:avLst/>
          </a:prstGeom>
        </p:spPr>
      </p:pic>
      <p:sp>
        <p:nvSpPr>
          <p:cNvPr id="4" name="Text 1"/>
          <p:cNvSpPr/>
          <p:nvPr/>
        </p:nvSpPr>
        <p:spPr>
          <a:xfrm>
            <a:off x="685800" y="2148840"/>
            <a:ext cx="10789920" cy="100584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STORM SCOUT  ×  T^ROCK</a:t>
            </a:r>
            <a:endParaRPr lang="en-US" sz="5400" dirty="0"/>
          </a:p>
        </p:txBody>
      </p:sp>
      <p:sp>
        <p:nvSpPr>
          <p:cNvPr id="5" name="Text 2"/>
          <p:cNvSpPr/>
          <p:nvPr/>
        </p:nvSpPr>
        <p:spPr>
          <a:xfrm>
            <a:off x="713232" y="3200400"/>
            <a:ext cx="10515600" cy="548640"/>
          </a:xfrm>
          <a:prstGeom prst="rect">
            <a:avLst/>
          </a:prstGeom>
          <a:noFill/>
          <a:ln/>
        </p:spPr>
        <p:txBody>
          <a:bodyPr wrap="square" lIns="0" tIns="0" rIns="0" bIns="0" rtlCol="0" anchor="ctr"/>
          <a:lstStyle/>
          <a:p>
            <a:pPr indent="0" marL="0">
              <a:buNone/>
            </a:pPr>
            <a:r>
              <a:rPr lang="en-US" sz="2400" dirty="0">
                <a:solidFill>
                  <a:srgbClr val="D9D9D9"/>
                </a:solidFill>
                <a:latin typeface="Arial" pitchFamily="34" charset="0"/>
                <a:ea typeface="Arial" pitchFamily="34" charset="-122"/>
                <a:cs typeface="Arial" pitchFamily="34" charset="-120"/>
              </a:rPr>
              <a:t>The numbers case for data-driven storm leads</a:t>
            </a:r>
            <a:endParaRPr lang="en-US" sz="2400" dirty="0"/>
          </a:p>
        </p:txBody>
      </p:sp>
      <p:sp>
        <p:nvSpPr>
          <p:cNvPr id="6" name="Text 3"/>
          <p:cNvSpPr/>
          <p:nvPr/>
        </p:nvSpPr>
        <p:spPr>
          <a:xfrm>
            <a:off x="713232" y="5394960"/>
            <a:ext cx="1051560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T^Rock Contracting</a:t>
            </a:r>
            <a:pPr indent="0" marL="0">
              <a:buNone/>
            </a:pPr>
            <a:r>
              <a:rPr lang="en-US" sz="1400" dirty="0">
                <a:solidFill>
                  <a:srgbClr val="9E9E9E"/>
                </a:solidFill>
                <a:latin typeface="Arial" pitchFamily="34" charset="0"/>
                <a:ea typeface="Arial" pitchFamily="34" charset="-122"/>
                <a:cs typeface="Arial" pitchFamily="34" charset="-120"/>
              </a:rPr>
              <a:t>   ·   August 2026   ·   Source material: stormscout.ai</a:t>
            </a:r>
            <a:endParaRPr lang="en-US" sz="1400" dirty="0"/>
          </a:p>
        </p:txBody>
      </p:sp>
      <p:sp>
        <p:nvSpPr>
          <p:cNvPr id="7" name="Text 4"/>
          <p:cNvSpPr/>
          <p:nvPr/>
        </p:nvSpPr>
        <p:spPr>
          <a:xfrm>
            <a:off x="713232" y="5806440"/>
            <a:ext cx="10515600" cy="365760"/>
          </a:xfrm>
          <a:prstGeom prst="rect">
            <a:avLst/>
          </a:prstGeom>
          <a:noFill/>
          <a:ln/>
        </p:spPr>
        <p:txBody>
          <a:bodyPr wrap="square" lIns="0" tIns="0" rIns="0" bIns="0" rtlCol="0" anchor="ctr"/>
          <a:lstStyle/>
          <a:p>
            <a:pPr indent="0" marL="0">
              <a:buNone/>
            </a:pPr>
            <a:r>
              <a:rPr lang="en-US" sz="1400" i="1" dirty="0">
                <a:solidFill>
                  <a:srgbClr val="C8102E"/>
                </a:solidFill>
                <a:latin typeface="Arial" pitchFamily="34" charset="0"/>
                <a:ea typeface="Arial" pitchFamily="34" charset="-122"/>
                <a:cs typeface="Arial" pitchFamily="34" charset="-120"/>
              </a:rPr>
              <a:t>Published pricing, break-even math, and a 90-day test with kill criteria.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problem: our real lead cost is rep-hours</a:t>
            </a:r>
            <a:endParaRPr lang="en-US" sz="3200" dirty="0"/>
          </a:p>
        </p:txBody>
      </p:sp>
      <p:sp>
        <p:nvSpPr>
          <p:cNvPr id="3" name="Text 1"/>
          <p:cNvSpPr/>
          <p:nvPr/>
        </p:nvSpPr>
        <p:spPr>
          <a:xfrm>
            <a:off x="548640" y="1097280"/>
            <a:ext cx="1078992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Storm work is a race. Whoever gets a rep to a damaged, insured, owner-occupied roof first usually signs it.</a:t>
            </a:r>
            <a:endParaRPr lang="en-US" sz="1500" dirty="0"/>
          </a:p>
        </p:txBody>
      </p:sp>
      <p:sp>
        <p:nvSpPr>
          <p:cNvPr id="4" name="Shape 2"/>
          <p:cNvSpPr/>
          <p:nvPr/>
        </p:nvSpPr>
        <p:spPr>
          <a:xfrm>
            <a:off x="548640" y="1737360"/>
            <a:ext cx="3520440" cy="3566160"/>
          </a:xfrm>
          <a:prstGeom prst="roundRect">
            <a:avLst>
              <a:gd name="adj" fmla="val 2078"/>
            </a:avLst>
          </a:prstGeom>
          <a:solidFill>
            <a:srgbClr val="F5F5F5"/>
          </a:solidFill>
          <a:ln/>
        </p:spPr>
      </p:sp>
      <p:sp>
        <p:nvSpPr>
          <p:cNvPr id="5" name="Shape 3"/>
          <p:cNvSpPr/>
          <p:nvPr/>
        </p:nvSpPr>
        <p:spPr>
          <a:xfrm>
            <a:off x="868680" y="2057400"/>
            <a:ext cx="685800" cy="68580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1046988" y="2235708"/>
            <a:ext cx="329184" cy="329184"/>
          </a:xfrm>
          <a:prstGeom prst="rect">
            <a:avLst/>
          </a:prstGeom>
        </p:spPr>
      </p:pic>
      <p:sp>
        <p:nvSpPr>
          <p:cNvPr id="7" name="Text 4"/>
          <p:cNvSpPr/>
          <p:nvPr/>
        </p:nvSpPr>
        <p:spPr>
          <a:xfrm>
            <a:off x="86868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~100</a:t>
            </a:r>
            <a:endParaRPr lang="en-US" sz="4800" dirty="0"/>
          </a:p>
        </p:txBody>
      </p:sp>
      <p:sp>
        <p:nvSpPr>
          <p:cNvPr id="8" name="Text 5"/>
          <p:cNvSpPr/>
          <p:nvPr/>
        </p:nvSpPr>
        <p:spPr>
          <a:xfrm>
            <a:off x="86868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doors a canvasser can knock per day — without a damage map, most are outside the real hail path</a:t>
            </a:r>
            <a:endParaRPr lang="en-US" sz="1300" dirty="0"/>
          </a:p>
        </p:txBody>
      </p:sp>
      <p:sp>
        <p:nvSpPr>
          <p:cNvPr id="9" name="Shape 6"/>
          <p:cNvSpPr/>
          <p:nvPr/>
        </p:nvSpPr>
        <p:spPr>
          <a:xfrm>
            <a:off x="4343400" y="1737360"/>
            <a:ext cx="3520440" cy="3566160"/>
          </a:xfrm>
          <a:prstGeom prst="roundRect">
            <a:avLst>
              <a:gd name="adj" fmla="val 2078"/>
            </a:avLst>
          </a:prstGeom>
          <a:solidFill>
            <a:srgbClr val="F5F5F5"/>
          </a:solidFill>
          <a:ln/>
        </p:spPr>
      </p:sp>
      <p:sp>
        <p:nvSpPr>
          <p:cNvPr id="10" name="Shape 7"/>
          <p:cNvSpPr/>
          <p:nvPr/>
        </p:nvSpPr>
        <p:spPr>
          <a:xfrm>
            <a:off x="4663440" y="2057400"/>
            <a:ext cx="685800" cy="68580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4841748" y="2235708"/>
            <a:ext cx="329184" cy="329184"/>
          </a:xfrm>
          <a:prstGeom prst="rect">
            <a:avLst/>
          </a:prstGeom>
        </p:spPr>
      </p:pic>
      <p:sp>
        <p:nvSpPr>
          <p:cNvPr id="12" name="Text 8"/>
          <p:cNvSpPr/>
          <p:nvPr/>
        </p:nvSpPr>
        <p:spPr>
          <a:xfrm>
            <a:off x="466344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$150–300</a:t>
            </a:r>
            <a:endParaRPr lang="en-US" sz="4800" dirty="0"/>
          </a:p>
        </p:txBody>
      </p:sp>
      <p:sp>
        <p:nvSpPr>
          <p:cNvPr id="13" name="Text 9"/>
          <p:cNvSpPr/>
          <p:nvPr/>
        </p:nvSpPr>
        <p:spPr>
          <a:xfrm>
            <a:off x="466344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typical price per shared roofing lead from lead sellers — often resold to 3–5 competing contractors</a:t>
            </a:r>
            <a:endParaRPr lang="en-US" sz="1300" dirty="0"/>
          </a:p>
        </p:txBody>
      </p:sp>
      <p:sp>
        <p:nvSpPr>
          <p:cNvPr id="14" name="Shape 10"/>
          <p:cNvSpPr/>
          <p:nvPr/>
        </p:nvSpPr>
        <p:spPr>
          <a:xfrm>
            <a:off x="8138160" y="1737360"/>
            <a:ext cx="3520440" cy="3566160"/>
          </a:xfrm>
          <a:prstGeom prst="roundRect">
            <a:avLst>
              <a:gd name="adj" fmla="val 2078"/>
            </a:avLst>
          </a:prstGeom>
          <a:solidFill>
            <a:srgbClr val="F5F5F5"/>
          </a:solidFill>
          <a:ln/>
        </p:spPr>
      </p:sp>
      <p:sp>
        <p:nvSpPr>
          <p:cNvPr id="15" name="Shape 11"/>
          <p:cNvSpPr/>
          <p:nvPr/>
        </p:nvSpPr>
        <p:spPr>
          <a:xfrm>
            <a:off x="8458200" y="2057400"/>
            <a:ext cx="685800" cy="685800"/>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8636508" y="2235708"/>
            <a:ext cx="329184" cy="329184"/>
          </a:xfrm>
          <a:prstGeom prst="rect">
            <a:avLst/>
          </a:prstGeom>
        </p:spPr>
      </p:pic>
      <p:sp>
        <p:nvSpPr>
          <p:cNvPr id="17" name="Text 12"/>
          <p:cNvSpPr/>
          <p:nvPr/>
        </p:nvSpPr>
        <p:spPr>
          <a:xfrm>
            <a:off x="845820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Days</a:t>
            </a:r>
            <a:endParaRPr lang="en-US" sz="4800" dirty="0"/>
          </a:p>
        </p:txBody>
      </p:sp>
      <p:sp>
        <p:nvSpPr>
          <p:cNvPr id="18" name="Text 13"/>
          <p:cNvSpPr/>
          <p:nvPr/>
        </p:nvSpPr>
        <p:spPr>
          <a:xfrm>
            <a:off x="845820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how long a storm market stays open before contingencies are signed — late arrival = leftover doors</a:t>
            </a:r>
            <a:endParaRPr lang="en-US" sz="1300" dirty="0"/>
          </a:p>
        </p:txBody>
      </p:sp>
      <p:sp>
        <p:nvSpPr>
          <p:cNvPr id="19" name="Shape 14"/>
          <p:cNvSpPr/>
          <p:nvPr/>
        </p:nvSpPr>
        <p:spPr>
          <a:xfrm>
            <a:off x="548640" y="5577840"/>
            <a:ext cx="11064240" cy="685800"/>
          </a:xfrm>
          <a:prstGeom prst="roundRect">
            <a:avLst>
              <a:gd name="adj" fmla="val 8000"/>
            </a:avLst>
          </a:prstGeom>
          <a:solidFill>
            <a:srgbClr val="111111"/>
          </a:solidFill>
          <a:ln/>
        </p:spPr>
      </p:sp>
      <p:sp>
        <p:nvSpPr>
          <p:cNvPr id="20" name="Text 15"/>
          <p:cNvSpPr/>
          <p:nvPr/>
        </p:nvSpPr>
        <p:spPr>
          <a:xfrm>
            <a:off x="868680" y="5687568"/>
            <a:ext cx="10515600"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real metric:  </a:t>
            </a:r>
            <a:pPr indent="0" marL="0">
              <a:buNone/>
            </a:pPr>
            <a:r>
              <a:rPr lang="en-US" sz="1500" dirty="0">
                <a:solidFill>
                  <a:srgbClr val="E6E6E6"/>
                </a:solidFill>
                <a:latin typeface="Arial" pitchFamily="34" charset="0"/>
                <a:ea typeface="Arial" pitchFamily="34" charset="-122"/>
                <a:cs typeface="Arial" pitchFamily="34" charset="-120"/>
              </a:rPr>
              <a:t>sold jobs per rep per storm. On a 50/50 split, wasted knocks starve the rep and the company alike — and reps who can't close, quit.</a:t>
            </a:r>
            <a:endParaRPr lang="en-US" sz="1500" dirty="0"/>
          </a:p>
        </p:txBody>
      </p:sp>
      <p:sp>
        <p:nvSpPr>
          <p:cNvPr id="21" name="Text 16"/>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Lead-price and canvassing figures are industry benchmarks, not Storm Scout claims.</a:t>
            </a:r>
            <a:endParaRPr lang="en-US" sz="900" dirty="0"/>
          </a:p>
        </p:txBody>
      </p:sp>
      <p:sp>
        <p:nvSpPr>
          <p:cNvPr id="22" name="Text 17"/>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What Storm Scout actually is</a:t>
            </a:r>
            <a:endParaRPr lang="en-US" sz="3200" dirty="0"/>
          </a:p>
        </p:txBody>
      </p:sp>
      <p:sp>
        <p:nvSpPr>
          <p:cNvPr id="3" name="Text 1"/>
          <p:cNvSpPr/>
          <p:nvPr/>
        </p:nvSpPr>
        <p:spPr>
          <a:xfrm>
            <a:off x="548640" y="1097280"/>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An app that maps verified storm damage and attaches property + owner data, so crews knock the right doors first. Everything below is from stormscout.ai.</a:t>
            </a:r>
            <a:endParaRPr lang="en-US" sz="1500" dirty="0"/>
          </a:p>
        </p:txBody>
      </p:sp>
      <p:sp>
        <p:nvSpPr>
          <p:cNvPr id="4" name="Shape 2"/>
          <p:cNvSpPr/>
          <p:nvPr/>
        </p:nvSpPr>
        <p:spPr>
          <a:xfrm>
            <a:off x="548640" y="1828800"/>
            <a:ext cx="5394960" cy="1965960"/>
          </a:xfrm>
          <a:prstGeom prst="roundRect">
            <a:avLst>
              <a:gd name="adj" fmla="val 3721"/>
            </a:avLst>
          </a:prstGeom>
          <a:solidFill>
            <a:srgbClr val="F5F5F5"/>
          </a:solidFill>
          <a:ln/>
        </p:spPr>
      </p:sp>
      <p:sp>
        <p:nvSpPr>
          <p:cNvPr id="5" name="Shape 3"/>
          <p:cNvSpPr/>
          <p:nvPr/>
        </p:nvSpPr>
        <p:spPr>
          <a:xfrm>
            <a:off x="822960" y="2103120"/>
            <a:ext cx="640080" cy="64008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989381" y="2269541"/>
            <a:ext cx="307238" cy="307238"/>
          </a:xfrm>
          <a:prstGeom prst="rect">
            <a:avLst/>
          </a:prstGeom>
        </p:spPr>
      </p:pic>
      <p:sp>
        <p:nvSpPr>
          <p:cNvPr id="7" name="Text 4"/>
          <p:cNvSpPr/>
          <p:nvPr/>
        </p:nvSpPr>
        <p:spPr>
          <a:xfrm>
            <a:off x="1645920" y="208483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Interactive hail &amp; wind maps</a:t>
            </a:r>
            <a:endParaRPr lang="en-US" sz="1700" dirty="0"/>
          </a:p>
        </p:txBody>
      </p:sp>
      <p:sp>
        <p:nvSpPr>
          <p:cNvPr id="8" name="Text 5"/>
          <p:cNvSpPr/>
          <p:nvPr/>
        </p:nvSpPr>
        <p:spPr>
          <a:xfrm>
            <a:off x="1645920" y="251460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Live storm-impact maps showing where verified damage occurred — dispatch teams to affected blocks, not whole ZIP codes.</a:t>
            </a:r>
            <a:endParaRPr lang="en-US" sz="1250" dirty="0"/>
          </a:p>
        </p:txBody>
      </p:sp>
      <p:sp>
        <p:nvSpPr>
          <p:cNvPr id="9" name="Shape 6"/>
          <p:cNvSpPr/>
          <p:nvPr/>
        </p:nvSpPr>
        <p:spPr>
          <a:xfrm>
            <a:off x="6217920" y="1828800"/>
            <a:ext cx="5394960" cy="1965960"/>
          </a:xfrm>
          <a:prstGeom prst="roundRect">
            <a:avLst>
              <a:gd name="adj" fmla="val 3721"/>
            </a:avLst>
          </a:prstGeom>
          <a:solidFill>
            <a:srgbClr val="F5F5F5"/>
          </a:solidFill>
          <a:ln/>
        </p:spPr>
      </p:sp>
      <p:sp>
        <p:nvSpPr>
          <p:cNvPr id="10" name="Shape 7"/>
          <p:cNvSpPr/>
          <p:nvPr/>
        </p:nvSpPr>
        <p:spPr>
          <a:xfrm>
            <a:off x="6492240" y="2103120"/>
            <a:ext cx="640080" cy="64008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6658661" y="2269541"/>
            <a:ext cx="307238" cy="307238"/>
          </a:xfrm>
          <a:prstGeom prst="rect">
            <a:avLst/>
          </a:prstGeom>
        </p:spPr>
      </p:pic>
      <p:sp>
        <p:nvSpPr>
          <p:cNvPr id="12" name="Text 8"/>
          <p:cNvSpPr/>
          <p:nvPr/>
        </p:nvSpPr>
        <p:spPr>
          <a:xfrm>
            <a:off x="7315200" y="208483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Advanced property filters</a:t>
            </a:r>
            <a:endParaRPr lang="en-US" sz="1700" dirty="0"/>
          </a:p>
        </p:txBody>
      </p:sp>
      <p:sp>
        <p:nvSpPr>
          <p:cNvPr id="13" name="Text 9"/>
          <p:cNvSpPr/>
          <p:nvPr/>
        </p:nvSpPr>
        <p:spPr>
          <a:xfrm>
            <a:off x="7315200" y="251460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Filter by storm date, hail size, roof age, shingle type, square footage, median income, owner-occupied vs. rental.</a:t>
            </a:r>
            <a:endParaRPr lang="en-US" sz="1250" dirty="0"/>
          </a:p>
        </p:txBody>
      </p:sp>
      <p:sp>
        <p:nvSpPr>
          <p:cNvPr id="14" name="Shape 10"/>
          <p:cNvSpPr/>
          <p:nvPr/>
        </p:nvSpPr>
        <p:spPr>
          <a:xfrm>
            <a:off x="548640" y="4023360"/>
            <a:ext cx="5394960" cy="1965960"/>
          </a:xfrm>
          <a:prstGeom prst="roundRect">
            <a:avLst>
              <a:gd name="adj" fmla="val 3721"/>
            </a:avLst>
          </a:prstGeom>
          <a:solidFill>
            <a:srgbClr val="F5F5F5"/>
          </a:solidFill>
          <a:ln/>
        </p:spPr>
      </p:sp>
      <p:sp>
        <p:nvSpPr>
          <p:cNvPr id="15" name="Shape 11"/>
          <p:cNvSpPr/>
          <p:nvPr/>
        </p:nvSpPr>
        <p:spPr>
          <a:xfrm>
            <a:off x="822960" y="4297680"/>
            <a:ext cx="640080" cy="640080"/>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989381" y="4464101"/>
            <a:ext cx="307238" cy="307238"/>
          </a:xfrm>
          <a:prstGeom prst="rect">
            <a:avLst/>
          </a:prstGeom>
        </p:spPr>
      </p:pic>
      <p:sp>
        <p:nvSpPr>
          <p:cNvPr id="17" name="Text 12"/>
          <p:cNvSpPr/>
          <p:nvPr/>
        </p:nvSpPr>
        <p:spPr>
          <a:xfrm>
            <a:off x="1645920" y="427939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Custom storm alerts</a:t>
            </a:r>
            <a:endParaRPr lang="en-US" sz="1700" dirty="0"/>
          </a:p>
        </p:txBody>
      </p:sp>
      <p:sp>
        <p:nvSpPr>
          <p:cNvPr id="18" name="Text 13"/>
          <p:cNvSpPr/>
          <p:nvPr/>
        </p:nvSpPr>
        <p:spPr>
          <a:xfrm>
            <a:off x="1645920" y="470916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Watch our territories and ZIP codes; the moment a storm hits, we know — before competitors are even aware.</a:t>
            </a:r>
            <a:endParaRPr lang="en-US" sz="1250" dirty="0"/>
          </a:p>
        </p:txBody>
      </p:sp>
      <p:sp>
        <p:nvSpPr>
          <p:cNvPr id="19" name="Shape 14"/>
          <p:cNvSpPr/>
          <p:nvPr/>
        </p:nvSpPr>
        <p:spPr>
          <a:xfrm>
            <a:off x="6217920" y="4023360"/>
            <a:ext cx="5394960" cy="1965960"/>
          </a:xfrm>
          <a:prstGeom prst="roundRect">
            <a:avLst>
              <a:gd name="adj" fmla="val 3721"/>
            </a:avLst>
          </a:prstGeom>
          <a:solidFill>
            <a:srgbClr val="F5F5F5"/>
          </a:solidFill>
          <a:ln/>
        </p:spPr>
      </p:sp>
      <p:sp>
        <p:nvSpPr>
          <p:cNvPr id="20" name="Shape 15"/>
          <p:cNvSpPr/>
          <p:nvPr/>
        </p:nvSpPr>
        <p:spPr>
          <a:xfrm>
            <a:off x="6492240" y="4297680"/>
            <a:ext cx="640080" cy="640080"/>
          </a:xfrm>
          <a:prstGeom prst="ellipse">
            <a:avLst/>
          </a:prstGeom>
          <a:solidFill>
            <a:srgbClr val="C8102E"/>
          </a:solidFill>
          <a:ln/>
        </p:spPr>
      </p:sp>
      <p:pic>
        <p:nvPicPr>
          <p:cNvPr id="21" name="Image 3" descr="preencoded.png">    </p:cNvPr>
          <p:cNvPicPr>
            <a:picLocks noChangeAspect="1"/>
          </p:cNvPicPr>
          <p:nvPr/>
        </p:nvPicPr>
        <p:blipFill>
          <a:blip r:embed="rId4"/>
          <a:stretch>
            <a:fillRect/>
          </a:stretch>
        </p:blipFill>
        <p:spPr>
          <a:xfrm>
            <a:off x="6658661" y="4464101"/>
            <a:ext cx="307238" cy="307238"/>
          </a:xfrm>
          <a:prstGeom prst="rect">
            <a:avLst/>
          </a:prstGeom>
        </p:spPr>
      </p:pic>
      <p:sp>
        <p:nvSpPr>
          <p:cNvPr id="22" name="Text 16"/>
          <p:cNvSpPr/>
          <p:nvPr/>
        </p:nvSpPr>
        <p:spPr>
          <a:xfrm>
            <a:off x="7315200" y="427939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Automated outreach + in-app leads</a:t>
            </a:r>
            <a:endParaRPr lang="en-US" sz="1700" dirty="0"/>
          </a:p>
        </p:txBody>
      </p:sp>
      <p:sp>
        <p:nvSpPr>
          <p:cNvPr id="23" name="Text 17"/>
          <p:cNvSpPr/>
          <p:nvPr/>
        </p:nvSpPr>
        <p:spPr>
          <a:xfrm>
            <a:off x="7315200" y="470916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Push filtered target lists straight into calls, texts, and emails; pre-qualified leads delivered inside our service area.</a:t>
            </a:r>
            <a:endParaRPr lang="en-US" sz="1250" dirty="0"/>
          </a:p>
        </p:txBody>
      </p:sp>
      <p:sp>
        <p:nvSpPr>
          <p:cNvPr id="24" name="Text 18"/>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Feature descriptions paraphrased from stormscout.ai (Home + How It Works pages).</a:t>
            </a:r>
            <a:endParaRPr lang="en-US" sz="900" dirty="0"/>
          </a:p>
        </p:txBody>
      </p:sp>
      <p:sp>
        <p:nvSpPr>
          <p:cNvPr id="25" name="Text 19"/>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How it works: storm to signed contingency in 4 steps</a:t>
            </a:r>
            <a:endParaRPr lang="en-US" sz="3200" dirty="0"/>
          </a:p>
        </p:txBody>
      </p:sp>
      <p:sp>
        <p:nvSpPr>
          <p:cNvPr id="3" name="Shape 1"/>
          <p:cNvSpPr/>
          <p:nvPr/>
        </p:nvSpPr>
        <p:spPr>
          <a:xfrm>
            <a:off x="548640" y="1554480"/>
            <a:ext cx="2670048" cy="3749040"/>
          </a:xfrm>
          <a:prstGeom prst="roundRect">
            <a:avLst>
              <a:gd name="adj" fmla="val 2740"/>
            </a:avLst>
          </a:prstGeom>
          <a:solidFill>
            <a:srgbClr val="F5F5F5"/>
          </a:solidFill>
          <a:ln/>
        </p:spPr>
      </p:sp>
      <p:sp>
        <p:nvSpPr>
          <p:cNvPr id="4" name="Shape 2"/>
          <p:cNvSpPr/>
          <p:nvPr/>
        </p:nvSpPr>
        <p:spPr>
          <a:xfrm>
            <a:off x="822960" y="1828800"/>
            <a:ext cx="640080" cy="64008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989381" y="1995221"/>
            <a:ext cx="307238" cy="307238"/>
          </a:xfrm>
          <a:prstGeom prst="rect">
            <a:avLst/>
          </a:prstGeom>
        </p:spPr>
      </p:pic>
      <p:sp>
        <p:nvSpPr>
          <p:cNvPr id="6" name="Text 3"/>
          <p:cNvSpPr/>
          <p:nvPr/>
        </p:nvSpPr>
        <p:spPr>
          <a:xfrm>
            <a:off x="2286000"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1</a:t>
            </a:r>
            <a:endParaRPr lang="en-US" sz="4000" dirty="0"/>
          </a:p>
        </p:txBody>
      </p:sp>
      <p:sp>
        <p:nvSpPr>
          <p:cNvPr id="7" name="Text 4"/>
          <p:cNvSpPr/>
          <p:nvPr/>
        </p:nvSpPr>
        <p:spPr>
          <a:xfrm>
            <a:off x="822960"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Storm hits — alert fires</a:t>
            </a:r>
            <a:endParaRPr lang="en-US" sz="1550" dirty="0"/>
          </a:p>
        </p:txBody>
      </p:sp>
      <p:sp>
        <p:nvSpPr>
          <p:cNvPr id="8" name="Text 5"/>
          <p:cNvSpPr/>
          <p:nvPr/>
        </p:nvSpPr>
        <p:spPr>
          <a:xfrm>
            <a:off x="822960"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Our saved territories trigger an instant alert. We're moving while others are checking the weather news.</a:t>
            </a:r>
            <a:endParaRPr lang="en-US" sz="1200" dirty="0"/>
          </a:p>
        </p:txBody>
      </p:sp>
      <p:sp>
        <p:nvSpPr>
          <p:cNvPr id="9" name="Text 6"/>
          <p:cNvSpPr/>
          <p:nvPr/>
        </p:nvSpPr>
        <p:spPr>
          <a:xfrm>
            <a:off x="3163824"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10" name="Shape 7"/>
          <p:cNvSpPr/>
          <p:nvPr/>
        </p:nvSpPr>
        <p:spPr>
          <a:xfrm>
            <a:off x="3493008" y="1554480"/>
            <a:ext cx="2670048" cy="3749040"/>
          </a:xfrm>
          <a:prstGeom prst="roundRect">
            <a:avLst>
              <a:gd name="adj" fmla="val 2740"/>
            </a:avLst>
          </a:prstGeom>
          <a:solidFill>
            <a:srgbClr val="F5F5F5"/>
          </a:solidFill>
          <a:ln/>
        </p:spPr>
      </p:sp>
      <p:sp>
        <p:nvSpPr>
          <p:cNvPr id="11" name="Shape 8"/>
          <p:cNvSpPr/>
          <p:nvPr/>
        </p:nvSpPr>
        <p:spPr>
          <a:xfrm>
            <a:off x="3767328" y="1828800"/>
            <a:ext cx="640080" cy="640080"/>
          </a:xfrm>
          <a:prstGeom prst="ellipse">
            <a:avLst/>
          </a:prstGeom>
          <a:solidFill>
            <a:srgbClr val="C8102E"/>
          </a:solidFill>
          <a:ln/>
        </p:spPr>
      </p:sp>
      <p:pic>
        <p:nvPicPr>
          <p:cNvPr id="12" name="Image 1" descr="preencoded.png">    </p:cNvPr>
          <p:cNvPicPr>
            <a:picLocks noChangeAspect="1"/>
          </p:cNvPicPr>
          <p:nvPr/>
        </p:nvPicPr>
        <p:blipFill>
          <a:blip r:embed="rId2"/>
          <a:stretch>
            <a:fillRect/>
          </a:stretch>
        </p:blipFill>
        <p:spPr>
          <a:xfrm>
            <a:off x="3933749" y="1995221"/>
            <a:ext cx="307238" cy="307238"/>
          </a:xfrm>
          <a:prstGeom prst="rect">
            <a:avLst/>
          </a:prstGeom>
        </p:spPr>
      </p:pic>
      <p:sp>
        <p:nvSpPr>
          <p:cNvPr id="13" name="Text 9"/>
          <p:cNvSpPr/>
          <p:nvPr/>
        </p:nvSpPr>
        <p:spPr>
          <a:xfrm>
            <a:off x="5230368"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2</a:t>
            </a:r>
            <a:endParaRPr lang="en-US" sz="4000" dirty="0"/>
          </a:p>
        </p:txBody>
      </p:sp>
      <p:sp>
        <p:nvSpPr>
          <p:cNvPr id="14" name="Text 10"/>
          <p:cNvSpPr/>
          <p:nvPr/>
        </p:nvSpPr>
        <p:spPr>
          <a:xfrm>
            <a:off x="3767328"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Open the damage map</a:t>
            </a:r>
            <a:endParaRPr lang="en-US" sz="1550" dirty="0"/>
          </a:p>
        </p:txBody>
      </p:sp>
      <p:sp>
        <p:nvSpPr>
          <p:cNvPr id="15" name="Text 11"/>
          <p:cNvSpPr/>
          <p:nvPr/>
        </p:nvSpPr>
        <p:spPr>
          <a:xfrm>
            <a:off x="3767328"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Verified hail &amp; wind impact, street by street. We see which blocks actually took damage.</a:t>
            </a:r>
            <a:endParaRPr lang="en-US" sz="1200" dirty="0"/>
          </a:p>
        </p:txBody>
      </p:sp>
      <p:sp>
        <p:nvSpPr>
          <p:cNvPr id="16" name="Text 12"/>
          <p:cNvSpPr/>
          <p:nvPr/>
        </p:nvSpPr>
        <p:spPr>
          <a:xfrm>
            <a:off x="6108192"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17" name="Shape 13"/>
          <p:cNvSpPr/>
          <p:nvPr/>
        </p:nvSpPr>
        <p:spPr>
          <a:xfrm>
            <a:off x="6437376" y="1554480"/>
            <a:ext cx="2670048" cy="3749040"/>
          </a:xfrm>
          <a:prstGeom prst="roundRect">
            <a:avLst>
              <a:gd name="adj" fmla="val 2740"/>
            </a:avLst>
          </a:prstGeom>
          <a:solidFill>
            <a:srgbClr val="F5F5F5"/>
          </a:solidFill>
          <a:ln/>
        </p:spPr>
      </p:sp>
      <p:sp>
        <p:nvSpPr>
          <p:cNvPr id="18" name="Shape 14"/>
          <p:cNvSpPr/>
          <p:nvPr/>
        </p:nvSpPr>
        <p:spPr>
          <a:xfrm>
            <a:off x="6711696" y="1828800"/>
            <a:ext cx="640080" cy="640080"/>
          </a:xfrm>
          <a:prstGeom prst="ellipse">
            <a:avLst/>
          </a:prstGeom>
          <a:solidFill>
            <a:srgbClr val="C8102E"/>
          </a:solidFill>
          <a:ln/>
        </p:spPr>
      </p:sp>
      <p:pic>
        <p:nvPicPr>
          <p:cNvPr id="19" name="Image 2" descr="preencoded.png">    </p:cNvPr>
          <p:cNvPicPr>
            <a:picLocks noChangeAspect="1"/>
          </p:cNvPicPr>
          <p:nvPr/>
        </p:nvPicPr>
        <p:blipFill>
          <a:blip r:embed="rId3"/>
          <a:stretch>
            <a:fillRect/>
          </a:stretch>
        </p:blipFill>
        <p:spPr>
          <a:xfrm>
            <a:off x="6878117" y="1995221"/>
            <a:ext cx="307238" cy="307238"/>
          </a:xfrm>
          <a:prstGeom prst="rect">
            <a:avLst/>
          </a:prstGeom>
        </p:spPr>
      </p:pic>
      <p:sp>
        <p:nvSpPr>
          <p:cNvPr id="20" name="Text 15"/>
          <p:cNvSpPr/>
          <p:nvPr/>
        </p:nvSpPr>
        <p:spPr>
          <a:xfrm>
            <a:off x="8174736"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3</a:t>
            </a:r>
            <a:endParaRPr lang="en-US" sz="4000" dirty="0"/>
          </a:p>
        </p:txBody>
      </p:sp>
      <p:sp>
        <p:nvSpPr>
          <p:cNvPr id="21" name="Text 16"/>
          <p:cNvSpPr/>
          <p:nvPr/>
        </p:nvSpPr>
        <p:spPr>
          <a:xfrm>
            <a:off x="6711696"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Filter to our buyer</a:t>
            </a:r>
            <a:endParaRPr lang="en-US" sz="1550" dirty="0"/>
          </a:p>
        </p:txBody>
      </p:sp>
      <p:sp>
        <p:nvSpPr>
          <p:cNvPr id="22" name="Text 17"/>
          <p:cNvSpPr/>
          <p:nvPr/>
        </p:nvSpPr>
        <p:spPr>
          <a:xfrm>
            <a:off x="6711696"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Owner-occupied, roof age, shingle type, hail size, income band — down to a knock list that matches our ideal job.</a:t>
            </a:r>
            <a:endParaRPr lang="en-US" sz="1200" dirty="0"/>
          </a:p>
        </p:txBody>
      </p:sp>
      <p:sp>
        <p:nvSpPr>
          <p:cNvPr id="23" name="Text 18"/>
          <p:cNvSpPr/>
          <p:nvPr/>
        </p:nvSpPr>
        <p:spPr>
          <a:xfrm>
            <a:off x="9052560"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24" name="Shape 19"/>
          <p:cNvSpPr/>
          <p:nvPr/>
        </p:nvSpPr>
        <p:spPr>
          <a:xfrm>
            <a:off x="9381744" y="1554480"/>
            <a:ext cx="2670048" cy="3749040"/>
          </a:xfrm>
          <a:prstGeom prst="roundRect">
            <a:avLst>
              <a:gd name="adj" fmla="val 2740"/>
            </a:avLst>
          </a:prstGeom>
          <a:solidFill>
            <a:srgbClr val="111111"/>
          </a:solidFill>
          <a:ln/>
        </p:spPr>
      </p:sp>
      <p:sp>
        <p:nvSpPr>
          <p:cNvPr id="25" name="Shape 20"/>
          <p:cNvSpPr/>
          <p:nvPr/>
        </p:nvSpPr>
        <p:spPr>
          <a:xfrm>
            <a:off x="9656064" y="1828800"/>
            <a:ext cx="640080" cy="640080"/>
          </a:xfrm>
          <a:prstGeom prst="ellipse">
            <a:avLst/>
          </a:prstGeom>
          <a:solidFill>
            <a:srgbClr val="C8102E"/>
          </a:solidFill>
          <a:ln/>
        </p:spPr>
      </p:sp>
      <p:pic>
        <p:nvPicPr>
          <p:cNvPr id="26" name="Image 3" descr="preencoded.png">    </p:cNvPr>
          <p:cNvPicPr>
            <a:picLocks noChangeAspect="1"/>
          </p:cNvPicPr>
          <p:nvPr/>
        </p:nvPicPr>
        <p:blipFill>
          <a:blip r:embed="rId4"/>
          <a:stretch>
            <a:fillRect/>
          </a:stretch>
        </p:blipFill>
        <p:spPr>
          <a:xfrm>
            <a:off x="9822485" y="1995221"/>
            <a:ext cx="307238" cy="307238"/>
          </a:xfrm>
          <a:prstGeom prst="rect">
            <a:avLst/>
          </a:prstGeom>
        </p:spPr>
      </p:pic>
      <p:sp>
        <p:nvSpPr>
          <p:cNvPr id="27" name="Text 21"/>
          <p:cNvSpPr/>
          <p:nvPr/>
        </p:nvSpPr>
        <p:spPr>
          <a:xfrm>
            <a:off x="11119104" y="1783080"/>
            <a:ext cx="731520" cy="731520"/>
          </a:xfrm>
          <a:prstGeom prst="rect">
            <a:avLst/>
          </a:prstGeom>
          <a:noFill/>
          <a:ln/>
        </p:spPr>
        <p:txBody>
          <a:bodyPr wrap="square" lIns="0" tIns="0" rIns="0" bIns="0" rtlCol="0" anchor="ctr"/>
          <a:lstStyle/>
          <a:p>
            <a:pPr algn="r" indent="0" marL="0">
              <a:buNone/>
            </a:pPr>
            <a:r>
              <a:rPr lang="en-US" sz="4000" b="1" dirty="0">
                <a:solidFill>
                  <a:srgbClr val="C8102E"/>
                </a:solidFill>
                <a:latin typeface="Arial" pitchFamily="34" charset="0"/>
                <a:ea typeface="Arial" pitchFamily="34" charset="-122"/>
                <a:cs typeface="Arial" pitchFamily="34" charset="-120"/>
              </a:rPr>
              <a:t>4</a:t>
            </a:r>
            <a:endParaRPr lang="en-US" sz="4000" dirty="0"/>
          </a:p>
        </p:txBody>
      </p:sp>
      <p:sp>
        <p:nvSpPr>
          <p:cNvPr id="28" name="Text 22"/>
          <p:cNvSpPr/>
          <p:nvPr/>
        </p:nvSpPr>
        <p:spPr>
          <a:xfrm>
            <a:off x="9656064" y="2697480"/>
            <a:ext cx="2148840" cy="68580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Dispatch + outreach</a:t>
            </a:r>
            <a:endParaRPr lang="en-US" sz="1550" dirty="0"/>
          </a:p>
        </p:txBody>
      </p:sp>
      <p:sp>
        <p:nvSpPr>
          <p:cNvPr id="29" name="Text 23"/>
          <p:cNvSpPr/>
          <p:nvPr/>
        </p:nvSpPr>
        <p:spPr>
          <a:xfrm>
            <a:off x="9656064" y="3383280"/>
            <a:ext cx="2148840" cy="1737360"/>
          </a:xfrm>
          <a:prstGeom prst="rect">
            <a:avLst/>
          </a:prstGeom>
          <a:noFill/>
          <a:ln/>
        </p:spPr>
        <p:txBody>
          <a:bodyPr wrap="square" lIns="0" tIns="0" rIns="0" bIns="0" rtlCol="0" anchor="ctr"/>
          <a:lstStyle/>
          <a:p>
            <a:pPr indent="0" marL="0">
              <a:buNone/>
            </a:pPr>
            <a:r>
              <a:rPr lang="en-US" sz="1200" dirty="0">
                <a:solidFill>
                  <a:srgbClr val="E0E0E0"/>
                </a:solidFill>
                <a:latin typeface="Arial" pitchFamily="34" charset="0"/>
                <a:ea typeface="Arial" pitchFamily="34" charset="-122"/>
                <a:cs typeface="Arial" pitchFamily="34" charset="-120"/>
              </a:rPr>
              <a:t>Reps get routed lists; automated calls, texts, and emails warm the same doors in parallel.</a:t>
            </a:r>
            <a:endParaRPr lang="en-US" sz="1200" dirty="0"/>
          </a:p>
        </p:txBody>
      </p:sp>
      <p:sp>
        <p:nvSpPr>
          <p:cNvPr id="30" name="Text 24"/>
          <p:cNvSpPr/>
          <p:nvPr/>
        </p:nvSpPr>
        <p:spPr>
          <a:xfrm>
            <a:off x="548640" y="5623560"/>
            <a:ext cx="11064240" cy="41148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Net effect: </a:t>
            </a:r>
            <a:pPr indent="0" marL="0">
              <a:buNone/>
            </a:pPr>
            <a:r>
              <a:rPr lang="en-US" sz="1500" dirty="0">
                <a:solidFill>
                  <a:srgbClr val="6E6E6E"/>
                </a:solidFill>
                <a:latin typeface="Arial" pitchFamily="34" charset="0"/>
                <a:ea typeface="Arial" pitchFamily="34" charset="-122"/>
                <a:cs typeface="Arial" pitchFamily="34" charset="-120"/>
              </a:rPr>
              <a:t>the same crew, the same day, working only the doors with verified damage and the right owner profile.</a:t>
            </a:r>
            <a:endParaRPr lang="en-US" sz="1500" dirty="0"/>
          </a:p>
        </p:txBody>
      </p:sp>
      <p:sp>
        <p:nvSpPr>
          <p:cNvPr id="31" name="Text 25"/>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Workflow per stormscout.ai How It Works.</a:t>
            </a:r>
            <a:endParaRPr lang="en-US" sz="900" dirty="0"/>
          </a:p>
        </p:txBody>
      </p:sp>
      <p:sp>
        <p:nvSpPr>
          <p:cNvPr id="32" name="Text 26"/>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Why this is a numbers play, not a gadget</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Each feature maps to one measurable line we already track (or should).</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gridCol w="4754880"/>
                <a:gridCol w="3291840"/>
              </a:tblGrid>
              <a:tr h="566928">
                <a:tc>
                  <a:txBody>
                    <a:bodyPr/>
                    <a:lstStyle/>
                    <a:p>
                      <a:pPr indent="0" marL="0">
                        <a:buNone/>
                      </a:pPr>
                      <a:r>
                        <a:rPr lang="en-US" sz="1400" b="1" dirty="0">
                          <a:solidFill>
                            <a:srgbClr val="FFFFFF"/>
                          </a:solidFill>
                          <a:latin typeface="Arial" pitchFamily="34" charset="0"/>
                          <a:ea typeface="Arial" pitchFamily="34" charset="-122"/>
                          <a:cs typeface="Arial" pitchFamily="34" charset="-120"/>
                        </a:rPr>
                        <a:t>Feature</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changes on the ground</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Metric it moves</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Verified damage maps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Reps stop knocking undamaged streets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Rep-hours per signed contract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Owner/roof/income filters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Knock list pre-matched to our ideal job profile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Inspection → contract rate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Instant storm alerts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First trucks in the neighborhood, not third</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Win rate on storm jobs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Automated calls / texts / emails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Follow-up runs with zero extra rep payroll</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touch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In-app pre-qualified leads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Inbound work in our service area, exclusive to us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sold job vs. shared leads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Shape 2"/>
          <p:cNvSpPr/>
          <p:nvPr/>
        </p:nvSpPr>
        <p:spPr>
          <a:xfrm>
            <a:off x="548640" y="5532120"/>
            <a:ext cx="11064240" cy="731520"/>
          </a:xfrm>
          <a:prstGeom prst="roundRect">
            <a:avLst>
              <a:gd name="adj" fmla="val 7500"/>
            </a:avLst>
          </a:prstGeom>
          <a:solidFill>
            <a:srgbClr val="FBEAEC"/>
          </a:solidFill>
          <a:ln/>
        </p:spPr>
      </p:sp>
      <p:sp>
        <p:nvSpPr>
          <p:cNvPr id="6" name="Text 3"/>
          <p:cNvSpPr/>
          <p:nvPr/>
        </p:nvSpPr>
        <p:spPr>
          <a:xfrm>
            <a:off x="868680" y="5669280"/>
            <a:ext cx="10515600" cy="45720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Every one of these is already a number in our world. </a:t>
            </a:r>
            <a:pPr indent="0" marL="0">
              <a:buNone/>
            </a:pPr>
            <a:r>
              <a:rPr lang="en-US" sz="1500" dirty="0">
                <a:solidFill>
                  <a:srgbClr val="2A2A2A"/>
                </a:solidFill>
                <a:latin typeface="Arial" pitchFamily="34" charset="0"/>
                <a:ea typeface="Arial" pitchFamily="34" charset="-122"/>
                <a:cs typeface="Arial" pitchFamily="34" charset="-120"/>
              </a:rPr>
              <a:t>That means the tool can be proven — or disproven — with our own data in one quarter.</a:t>
            </a:r>
            <a:endParaRPr lang="en-US" sz="150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4864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actual price list</a:t>
            </a:r>
            <a:endParaRPr lang="en-US" sz="3200" dirty="0"/>
          </a:p>
        </p:txBody>
      </p:sp>
      <p:sp>
        <p:nvSpPr>
          <p:cNvPr id="3" name="Text 1"/>
          <p:cNvSpPr/>
          <p:nvPr/>
        </p:nvSpPr>
        <p:spPr>
          <a:xfrm>
            <a:off x="548640" y="932688"/>
            <a:ext cx="10881360" cy="32004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Published on stormscout.ai/pricing — no quote games. Founding Member is the play.</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1691640"/>
                <a:gridCol w="1920240"/>
                <a:gridCol w="1828800"/>
                <a:gridCol w="1965960"/>
                <a:gridCol w="1920240"/>
              </a:tblGrid>
              <a:tr h="365760">
                <a:tc>
                  <a:txBody>
                    <a:bodyPr/>
                    <a:lstStyle/>
                    <a:p>
                      <a:pPr algn="ctr" indent="0" marL="0">
                        <a:buNone/>
                      </a:pP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Bronze</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Silver</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Gold</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Platinum</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Founding*  (our pick)</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C8102E"/>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Price / month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Storm maps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1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5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Filters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Basic (ZIP, storm date)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(hail size, roof age…)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unlimited searches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Custom alerts + territory tracking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Same as Platinum</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Homeowner leads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25</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150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500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Automated outreach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Also includes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Mobile &amp; desktop</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Real-time alerts, hail &amp; wind maps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Property-ownership detail</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Analytics, priority support &amp; onboarding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Lifetime price lock, partner network</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bl>
          </a:graphicData>
        </a:graphic>
      </p:graphicFrame>
      <p:sp>
        <p:nvSpPr>
          <p:cNvPr id="5" name="Shape 2"/>
          <p:cNvSpPr/>
          <p:nvPr/>
        </p:nvSpPr>
        <p:spPr>
          <a:xfrm>
            <a:off x="548640" y="5486400"/>
            <a:ext cx="11064240" cy="731520"/>
          </a:xfrm>
          <a:prstGeom prst="roundRect">
            <a:avLst>
              <a:gd name="adj" fmla="val 7500"/>
            </a:avLst>
          </a:prstGeom>
          <a:solidFill>
            <a:srgbClr val="111111"/>
          </a:solidFill>
          <a:ln/>
        </p:spPr>
      </p:sp>
      <p:sp>
        <p:nvSpPr>
          <p:cNvPr id="6" name="Text 3"/>
          <p:cNvSpPr/>
          <p:nvPr/>
        </p:nvSpPr>
        <p:spPr>
          <a:xfrm>
            <a:off x="868680" y="5577840"/>
            <a:ext cx="10515600" cy="56692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Founding = every Platinum feature at $2,000 — $6,000/yr under sticker, locked for life. </a:t>
            </a:r>
            <a:pPr indent="0" marL="0">
              <a:buNone/>
            </a:pPr>
            <a:r>
              <a:rPr lang="en-US" sz="1350" dirty="0">
                <a:solidFill>
                  <a:srgbClr val="E6E6E6"/>
                </a:solidFill>
                <a:latin typeface="Arial" pitchFamily="34" charset="0"/>
                <a:ea typeface="Arial" pitchFamily="34" charset="-122"/>
                <a:cs typeface="Arial" pitchFamily="34" charset="-120"/>
              </a:rPr>
              <a:t>Unlimited maps, leads, and outreach for the whole team, vs. $150–300 per shared lead resold to competitors.</a:t>
            </a:r>
            <a:endParaRPr lang="en-US" sz="135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*Founding Member: all Platinum features, $2,000/month locked for life. Get cancellation terms in writing on the demo. Source: stormscout.ai/pricing, Aug 20, 2026.</a:t>
            </a: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Cost per lead vs. the channels we already know</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Typical published per-lead prices for roofing (midpoints charted, ranges at right). Worth checking against our own ad history.</a:t>
            </a:r>
            <a:endParaRPr lang="en-US" sz="1500" dirty="0"/>
          </a:p>
        </p:txBody>
      </p:sp>
      <p:graphicFrame>
        <p:nvGraphicFramePr>
          <p:cNvPr id="4" name="Chart 0" descr=""/>
          <p:cNvGraphicFramePr/>
          <p:nvPr/>
        </p:nvGraphicFramePr>
        <p:xfrm>
          <a:off x="548640" y="1600200"/>
          <a:ext cx="667512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52360" y="1600200"/>
            <a:ext cx="4160520" cy="3749040"/>
          </a:xfrm>
          <a:prstGeom prst="roundRect">
            <a:avLst>
              <a:gd name="adj" fmla="val 1951"/>
            </a:avLst>
          </a:prstGeom>
          <a:solidFill>
            <a:srgbClr val="F5F5F5"/>
          </a:solidFill>
          <a:ln/>
        </p:spPr>
      </p:sp>
      <p:sp>
        <p:nvSpPr>
          <p:cNvPr id="6" name="Text 3"/>
          <p:cNvSpPr/>
          <p:nvPr/>
        </p:nvSpPr>
        <p:spPr>
          <a:xfrm>
            <a:off x="7772400" y="1783080"/>
            <a:ext cx="3566160" cy="32004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What each dollar buys</a:t>
            </a:r>
            <a:endParaRPr lang="en-US" sz="1500" dirty="0"/>
          </a:p>
        </p:txBody>
      </p:sp>
      <p:sp>
        <p:nvSpPr>
          <p:cNvPr id="7" name="Text 4"/>
          <p:cNvSpPr/>
          <p:nvPr/>
        </p:nvSpPr>
        <p:spPr>
          <a:xfrm>
            <a:off x="7772400" y="2194560"/>
            <a:ext cx="3566160" cy="3017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Google Ads / LSA — $75–250: exclusive, but intent and quality swing wildly</a:t>
            </a:r>
            <a:endParaRPr lang="en-US" sz="1150" dirty="0"/>
          </a:p>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Angi — $50–125: same lead sold to 3–4 competing contractors</a:t>
            </a:r>
            <a:endParaRPr lang="en-US" sz="1150" dirty="0"/>
          </a:p>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Thumbtack — $25–90: pay per contact, homeowner is price-shopping</a:t>
            </a:r>
            <a:endParaRPr lang="en-US" sz="1150" dirty="0"/>
          </a:p>
          <a:p>
            <a:pPr marL="342900" indent="-342900">
              <a:buSzPct val="100000"/>
              <a:buChar char="•"/>
            </a:pPr>
            <a:r>
              <a:rPr lang="en-US" sz="1150" b="1" dirty="0">
                <a:solidFill>
                  <a:srgbClr val="C8102E"/>
                </a:solidFill>
                <a:latin typeface="Arial" pitchFamily="34" charset="0"/>
                <a:ea typeface="Arial" pitchFamily="34" charset="-122"/>
                <a:cs typeface="Arial" pitchFamily="34" charset="-120"/>
              </a:rPr>
              <a:t>Storm Scout — $2,000/mo flat: even a slow 200 records/month prices at $10; every record past that is free, exclusive, and damage-verified</a:t>
            </a:r>
            <a:endParaRPr lang="en-US" sz="1150" dirty="0"/>
          </a:p>
        </p:txBody>
      </p:sp>
      <p:sp>
        <p:nvSpPr>
          <p:cNvPr id="8" name="Shape 5"/>
          <p:cNvSpPr/>
          <p:nvPr/>
        </p:nvSpPr>
        <p:spPr>
          <a:xfrm>
            <a:off x="548640" y="5532120"/>
            <a:ext cx="11064240" cy="731520"/>
          </a:xfrm>
          <a:prstGeom prst="roundRect">
            <a:avLst>
              <a:gd name="adj" fmla="val 7500"/>
            </a:avLst>
          </a:prstGeom>
          <a:solidFill>
            <a:srgbClr val="111111"/>
          </a:solidFill>
          <a:ln/>
        </p:spPr>
      </p:sp>
      <p:sp>
        <p:nvSpPr>
          <p:cNvPr id="9" name="Text 6"/>
          <p:cNvSpPr/>
          <p:nvPr/>
        </p:nvSpPr>
        <p:spPr>
          <a:xfrm>
            <a:off x="868680" y="5650992"/>
            <a:ext cx="10515600" cy="502920"/>
          </a:xfrm>
          <a:prstGeom prst="rect">
            <a:avLst/>
          </a:prstGeom>
          <a:noFill/>
          <a:ln/>
        </p:spPr>
        <p:txBody>
          <a:bodyPr wrap="square" lIns="0" tIns="0" rIns="0" bIns="0" rtlCol="0" anchor="ctr"/>
          <a:lstStyle/>
          <a:p>
            <a:pPr indent="0" marL="0">
              <a:buNone/>
            </a:pPr>
            <a:r>
              <a:rPr lang="en-US" sz="1450" dirty="0">
                <a:solidFill>
                  <a:srgbClr val="E6E6E6"/>
                </a:solidFill>
                <a:latin typeface="Arial" pitchFamily="34" charset="0"/>
                <a:ea typeface="Arial" pitchFamily="34" charset="-122"/>
                <a:cs typeface="Arial" pitchFamily="34" charset="-120"/>
              </a:rPr>
              <a:t>Different animals — inbound requests vs. targeted verified-damage contacts — </a:t>
            </a:r>
            <a:pPr indent="0" marL="0">
              <a:buNone/>
            </a:pPr>
            <a:r>
              <a:rPr lang="en-US" sz="1450" b="1" dirty="0">
                <a:solidFill>
                  <a:srgbClr val="FFFFFF"/>
                </a:solidFill>
                <a:latin typeface="Arial" pitchFamily="34" charset="0"/>
                <a:ea typeface="Arial" pitchFamily="34" charset="-122"/>
                <a:cs typeface="Arial" pitchFamily="34" charset="-120"/>
              </a:rPr>
              <a:t>but they compete for the same marketing dollar, at a 6–16× price gap.</a:t>
            </a:r>
            <a:endParaRPr lang="en-US" sz="1450" dirty="0"/>
          </a:p>
        </p:txBody>
      </p:sp>
      <p:sp>
        <p:nvSpPr>
          <p:cNvPr id="10" name="Text 7"/>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Channel figures are typical published ranges for roofing leads, not quotes — swap in T^Rock's actual per-lead costs where we have history.</a:t>
            </a:r>
            <a:endParaRPr lang="en-US" sz="900" dirty="0"/>
          </a:p>
        </p:txBody>
      </p:sp>
      <p:sp>
        <p:nvSpPr>
          <p:cNvPr id="11" name="Text 8"/>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break-even math, tier by tier</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Their published prices against T^Rock's actual job economics.</a:t>
            </a:r>
            <a:endParaRPr lang="en-US" sz="1500" dirty="0"/>
          </a:p>
        </p:txBody>
      </p:sp>
      <p:sp>
        <p:nvSpPr>
          <p:cNvPr id="4" name="Shape 2"/>
          <p:cNvSpPr/>
          <p:nvPr/>
        </p:nvSpPr>
        <p:spPr>
          <a:xfrm>
            <a:off x="548640" y="1645920"/>
            <a:ext cx="4206240" cy="3657600"/>
          </a:xfrm>
          <a:prstGeom prst="roundRect">
            <a:avLst>
              <a:gd name="adj" fmla="val 2000"/>
            </a:avLst>
          </a:prstGeom>
          <a:solidFill>
            <a:srgbClr val="F5F5F5"/>
          </a:solidFill>
          <a:ln/>
        </p:spPr>
      </p:sp>
      <p:sp>
        <p:nvSpPr>
          <p:cNvPr id="5" name="Text 3"/>
          <p:cNvSpPr/>
          <p:nvPr/>
        </p:nvSpPr>
        <p:spPr>
          <a:xfrm>
            <a:off x="868680" y="1828800"/>
            <a:ext cx="3566160" cy="36576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T^Rock net per job</a:t>
            </a:r>
            <a:endParaRPr lang="en-US" sz="1600" dirty="0"/>
          </a:p>
        </p:txBody>
      </p:sp>
      <p:sp>
        <p:nvSpPr>
          <p:cNvPr id="6" name="Text 4"/>
          <p:cNvSpPr/>
          <p:nvPr/>
        </p:nvSpPr>
        <p:spPr>
          <a:xfrm>
            <a:off x="868680" y="2240280"/>
            <a:ext cx="3566160" cy="2286000"/>
          </a:xfrm>
          <a:prstGeom prst="rect">
            <a:avLst/>
          </a:prstGeom>
          <a:noFill/>
          <a:ln/>
        </p:spPr>
        <p:txBody>
          <a:bodyPr wrap="square" lIns="0" tIns="0" rIns="0" bIns="0" rtlCol="0" anchor="ctr"/>
          <a:lstStyle/>
          <a:p>
            <a:pPr marL="342900" indent="-342900">
              <a:buSzPct val="100000"/>
              <a:buChar char="•"/>
            </a:pPr>
            <a:r>
              <a:rPr lang="en-US" sz="1250" b="1" dirty="0">
                <a:solidFill>
                  <a:srgbClr val="2A2A2A"/>
                </a:solidFill>
                <a:latin typeface="Arial" pitchFamily="34" charset="0"/>
                <a:ea typeface="Arial" pitchFamily="34" charset="-122"/>
                <a:cs typeface="Arial" pitchFamily="34" charset="-120"/>
              </a:rPr>
              <a:t>Avg ticket (RCV):  </a:t>
            </a:r>
            <a:pPr indent="0" marL="0">
              <a:spcAft>
                <a:spcPts val="600"/>
              </a:spcAft>
              <a:buNone/>
            </a:pPr>
            <a:r>
              <a:rPr lang="en-US" sz="1250" b="1" dirty="0">
                <a:solidFill>
                  <a:srgbClr val="C8102E"/>
                </a:solidFill>
                <a:latin typeface="Arial" pitchFamily="34" charset="0"/>
                <a:ea typeface="Arial" pitchFamily="34" charset="-122"/>
                <a:cs typeface="Arial" pitchFamily="34" charset="-120"/>
              </a:rPr>
              <a:t>$30,000</a:t>
            </a:r>
            <a:endParaRPr lang="en-US" sz="1250" dirty="0"/>
          </a:p>
          <a:p>
            <a:pPr marL="342900" indent="-342900">
              <a:buSzPct val="100000"/>
              <a:buChar char="•"/>
            </a:pPr>
            <a:r>
              <a:rPr lang="en-US" sz="1250" b="1" dirty="0">
                <a:solidFill>
                  <a:srgbClr val="2A2A2A"/>
                </a:solidFill>
                <a:latin typeface="Arial" pitchFamily="34" charset="0"/>
                <a:ea typeface="Arial" pitchFamily="34" charset="-122"/>
                <a:cs typeface="Arial" pitchFamily="34" charset="-120"/>
              </a:rPr>
              <a:t>Gross margin 35%:  </a:t>
            </a:r>
            <a:pPr indent="0" marL="0">
              <a:spcAft>
                <a:spcPts val="600"/>
              </a:spcAft>
              <a:buNone/>
            </a:pPr>
            <a:r>
              <a:rPr lang="en-US" sz="1250" b="1" dirty="0">
                <a:solidFill>
                  <a:srgbClr val="C8102E"/>
                </a:solidFill>
                <a:latin typeface="Arial" pitchFamily="34" charset="0"/>
                <a:ea typeface="Arial" pitchFamily="34" charset="-122"/>
                <a:cs typeface="Arial" pitchFamily="34" charset="-120"/>
              </a:rPr>
              <a:t>$10,500</a:t>
            </a:r>
            <a:endParaRPr lang="en-US" sz="1250" dirty="0"/>
          </a:p>
          <a:p>
            <a:pPr marL="342900" indent="-342900">
              <a:buSzPct val="100000"/>
              <a:buChar char="•"/>
            </a:pPr>
            <a:r>
              <a:rPr lang="en-US" sz="1250" b="1" dirty="0">
                <a:solidFill>
                  <a:srgbClr val="2A2A2A"/>
                </a:solidFill>
                <a:latin typeface="Arial" pitchFamily="34" charset="0"/>
                <a:ea typeface="Arial" pitchFamily="34" charset="-122"/>
                <a:cs typeface="Arial" pitchFamily="34" charset="-120"/>
              </a:rPr>
              <a:t>Scope fee (2% RCV):  </a:t>
            </a:r>
            <a:pPr indent="0" marL="0">
              <a:spcAft>
                <a:spcPts val="600"/>
              </a:spcAft>
              <a:buNone/>
            </a:pPr>
            <a:r>
              <a:rPr lang="en-US" sz="1250" b="1" dirty="0">
                <a:solidFill>
                  <a:srgbClr val="C8102E"/>
                </a:solidFill>
                <a:latin typeface="Arial" pitchFamily="34" charset="0"/>
                <a:ea typeface="Arial" pitchFamily="34" charset="-122"/>
                <a:cs typeface="Arial" pitchFamily="34" charset="-120"/>
              </a:rPr>
              <a:t>− $600</a:t>
            </a:r>
            <a:endParaRPr lang="en-US" sz="1250" dirty="0"/>
          </a:p>
          <a:p>
            <a:pPr marL="342900" indent="-342900">
              <a:buSzPct val="100000"/>
              <a:buChar char="•"/>
            </a:pPr>
            <a:r>
              <a:rPr lang="en-US" sz="1250" b="1" dirty="0">
                <a:solidFill>
                  <a:srgbClr val="2A2A2A"/>
                </a:solidFill>
                <a:latin typeface="Arial" pitchFamily="34" charset="0"/>
                <a:ea typeface="Arial" pitchFamily="34" charset="-122"/>
                <a:cs typeface="Arial" pitchFamily="34" charset="-120"/>
              </a:rPr>
              <a:t>Job profit:  </a:t>
            </a:r>
            <a:pPr indent="0" marL="0">
              <a:spcAft>
                <a:spcPts val="600"/>
              </a:spcAft>
              <a:buNone/>
            </a:pPr>
            <a:r>
              <a:rPr lang="en-US" sz="1250" b="1" dirty="0">
                <a:solidFill>
                  <a:srgbClr val="C8102E"/>
                </a:solidFill>
                <a:latin typeface="Arial" pitchFamily="34" charset="0"/>
                <a:ea typeface="Arial" pitchFamily="34" charset="-122"/>
                <a:cs typeface="Arial" pitchFamily="34" charset="-120"/>
              </a:rPr>
              <a:t>$9,900, split 50/50 w/ PM</a:t>
            </a:r>
            <a:endParaRPr lang="en-US" sz="1250" dirty="0"/>
          </a:p>
          <a:p>
            <a:pPr marL="342900" indent="-342900">
              <a:buSzPct val="100000"/>
              <a:buChar char="•"/>
            </a:pPr>
            <a:r>
              <a:rPr lang="en-US" sz="1250" b="1" dirty="0">
                <a:solidFill>
                  <a:srgbClr val="2A2A2A"/>
                </a:solidFill>
                <a:latin typeface="Arial" pitchFamily="34" charset="0"/>
                <a:ea typeface="Arial" pitchFamily="34" charset="-122"/>
                <a:cs typeface="Arial" pitchFamily="34" charset="-120"/>
              </a:rPr>
              <a:t>T^Rock net / job:  </a:t>
            </a:r>
            <a:pPr indent="0" marL="0">
              <a:spcAft>
                <a:spcPts val="600"/>
              </a:spcAft>
              <a:buNone/>
            </a:pPr>
            <a:r>
              <a:rPr lang="en-US" sz="1250" b="1" dirty="0">
                <a:solidFill>
                  <a:srgbClr val="C8102E"/>
                </a:solidFill>
                <a:latin typeface="Arial" pitchFamily="34" charset="0"/>
                <a:ea typeface="Arial" pitchFamily="34" charset="-122"/>
                <a:cs typeface="Arial" pitchFamily="34" charset="-120"/>
              </a:rPr>
              <a:t>$4,950</a:t>
            </a:r>
            <a:endParaRPr lang="en-US" sz="1250" dirty="0"/>
          </a:p>
          <a:p>
            <a:pPr marL="342900" indent="-342900">
              <a:buSzPct val="100000"/>
              <a:buChar char="•"/>
            </a:pPr>
            <a:r>
              <a:rPr lang="en-US" sz="1250" b="1" dirty="0">
                <a:solidFill>
                  <a:srgbClr val="2A2A2A"/>
                </a:solidFill>
                <a:latin typeface="Arial" pitchFamily="34" charset="0"/>
                <a:ea typeface="Arial" pitchFamily="34" charset="-122"/>
                <a:cs typeface="Arial" pitchFamily="34" charset="-120"/>
              </a:rPr>
              <a:t>Break even:  </a:t>
            </a:r>
            <a:pPr indent="0" marL="0">
              <a:buNone/>
            </a:pPr>
            <a:r>
              <a:rPr lang="en-US" sz="1250" b="1" dirty="0">
                <a:solidFill>
                  <a:srgbClr val="C8102E"/>
                </a:solidFill>
                <a:latin typeface="Arial" pitchFamily="34" charset="0"/>
                <a:ea typeface="Arial" pitchFamily="34" charset="-122"/>
                <a:cs typeface="Arial" pitchFamily="34" charset="-120"/>
              </a:rPr>
              <a:t>annual cost ÷ $4,950</a:t>
            </a:r>
            <a:endParaRPr lang="en-US" sz="1250" dirty="0"/>
          </a:p>
        </p:txBody>
      </p:sp>
      <p:sp>
        <p:nvSpPr>
          <p:cNvPr id="7" name="Text 5"/>
          <p:cNvSpPr/>
          <p:nvPr/>
        </p:nvSpPr>
        <p:spPr>
          <a:xfrm>
            <a:off x="868680" y="4617720"/>
            <a:ext cx="3566160" cy="548640"/>
          </a:xfrm>
          <a:prstGeom prst="rect">
            <a:avLst/>
          </a:prstGeom>
          <a:noFill/>
          <a:ln/>
        </p:spPr>
        <p:txBody>
          <a:bodyPr wrap="square" lIns="0" tIns="0" rIns="0" bIns="0" rtlCol="0" anchor="ctr"/>
          <a:lstStyle/>
          <a:p>
            <a:pPr indent="0" marL="0">
              <a:buNone/>
            </a:pPr>
            <a:r>
              <a:rPr lang="en-US" sz="1050" i="1" dirty="0">
                <a:solidFill>
                  <a:srgbClr val="6E6E6E"/>
                </a:solidFill>
                <a:latin typeface="Arial" pitchFamily="34" charset="0"/>
                <a:ea typeface="Arial" pitchFamily="34" charset="-122"/>
                <a:cs typeface="Arial" pitchFamily="34" charset="-120"/>
              </a:rPr>
              <a:t>Subscription is overhead (not job-attributable), so it's measured against T^Rock's share — the conservative view.</a:t>
            </a:r>
            <a:endParaRPr lang="en-US" sz="1050" dirty="0"/>
          </a:p>
        </p:txBody>
      </p:sp>
      <p:graphicFrame>
        <p:nvGraphicFramePr>
          <p:cNvPr id="8" name="Chart 0" descr=""/>
          <p:cNvGraphicFramePr/>
          <p:nvPr/>
        </p:nvGraphicFramePr>
        <p:xfrm>
          <a:off x="5029200" y="1645920"/>
          <a:ext cx="6583680" cy="36576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548640" y="5532120"/>
            <a:ext cx="11064240" cy="731520"/>
          </a:xfrm>
          <a:prstGeom prst="roundRect">
            <a:avLst>
              <a:gd name="adj" fmla="val 7500"/>
            </a:avLst>
          </a:prstGeom>
          <a:solidFill>
            <a:srgbClr val="111111"/>
          </a:solidFill>
          <a:ln/>
        </p:spPr>
      </p:sp>
      <p:sp>
        <p:nvSpPr>
          <p:cNvPr id="10" name="Text 7"/>
          <p:cNvSpPr/>
          <p:nvPr/>
        </p:nvSpPr>
        <p:spPr>
          <a:xfrm>
            <a:off x="868680" y="5669280"/>
            <a:ext cx="10515600"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Founding breaks even at 4.8 jobs a year — one incremental roof every ~11 weeks — on T^Rock's share alone. </a:t>
            </a:r>
            <a:pPr indent="0" marL="0">
              <a:buNone/>
            </a:pPr>
            <a:r>
              <a:rPr lang="en-US" sz="1500" dirty="0">
                <a:solidFill>
                  <a:srgbClr val="E6E6E6"/>
                </a:solidFill>
                <a:latin typeface="Arial" pitchFamily="34" charset="0"/>
                <a:ea typeface="Arial" pitchFamily="34" charset="-122"/>
                <a:cs typeface="Arial" pitchFamily="34" charset="-120"/>
              </a:rPr>
              <a:t>Past that it's margin, at $500/mo under Platinum sticker forever.</a:t>
            </a:r>
            <a:endParaRPr lang="en-US" sz="1500" dirty="0"/>
          </a:p>
        </p:txBody>
      </p:sp>
      <p:sp>
        <p:nvSpPr>
          <p:cNvPr id="11" name="Text 8"/>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Per job: $30,000 × 35% = $10,500, less 2% RCV scope fee ($600) = $9,900, split 50/50 with the PM → $4,950 to T^Rock.</a:t>
            </a:r>
            <a:endParaRPr lang="en-US" sz="900" dirty="0"/>
          </a:p>
        </p:txBody>
      </p:sp>
      <p:sp>
        <p:nvSpPr>
          <p:cNvPr id="12" name="Text 9"/>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upside, sized for a hail market</a:t>
            </a:r>
            <a:endParaRPr lang="en-US" sz="3200" dirty="0"/>
          </a:p>
        </p:txBody>
      </p:sp>
      <p:sp>
        <p:nvSpPr>
          <p:cNvPr id="3" name="Text 1"/>
          <p:cNvSpPr/>
          <p:nvPr/>
        </p:nvSpPr>
        <p:spPr>
          <a:xfrm>
            <a:off x="548640" y="1097280"/>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DFW sits in one of the most hail-active corridors in the country. Scenarios for incremental roofs — jobs from verified-damage targeting we wouldn't have knocked otherwise:</a:t>
            </a:r>
            <a:endParaRPr lang="en-US" sz="1500" dirty="0"/>
          </a:p>
        </p:txBody>
      </p:sp>
      <p:sp>
        <p:nvSpPr>
          <p:cNvPr id="4" name="Shape 2"/>
          <p:cNvSpPr/>
          <p:nvPr/>
        </p:nvSpPr>
        <p:spPr>
          <a:xfrm>
            <a:off x="548640" y="1691640"/>
            <a:ext cx="3520440" cy="1691640"/>
          </a:xfrm>
          <a:prstGeom prst="roundRect">
            <a:avLst>
              <a:gd name="adj" fmla="val 4324"/>
            </a:avLst>
          </a:prstGeom>
          <a:solidFill>
            <a:srgbClr val="F5F5F5"/>
          </a:solidFill>
          <a:ln/>
        </p:spPr>
      </p:sp>
      <p:sp>
        <p:nvSpPr>
          <p:cNvPr id="5" name="Shape 3"/>
          <p:cNvSpPr/>
          <p:nvPr/>
        </p:nvSpPr>
        <p:spPr>
          <a:xfrm>
            <a:off x="822960" y="1920240"/>
            <a:ext cx="502920" cy="50292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953719" y="2050999"/>
            <a:ext cx="241402" cy="241402"/>
          </a:xfrm>
          <a:prstGeom prst="rect">
            <a:avLst/>
          </a:prstGeom>
        </p:spPr>
      </p:pic>
      <p:sp>
        <p:nvSpPr>
          <p:cNvPr id="7" name="Text 4"/>
          <p:cNvSpPr/>
          <p:nvPr/>
        </p:nvSpPr>
        <p:spPr>
          <a:xfrm>
            <a:off x="1463040" y="2011680"/>
            <a:ext cx="246888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CONSERVATIVE</a:t>
            </a:r>
            <a:endParaRPr lang="en-US" sz="1200" dirty="0"/>
          </a:p>
        </p:txBody>
      </p:sp>
      <p:sp>
        <p:nvSpPr>
          <p:cNvPr id="8" name="Text 5"/>
          <p:cNvSpPr/>
          <p:nvPr/>
        </p:nvSpPr>
        <p:spPr>
          <a:xfrm>
            <a:off x="822960" y="2377440"/>
            <a:ext cx="1188720" cy="685800"/>
          </a:xfrm>
          <a:prstGeom prst="rect">
            <a:avLst/>
          </a:prstGeom>
          <a:noFill/>
          <a:ln/>
        </p:spPr>
        <p:txBody>
          <a:bodyPr wrap="square" lIns="0" tIns="0" rIns="0" bIns="0" rtlCol="0" anchor="ctr"/>
          <a:lstStyle/>
          <a:p>
            <a:pPr indent="0" marL="0">
              <a:buNone/>
            </a:pPr>
            <a:r>
              <a:rPr lang="en-US" sz="4000" b="1" dirty="0">
                <a:solidFill>
                  <a:srgbClr val="111111"/>
                </a:solidFill>
                <a:latin typeface="Arial" pitchFamily="34" charset="0"/>
                <a:ea typeface="Arial" pitchFamily="34" charset="-122"/>
                <a:cs typeface="Arial" pitchFamily="34" charset="-120"/>
              </a:rPr>
              <a:t>8</a:t>
            </a:r>
            <a:endParaRPr lang="en-US" sz="4000" dirty="0"/>
          </a:p>
        </p:txBody>
      </p:sp>
      <p:sp>
        <p:nvSpPr>
          <p:cNvPr id="9" name="Text 6"/>
          <p:cNvSpPr/>
          <p:nvPr/>
        </p:nvSpPr>
        <p:spPr>
          <a:xfrm>
            <a:off x="2011680" y="2697480"/>
            <a:ext cx="192024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sp>
        <p:nvSpPr>
          <p:cNvPr id="10" name="Shape 7"/>
          <p:cNvSpPr/>
          <p:nvPr/>
        </p:nvSpPr>
        <p:spPr>
          <a:xfrm>
            <a:off x="4343400" y="1691640"/>
            <a:ext cx="3520440" cy="1691640"/>
          </a:xfrm>
          <a:prstGeom prst="roundRect">
            <a:avLst>
              <a:gd name="adj" fmla="val 4324"/>
            </a:avLst>
          </a:prstGeom>
          <a:solidFill>
            <a:srgbClr val="F5F5F5"/>
          </a:solidFill>
          <a:ln/>
        </p:spPr>
      </p:sp>
      <p:sp>
        <p:nvSpPr>
          <p:cNvPr id="11" name="Shape 8"/>
          <p:cNvSpPr/>
          <p:nvPr/>
        </p:nvSpPr>
        <p:spPr>
          <a:xfrm>
            <a:off x="4617720" y="1920240"/>
            <a:ext cx="502920" cy="502920"/>
          </a:xfrm>
          <a:prstGeom prst="ellipse">
            <a:avLst/>
          </a:prstGeom>
          <a:solidFill>
            <a:srgbClr val="C8102E"/>
          </a:solidFill>
          <a:ln/>
        </p:spPr>
      </p:sp>
      <p:pic>
        <p:nvPicPr>
          <p:cNvPr id="12" name="Image 1" descr="preencoded.png">    </p:cNvPr>
          <p:cNvPicPr>
            <a:picLocks noChangeAspect="1"/>
          </p:cNvPicPr>
          <p:nvPr/>
        </p:nvPicPr>
        <p:blipFill>
          <a:blip r:embed="rId2"/>
          <a:stretch>
            <a:fillRect/>
          </a:stretch>
        </p:blipFill>
        <p:spPr>
          <a:xfrm>
            <a:off x="4748479" y="2050999"/>
            <a:ext cx="241402" cy="241402"/>
          </a:xfrm>
          <a:prstGeom prst="rect">
            <a:avLst/>
          </a:prstGeom>
        </p:spPr>
      </p:pic>
      <p:sp>
        <p:nvSpPr>
          <p:cNvPr id="13" name="Text 9"/>
          <p:cNvSpPr/>
          <p:nvPr/>
        </p:nvSpPr>
        <p:spPr>
          <a:xfrm>
            <a:off x="5257800" y="2011680"/>
            <a:ext cx="246888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BASE CASE</a:t>
            </a:r>
            <a:endParaRPr lang="en-US" sz="1200" dirty="0"/>
          </a:p>
        </p:txBody>
      </p:sp>
      <p:sp>
        <p:nvSpPr>
          <p:cNvPr id="14" name="Text 10"/>
          <p:cNvSpPr/>
          <p:nvPr/>
        </p:nvSpPr>
        <p:spPr>
          <a:xfrm>
            <a:off x="4617720" y="2377440"/>
            <a:ext cx="1188720" cy="685800"/>
          </a:xfrm>
          <a:prstGeom prst="rect">
            <a:avLst/>
          </a:prstGeom>
          <a:noFill/>
          <a:ln/>
        </p:spPr>
        <p:txBody>
          <a:bodyPr wrap="square" lIns="0" tIns="0" rIns="0" bIns="0" rtlCol="0" anchor="ctr"/>
          <a:lstStyle/>
          <a:p>
            <a:pPr indent="0" marL="0">
              <a:buNone/>
            </a:pPr>
            <a:r>
              <a:rPr lang="en-US" sz="4000" b="1" dirty="0">
                <a:solidFill>
                  <a:srgbClr val="111111"/>
                </a:solidFill>
                <a:latin typeface="Arial" pitchFamily="34" charset="0"/>
                <a:ea typeface="Arial" pitchFamily="34" charset="-122"/>
                <a:cs typeface="Arial" pitchFamily="34" charset="-120"/>
              </a:rPr>
              <a:t>18</a:t>
            </a:r>
            <a:endParaRPr lang="en-US" sz="4000" dirty="0"/>
          </a:p>
        </p:txBody>
      </p:sp>
      <p:sp>
        <p:nvSpPr>
          <p:cNvPr id="15" name="Text 11"/>
          <p:cNvSpPr/>
          <p:nvPr/>
        </p:nvSpPr>
        <p:spPr>
          <a:xfrm>
            <a:off x="5806440" y="2697480"/>
            <a:ext cx="192024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sp>
        <p:nvSpPr>
          <p:cNvPr id="16" name="Shape 12"/>
          <p:cNvSpPr/>
          <p:nvPr/>
        </p:nvSpPr>
        <p:spPr>
          <a:xfrm>
            <a:off x="8138160" y="1691640"/>
            <a:ext cx="3520440" cy="1691640"/>
          </a:xfrm>
          <a:prstGeom prst="roundRect">
            <a:avLst>
              <a:gd name="adj" fmla="val 4324"/>
            </a:avLst>
          </a:prstGeom>
          <a:solidFill>
            <a:srgbClr val="F5F5F5"/>
          </a:solidFill>
          <a:ln/>
        </p:spPr>
      </p:sp>
      <p:sp>
        <p:nvSpPr>
          <p:cNvPr id="17" name="Shape 13"/>
          <p:cNvSpPr/>
          <p:nvPr/>
        </p:nvSpPr>
        <p:spPr>
          <a:xfrm>
            <a:off x="8412480" y="1920240"/>
            <a:ext cx="502920" cy="502920"/>
          </a:xfrm>
          <a:prstGeom prst="ellipse">
            <a:avLst/>
          </a:prstGeom>
          <a:solidFill>
            <a:srgbClr val="C8102E"/>
          </a:solidFill>
          <a:ln/>
        </p:spPr>
      </p:sp>
      <p:pic>
        <p:nvPicPr>
          <p:cNvPr id="18" name="Image 2" descr="preencoded.png">    </p:cNvPr>
          <p:cNvPicPr>
            <a:picLocks noChangeAspect="1"/>
          </p:cNvPicPr>
          <p:nvPr/>
        </p:nvPicPr>
        <p:blipFill>
          <a:blip r:embed="rId3"/>
          <a:stretch>
            <a:fillRect/>
          </a:stretch>
        </p:blipFill>
        <p:spPr>
          <a:xfrm>
            <a:off x="8543239" y="2050999"/>
            <a:ext cx="241402" cy="241402"/>
          </a:xfrm>
          <a:prstGeom prst="rect">
            <a:avLst/>
          </a:prstGeom>
        </p:spPr>
      </p:pic>
      <p:sp>
        <p:nvSpPr>
          <p:cNvPr id="19" name="Text 14"/>
          <p:cNvSpPr/>
          <p:nvPr/>
        </p:nvSpPr>
        <p:spPr>
          <a:xfrm>
            <a:off x="9052560" y="2011680"/>
            <a:ext cx="246888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STRONG STORM YEAR</a:t>
            </a:r>
            <a:endParaRPr lang="en-US" sz="1200" dirty="0"/>
          </a:p>
        </p:txBody>
      </p:sp>
      <p:sp>
        <p:nvSpPr>
          <p:cNvPr id="20" name="Text 15"/>
          <p:cNvSpPr/>
          <p:nvPr/>
        </p:nvSpPr>
        <p:spPr>
          <a:xfrm>
            <a:off x="8412480" y="2377440"/>
            <a:ext cx="1188720" cy="685800"/>
          </a:xfrm>
          <a:prstGeom prst="rect">
            <a:avLst/>
          </a:prstGeom>
          <a:noFill/>
          <a:ln/>
        </p:spPr>
        <p:txBody>
          <a:bodyPr wrap="square" lIns="0" tIns="0" rIns="0" bIns="0" rtlCol="0" anchor="ctr"/>
          <a:lstStyle/>
          <a:p>
            <a:pPr indent="0" marL="0">
              <a:buNone/>
            </a:pPr>
            <a:r>
              <a:rPr lang="en-US" sz="4000" b="1" dirty="0">
                <a:solidFill>
                  <a:srgbClr val="111111"/>
                </a:solidFill>
                <a:latin typeface="Arial" pitchFamily="34" charset="0"/>
                <a:ea typeface="Arial" pitchFamily="34" charset="-122"/>
                <a:cs typeface="Arial" pitchFamily="34" charset="-120"/>
              </a:rPr>
              <a:t>30</a:t>
            </a:r>
            <a:endParaRPr lang="en-US" sz="4000" dirty="0"/>
          </a:p>
        </p:txBody>
      </p:sp>
      <p:sp>
        <p:nvSpPr>
          <p:cNvPr id="21" name="Text 16"/>
          <p:cNvSpPr/>
          <p:nvPr/>
        </p:nvSpPr>
        <p:spPr>
          <a:xfrm>
            <a:off x="9601200" y="2697480"/>
            <a:ext cx="192024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611880"/>
          <a:ext cx="11064240" cy="914400"/>
        </p:xfrm>
        <a:graphic>
          <a:graphicData uri="http://schemas.openxmlformats.org/drawingml/2006/table">
            <a:tbl>
              <a:tblPr/>
              <a:tblGrid>
                <a:gridCol w="1005840"/>
                <a:gridCol w="2148840"/>
                <a:gridCol w="2011680"/>
                <a:gridCol w="2011680"/>
                <a:gridCol w="1965960"/>
                <a:gridCol w="1920240"/>
              </a:tblGrid>
              <a:tr h="45720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Roofs</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Revenue (× $30,000)</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Gross profit (35%)</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Scope fee (2% RCV)</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T^Rock half after fee</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Less $24,000 sub = NET</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411480">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$240,000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$84,000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 $4,800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$39,600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+$15,600</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411480">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$540,000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$189,000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 $10,800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$89,100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+$65,100</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411480">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$900,000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$315,000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 $18,000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$148,500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+$124,500</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23" name="Shape 17"/>
          <p:cNvSpPr/>
          <p:nvPr/>
        </p:nvSpPr>
        <p:spPr>
          <a:xfrm>
            <a:off x="548640" y="5532120"/>
            <a:ext cx="11064240" cy="731520"/>
          </a:xfrm>
          <a:prstGeom prst="roundRect">
            <a:avLst>
              <a:gd name="adj" fmla="val 7500"/>
            </a:avLst>
          </a:prstGeom>
          <a:solidFill>
            <a:srgbClr val="111111"/>
          </a:solidFill>
          <a:ln/>
        </p:spPr>
      </p:sp>
      <p:sp>
        <p:nvSpPr>
          <p:cNvPr id="24" name="Text 18"/>
          <p:cNvSpPr/>
          <p:nvPr/>
        </p:nvSpPr>
        <p:spPr>
          <a:xfrm>
            <a:off x="868680" y="5650992"/>
            <a:ext cx="10515600" cy="50292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maps exist either way. </a:t>
            </a:r>
            <a:pPr indent="0" marL="0">
              <a:buNone/>
            </a:pPr>
            <a:r>
              <a:rPr lang="en-US" sz="1500" dirty="0">
                <a:solidFill>
                  <a:srgbClr val="E6E6E6"/>
                </a:solidFill>
                <a:latin typeface="Arial" pitchFamily="34" charset="0"/>
                <a:ea typeface="Arial" pitchFamily="34" charset="-122"/>
                <a:cs typeface="Arial" pitchFamily="34" charset="-120"/>
              </a:rPr>
              <a:t>The only question is whether T^Rock or a competitor is holding them when the next storm hits.</a:t>
            </a:r>
            <a:endParaRPr lang="en-US" sz="1500" dirty="0"/>
          </a:p>
        </p:txBody>
      </p:sp>
      <p:sp>
        <p:nvSpPr>
          <p:cNvPr id="25" name="Text 19"/>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T^Rock half = (gross profit − scope fee) ÷ 2 (50/50 PM split). Any shared-lead or ad spend this replaces is a direct offset on top.</a:t>
            </a:r>
            <a:endParaRPr lang="en-US" sz="900" dirty="0"/>
          </a:p>
        </p:txBody>
      </p:sp>
      <p:sp>
        <p:nvSpPr>
          <p:cNvPr id="26" name="Text 20"/>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90-day proof period: scored, capped, killable</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Full team goes live on Founding day 1 — but 2 reps keep the current playbook as the control, so the comparison stays honest.</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206240"/>
                <a:gridCol w="3657600"/>
                <a:gridCol w="3200400"/>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KPI (tracked weekly)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Baseline (current door-knocking)</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Pilot must beat baseline by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Inspections per rep-day</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+25%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 → contingency rate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+15%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Cost per sold job (all-in, incl. subscription)</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Lower, full stop</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Map accuracy (damage confirmed on roof)</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n/a — new metric</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≥70% of flagged homes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Shape 2"/>
          <p:cNvSpPr/>
          <p:nvPr/>
        </p:nvSpPr>
        <p:spPr>
          <a:xfrm>
            <a:off x="685800" y="5074920"/>
            <a:ext cx="594360" cy="59436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840334" y="5229454"/>
            <a:ext cx="285293" cy="285293"/>
          </a:xfrm>
          <a:prstGeom prst="rect">
            <a:avLst/>
          </a:prstGeom>
        </p:spPr>
      </p:pic>
      <p:sp>
        <p:nvSpPr>
          <p:cNvPr id="7" name="Text 3"/>
          <p:cNvSpPr/>
          <p:nvPr/>
        </p:nvSpPr>
        <p:spPr>
          <a:xfrm>
            <a:off x="1463040" y="5074920"/>
            <a:ext cx="10058400" cy="777240"/>
          </a:xfrm>
          <a:prstGeom prst="rect">
            <a:avLst/>
          </a:prstGeom>
          <a:noFill/>
          <a:ln/>
        </p:spPr>
        <p:txBody>
          <a:bodyPr wrap="square" lIns="0" tIns="0" rIns="0" bIns="0" rtlCol="0" anchor="ctr"/>
          <a:lstStyle/>
          <a:p>
            <a:pPr indent="0" marL="0">
              <a:buNone/>
            </a:pPr>
            <a:r>
              <a:rPr lang="en-US" sz="1450" b="1" dirty="0">
                <a:solidFill>
                  <a:srgbClr val="111111"/>
                </a:solidFill>
                <a:latin typeface="Arial" pitchFamily="34" charset="0"/>
                <a:ea typeface="Arial" pitchFamily="34" charset="-122"/>
                <a:cs typeface="Arial" pitchFamily="34" charset="-120"/>
              </a:rPr>
              <a:t>Kill criteria, agreed up front: </a:t>
            </a:r>
            <a:pPr indent="0" marL="0">
              <a:buNone/>
            </a:pPr>
            <a:r>
              <a:rPr lang="en-US" sz="1450" dirty="0">
                <a:solidFill>
                  <a:srgbClr val="2A2A2A"/>
                </a:solidFill>
                <a:latin typeface="Arial" pitchFamily="34" charset="0"/>
                <a:ea typeface="Arial" pitchFamily="34" charset="-122"/>
                <a:cs typeface="Arial" pitchFamily="34" charset="-120"/>
              </a:rPr>
              <a:t>if all-in cost per sold job isn't beating our current baseline at day 90, we cancel. Spend at risk: $6,000 — T^Rock's net on about 1.2 jobs. Founding bills $2,000 monthly; we get clean cancellation terms in writing before signing.</a:t>
            </a:r>
            <a:endParaRPr lang="en-US" sz="1450" dirty="0"/>
          </a:p>
        </p:txBody>
      </p:sp>
      <p:sp>
        <p:nvSpPr>
          <p:cNvPr id="8" name="Text 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Start the 90-day clock on the first mapped storm, not a calendar date. Leadership sets final thresholds up front.</a:t>
            </a:r>
            <a:endParaRPr lang="en-US" sz="900" dirty="0"/>
          </a:p>
        </p:txBody>
      </p:sp>
      <p:sp>
        <p:nvSpPr>
          <p:cNvPr id="9"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Straight answers before you ask</a:t>
            </a:r>
            <a:endParaRPr lang="en-US" sz="3200" dirty="0"/>
          </a:p>
        </p:txBody>
      </p:sp>
      <p:sp>
        <p:nvSpPr>
          <p:cNvPr id="3" name="Shape 1"/>
          <p:cNvSpPr/>
          <p:nvPr/>
        </p:nvSpPr>
        <p:spPr>
          <a:xfrm>
            <a:off x="548640" y="1371600"/>
            <a:ext cx="5394960" cy="2194560"/>
          </a:xfrm>
          <a:prstGeom prst="roundRect">
            <a:avLst>
              <a:gd name="adj" fmla="val 3333"/>
            </a:avLst>
          </a:prstGeom>
          <a:solidFill>
            <a:srgbClr val="F5F5F5"/>
          </a:solidFill>
          <a:ln/>
        </p:spPr>
      </p:sp>
      <p:sp>
        <p:nvSpPr>
          <p:cNvPr id="4" name="Shape 2"/>
          <p:cNvSpPr/>
          <p:nvPr/>
        </p:nvSpPr>
        <p:spPr>
          <a:xfrm>
            <a:off x="822960" y="1645920"/>
            <a:ext cx="594360" cy="59436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977494" y="1800454"/>
            <a:ext cx="285293" cy="285293"/>
          </a:xfrm>
          <a:prstGeom prst="rect">
            <a:avLst/>
          </a:prstGeom>
        </p:spPr>
      </p:pic>
      <p:sp>
        <p:nvSpPr>
          <p:cNvPr id="6" name="Text 3"/>
          <p:cNvSpPr/>
          <p:nvPr/>
        </p:nvSpPr>
        <p:spPr>
          <a:xfrm>
            <a:off x="1600200" y="162763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“Isn't the ‘limited offer’ a sales tactic?”</a:t>
            </a:r>
            <a:endParaRPr lang="en-US" sz="1600" dirty="0"/>
          </a:p>
        </p:txBody>
      </p:sp>
      <p:sp>
        <p:nvSpPr>
          <p:cNvPr id="7" name="Text 4"/>
          <p:cNvSpPr/>
          <p:nvPr/>
        </p:nvSpPr>
        <p:spPr>
          <a:xfrm>
            <a:off x="1600200" y="202996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Probably — and it doesn't matter. Billing is $2,000 monthly, locked forever: keep it and we pay $500/mo under sticker for life; cancel at day 90 and we're out $6,000 — T^Rock's net on about one job. Only dealbreaker: cancellation terms that aren't clean.</a:t>
            </a:r>
            <a:endParaRPr lang="en-US" sz="1200" dirty="0"/>
          </a:p>
        </p:txBody>
      </p:sp>
      <p:sp>
        <p:nvSpPr>
          <p:cNvPr id="8" name="Shape 5"/>
          <p:cNvSpPr/>
          <p:nvPr/>
        </p:nvSpPr>
        <p:spPr>
          <a:xfrm>
            <a:off x="6217920" y="1371600"/>
            <a:ext cx="5394960" cy="2194560"/>
          </a:xfrm>
          <a:prstGeom prst="roundRect">
            <a:avLst>
              <a:gd name="adj" fmla="val 3333"/>
            </a:avLst>
          </a:prstGeom>
          <a:solidFill>
            <a:srgbClr val="F5F5F5"/>
          </a:solidFill>
          <a:ln/>
        </p:spPr>
      </p:sp>
      <p:sp>
        <p:nvSpPr>
          <p:cNvPr id="9" name="Shape 6"/>
          <p:cNvSpPr/>
          <p:nvPr/>
        </p:nvSpPr>
        <p:spPr>
          <a:xfrm>
            <a:off x="6492240" y="1645920"/>
            <a:ext cx="594360" cy="594360"/>
          </a:xfrm>
          <a:prstGeom prst="ellipse">
            <a:avLst/>
          </a:prstGeom>
          <a:solidFill>
            <a:srgbClr val="C8102E"/>
          </a:solidFill>
          <a:ln/>
        </p:spPr>
      </p:sp>
      <p:pic>
        <p:nvPicPr>
          <p:cNvPr id="10" name="Image 1" descr="preencoded.png">    </p:cNvPr>
          <p:cNvPicPr>
            <a:picLocks noChangeAspect="1"/>
          </p:cNvPicPr>
          <p:nvPr/>
        </p:nvPicPr>
        <p:blipFill>
          <a:blip r:embed="rId2"/>
          <a:stretch>
            <a:fillRect/>
          </a:stretch>
        </p:blipFill>
        <p:spPr>
          <a:xfrm>
            <a:off x="6646774" y="1800454"/>
            <a:ext cx="285293" cy="285293"/>
          </a:xfrm>
          <a:prstGeom prst="rect">
            <a:avLst/>
          </a:prstGeom>
        </p:spPr>
      </p:pic>
      <p:sp>
        <p:nvSpPr>
          <p:cNvPr id="11" name="Text 7"/>
          <p:cNvSpPr/>
          <p:nvPr/>
        </p:nvSpPr>
        <p:spPr>
          <a:xfrm>
            <a:off x="7269480" y="162763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“Their case studies are marketing.”</a:t>
            </a:r>
            <a:endParaRPr lang="en-US" sz="1600" dirty="0"/>
          </a:p>
        </p:txBody>
      </p:sp>
      <p:sp>
        <p:nvSpPr>
          <p:cNvPr id="12" name="Text 8"/>
          <p:cNvSpPr/>
          <p:nvPr/>
        </p:nvSpPr>
        <p:spPr>
          <a:xfrm>
            <a:off x="7269480" y="202996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Correct. Titan Roofing &amp; Restoration and others on their site are vendor-published, no audited numbers. That's exactly why the pilot has our own scorecard — we trust our data, not theirs.</a:t>
            </a:r>
            <a:endParaRPr lang="en-US" sz="1200" dirty="0"/>
          </a:p>
        </p:txBody>
      </p:sp>
      <p:sp>
        <p:nvSpPr>
          <p:cNvPr id="13" name="Shape 9"/>
          <p:cNvSpPr/>
          <p:nvPr/>
        </p:nvSpPr>
        <p:spPr>
          <a:xfrm>
            <a:off x="548640" y="3794760"/>
            <a:ext cx="5394960" cy="2194560"/>
          </a:xfrm>
          <a:prstGeom prst="roundRect">
            <a:avLst>
              <a:gd name="adj" fmla="val 3333"/>
            </a:avLst>
          </a:prstGeom>
          <a:solidFill>
            <a:srgbClr val="F5F5F5"/>
          </a:solidFill>
          <a:ln/>
        </p:spPr>
      </p:sp>
      <p:sp>
        <p:nvSpPr>
          <p:cNvPr id="14" name="Shape 10"/>
          <p:cNvSpPr/>
          <p:nvPr/>
        </p:nvSpPr>
        <p:spPr>
          <a:xfrm>
            <a:off x="822960" y="4069080"/>
            <a:ext cx="594360" cy="594360"/>
          </a:xfrm>
          <a:prstGeom prst="ellipse">
            <a:avLst/>
          </a:prstGeom>
          <a:solidFill>
            <a:srgbClr val="C8102E"/>
          </a:solidFill>
          <a:ln/>
        </p:spPr>
      </p:sp>
      <p:pic>
        <p:nvPicPr>
          <p:cNvPr id="15" name="Image 2" descr="preencoded.png">    </p:cNvPr>
          <p:cNvPicPr>
            <a:picLocks noChangeAspect="1"/>
          </p:cNvPicPr>
          <p:nvPr/>
        </p:nvPicPr>
        <p:blipFill>
          <a:blip r:embed="rId3"/>
          <a:stretch>
            <a:fillRect/>
          </a:stretch>
        </p:blipFill>
        <p:spPr>
          <a:xfrm>
            <a:off x="977494" y="4223614"/>
            <a:ext cx="285293" cy="285293"/>
          </a:xfrm>
          <a:prstGeom prst="rect">
            <a:avLst/>
          </a:prstGeom>
        </p:spPr>
      </p:pic>
      <p:sp>
        <p:nvSpPr>
          <p:cNvPr id="16" name="Text 11"/>
          <p:cNvSpPr/>
          <p:nvPr/>
        </p:nvSpPr>
        <p:spPr>
          <a:xfrm>
            <a:off x="1600200" y="405079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“Is the damage data real?”</a:t>
            </a:r>
            <a:endParaRPr lang="en-US" sz="1600" dirty="0"/>
          </a:p>
        </p:txBody>
      </p:sp>
      <p:sp>
        <p:nvSpPr>
          <p:cNvPr id="17" name="Text 12"/>
          <p:cNvSpPr/>
          <p:nvPr/>
        </p:nvSpPr>
        <p:spPr>
          <a:xfrm>
            <a:off x="1600200" y="445312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We verify it ourselves: weeks 1–2, every map-flagged roof a rep inspects gets logged confirmed/not confirmed. Below 70% accuracy, the tool dies on that metric alone.</a:t>
            </a:r>
            <a:endParaRPr lang="en-US" sz="1200" dirty="0"/>
          </a:p>
        </p:txBody>
      </p:sp>
      <p:sp>
        <p:nvSpPr>
          <p:cNvPr id="18" name="Shape 13"/>
          <p:cNvSpPr/>
          <p:nvPr/>
        </p:nvSpPr>
        <p:spPr>
          <a:xfrm>
            <a:off x="6217920" y="3794760"/>
            <a:ext cx="5394960" cy="2194560"/>
          </a:xfrm>
          <a:prstGeom prst="roundRect">
            <a:avLst>
              <a:gd name="adj" fmla="val 3333"/>
            </a:avLst>
          </a:prstGeom>
          <a:solidFill>
            <a:srgbClr val="F5F5F5"/>
          </a:solidFill>
          <a:ln/>
        </p:spPr>
      </p:sp>
      <p:sp>
        <p:nvSpPr>
          <p:cNvPr id="19" name="Shape 14"/>
          <p:cNvSpPr/>
          <p:nvPr/>
        </p:nvSpPr>
        <p:spPr>
          <a:xfrm>
            <a:off x="6492240" y="4069080"/>
            <a:ext cx="594360" cy="594360"/>
          </a:xfrm>
          <a:prstGeom prst="ellipse">
            <a:avLst/>
          </a:prstGeom>
          <a:solidFill>
            <a:srgbClr val="C8102E"/>
          </a:solidFill>
          <a:ln/>
        </p:spPr>
      </p:sp>
      <p:pic>
        <p:nvPicPr>
          <p:cNvPr id="20" name="Image 3" descr="preencoded.png">    </p:cNvPr>
          <p:cNvPicPr>
            <a:picLocks noChangeAspect="1"/>
          </p:cNvPicPr>
          <p:nvPr/>
        </p:nvPicPr>
        <p:blipFill>
          <a:blip r:embed="rId4"/>
          <a:stretch>
            <a:fillRect/>
          </a:stretch>
        </p:blipFill>
        <p:spPr>
          <a:xfrm>
            <a:off x="6646774" y="4223614"/>
            <a:ext cx="285293" cy="285293"/>
          </a:xfrm>
          <a:prstGeom prst="rect">
            <a:avLst/>
          </a:prstGeom>
        </p:spPr>
      </p:pic>
      <p:sp>
        <p:nvSpPr>
          <p:cNvPr id="21" name="Text 15"/>
          <p:cNvSpPr/>
          <p:nvPr/>
        </p:nvSpPr>
        <p:spPr>
          <a:xfrm>
            <a:off x="7269480" y="405079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“Will the reps actually use it?”</a:t>
            </a:r>
            <a:endParaRPr lang="en-US" sz="1600" dirty="0"/>
          </a:p>
        </p:txBody>
      </p:sp>
      <p:sp>
        <p:nvSpPr>
          <p:cNvPr id="22" name="Text 16"/>
          <p:cNvSpPr/>
          <p:nvPr/>
        </p:nvSpPr>
        <p:spPr>
          <a:xfrm>
            <a:off x="7269480" y="445312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Adoption is the real risk with any tool. So it gets a named owner (Dom), the whole team trains on it day 1, and usage shows up in the weekly scorecard. Reps not working the lists is visible in the numbers within two weeks.</a:t>
            </a:r>
            <a:endParaRPr lang="en-US" sz="1200" dirty="0"/>
          </a:p>
        </p:txBody>
      </p:sp>
      <p:sp>
        <p:nvSpPr>
          <p:cNvPr id="23" name="Text 17"/>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24" name="Text 18"/>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85800" y="548640"/>
            <a:ext cx="1078992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ask</a:t>
            </a:r>
            <a:endParaRPr lang="en-US" sz="4000" dirty="0"/>
          </a:p>
        </p:txBody>
      </p:sp>
      <p:sp>
        <p:nvSpPr>
          <p:cNvPr id="3" name="Shape 1"/>
          <p:cNvSpPr/>
          <p:nvPr/>
        </p:nvSpPr>
        <p:spPr>
          <a:xfrm>
            <a:off x="685800" y="1600200"/>
            <a:ext cx="3474720" cy="3108960"/>
          </a:xfrm>
          <a:prstGeom prst="roundRect">
            <a:avLst>
              <a:gd name="adj" fmla="val 2353"/>
            </a:avLst>
          </a:prstGeom>
          <a:solidFill>
            <a:srgbClr val="1E1E1E"/>
          </a:solidFill>
          <a:ln/>
        </p:spPr>
      </p:sp>
      <p:sp>
        <p:nvSpPr>
          <p:cNvPr id="4" name="Shape 2"/>
          <p:cNvSpPr/>
          <p:nvPr/>
        </p:nvSpPr>
        <p:spPr>
          <a:xfrm>
            <a:off x="978408" y="1874520"/>
            <a:ext cx="640080" cy="64008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1144829" y="2040941"/>
            <a:ext cx="307238" cy="307238"/>
          </a:xfrm>
          <a:prstGeom prst="rect">
            <a:avLst/>
          </a:prstGeom>
        </p:spPr>
      </p:pic>
      <p:sp>
        <p:nvSpPr>
          <p:cNvPr id="6" name="Text 3"/>
          <p:cNvSpPr/>
          <p:nvPr/>
        </p:nvSpPr>
        <p:spPr>
          <a:xfrm>
            <a:off x="315468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1</a:t>
            </a:r>
            <a:endParaRPr lang="en-US" sz="4400" dirty="0"/>
          </a:p>
        </p:txBody>
      </p:sp>
      <p:sp>
        <p:nvSpPr>
          <p:cNvPr id="7" name="Text 4"/>
          <p:cNvSpPr/>
          <p:nvPr/>
        </p:nvSpPr>
        <p:spPr>
          <a:xfrm>
            <a:off x="97840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Book the demo — this week</a:t>
            </a:r>
            <a:endParaRPr lang="en-US" sz="1700" dirty="0"/>
          </a:p>
        </p:txBody>
      </p:sp>
      <p:sp>
        <p:nvSpPr>
          <p:cNvPr id="8" name="Text 5"/>
          <p:cNvSpPr/>
          <p:nvPr/>
        </p:nvSpPr>
        <p:spPr>
          <a:xfrm>
            <a:off x="97840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30 min. Confirm the Founding offer is still open; get cancellation and lead-data-export terms in writing; ask how automated calls/texts handle DNC &amp; TCPA.</a:t>
            </a:r>
            <a:endParaRPr lang="en-US" sz="1250" dirty="0"/>
          </a:p>
        </p:txBody>
      </p:sp>
      <p:sp>
        <p:nvSpPr>
          <p:cNvPr id="9" name="Shape 6"/>
          <p:cNvSpPr/>
          <p:nvPr/>
        </p:nvSpPr>
        <p:spPr>
          <a:xfrm>
            <a:off x="4434840" y="1600200"/>
            <a:ext cx="3474720" cy="3108960"/>
          </a:xfrm>
          <a:prstGeom prst="roundRect">
            <a:avLst>
              <a:gd name="adj" fmla="val 2353"/>
            </a:avLst>
          </a:prstGeom>
          <a:solidFill>
            <a:srgbClr val="1E1E1E"/>
          </a:solidFill>
          <a:ln/>
        </p:spPr>
      </p:sp>
      <p:sp>
        <p:nvSpPr>
          <p:cNvPr id="10" name="Shape 7"/>
          <p:cNvSpPr/>
          <p:nvPr/>
        </p:nvSpPr>
        <p:spPr>
          <a:xfrm>
            <a:off x="4727448" y="1874520"/>
            <a:ext cx="640080" cy="64008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4893869" y="2040941"/>
            <a:ext cx="307238" cy="307238"/>
          </a:xfrm>
          <a:prstGeom prst="rect">
            <a:avLst/>
          </a:prstGeom>
        </p:spPr>
      </p:pic>
      <p:sp>
        <p:nvSpPr>
          <p:cNvPr id="12" name="Text 8"/>
          <p:cNvSpPr/>
          <p:nvPr/>
        </p:nvSpPr>
        <p:spPr>
          <a:xfrm>
            <a:off x="690372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2</a:t>
            </a:r>
            <a:endParaRPr lang="en-US" sz="4400" dirty="0"/>
          </a:p>
        </p:txBody>
      </p:sp>
      <p:sp>
        <p:nvSpPr>
          <p:cNvPr id="13" name="Text 9"/>
          <p:cNvSpPr/>
          <p:nvPr/>
        </p:nvSpPr>
        <p:spPr>
          <a:xfrm>
            <a:off x="472744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Buy Founding Member</a:t>
            </a:r>
            <a:endParaRPr lang="en-US" sz="1700" dirty="0"/>
          </a:p>
        </p:txBody>
      </p:sp>
      <p:sp>
        <p:nvSpPr>
          <p:cNvPr id="14" name="Text 10"/>
          <p:cNvSpPr/>
          <p:nvPr/>
        </p:nvSpPr>
        <p:spPr>
          <a:xfrm>
            <a:off x="472744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$2,000/mo, every Platinum feature, price locked for life. Full team live day 1; 2 control reps keep the old playbook. Weekly scorecard to leadership.</a:t>
            </a:r>
            <a:endParaRPr lang="en-US" sz="1250" dirty="0"/>
          </a:p>
        </p:txBody>
      </p:sp>
      <p:sp>
        <p:nvSpPr>
          <p:cNvPr id="15" name="Shape 11"/>
          <p:cNvSpPr/>
          <p:nvPr/>
        </p:nvSpPr>
        <p:spPr>
          <a:xfrm>
            <a:off x="8183880" y="1600200"/>
            <a:ext cx="3474720" cy="3108960"/>
          </a:xfrm>
          <a:prstGeom prst="roundRect">
            <a:avLst>
              <a:gd name="adj" fmla="val 2353"/>
            </a:avLst>
          </a:prstGeom>
          <a:solidFill>
            <a:srgbClr val="1E1E1E"/>
          </a:solidFill>
          <a:ln/>
        </p:spPr>
      </p:sp>
      <p:sp>
        <p:nvSpPr>
          <p:cNvPr id="16" name="Shape 12"/>
          <p:cNvSpPr/>
          <p:nvPr/>
        </p:nvSpPr>
        <p:spPr>
          <a:xfrm>
            <a:off x="8476488" y="1874520"/>
            <a:ext cx="640080" cy="640080"/>
          </a:xfrm>
          <a:prstGeom prst="ellipse">
            <a:avLst/>
          </a:prstGeom>
          <a:solidFill>
            <a:srgbClr val="C8102E"/>
          </a:solidFill>
          <a:ln/>
        </p:spPr>
      </p:sp>
      <p:pic>
        <p:nvPicPr>
          <p:cNvPr id="17" name="Image 2" descr="preencoded.png">    </p:cNvPr>
          <p:cNvPicPr>
            <a:picLocks noChangeAspect="1"/>
          </p:cNvPicPr>
          <p:nvPr/>
        </p:nvPicPr>
        <p:blipFill>
          <a:blip r:embed="rId3"/>
          <a:stretch>
            <a:fillRect/>
          </a:stretch>
        </p:blipFill>
        <p:spPr>
          <a:xfrm>
            <a:off x="8642909" y="2040941"/>
            <a:ext cx="307238" cy="307238"/>
          </a:xfrm>
          <a:prstGeom prst="rect">
            <a:avLst/>
          </a:prstGeom>
        </p:spPr>
      </p:pic>
      <p:sp>
        <p:nvSpPr>
          <p:cNvPr id="18" name="Text 13"/>
          <p:cNvSpPr/>
          <p:nvPr/>
        </p:nvSpPr>
        <p:spPr>
          <a:xfrm>
            <a:off x="1065276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3</a:t>
            </a:r>
            <a:endParaRPr lang="en-US" sz="4400" dirty="0"/>
          </a:p>
        </p:txBody>
      </p:sp>
      <p:sp>
        <p:nvSpPr>
          <p:cNvPr id="19" name="Text 14"/>
          <p:cNvSpPr/>
          <p:nvPr/>
        </p:nvSpPr>
        <p:spPr>
          <a:xfrm>
            <a:off x="847648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Day-90 scorecard: keep or kill</a:t>
            </a:r>
            <a:endParaRPr lang="en-US" sz="1700" dirty="0"/>
          </a:p>
        </p:txBody>
      </p:sp>
      <p:sp>
        <p:nvSpPr>
          <p:cNvPr id="20" name="Text 15"/>
          <p:cNvSpPr/>
          <p:nvPr/>
        </p:nvSpPr>
        <p:spPr>
          <a:xfrm>
            <a:off x="847648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Beats baseline → we own Platinum features at $500/mo under sticker, forever. Misses → cancel; at risk was $6,000.</a:t>
            </a:r>
            <a:endParaRPr lang="en-US" sz="1250" dirty="0"/>
          </a:p>
        </p:txBody>
      </p:sp>
      <p:sp>
        <p:nvSpPr>
          <p:cNvPr id="21" name="Text 16"/>
          <p:cNvSpPr/>
          <p:nvPr/>
        </p:nvSpPr>
        <p:spPr>
          <a:xfrm>
            <a:off x="685800" y="5120640"/>
            <a:ext cx="10789920" cy="548640"/>
          </a:xfrm>
          <a:prstGeom prst="rect">
            <a:avLst/>
          </a:prstGeom>
          <a:noFill/>
          <a:ln/>
        </p:spPr>
        <p:txBody>
          <a:bodyPr wrap="square" lIns="0" tIns="0" rIns="0" bIns="0" rtlCol="0" anchor="ctr"/>
          <a:lstStyle/>
          <a:p>
            <a:pPr indent="0" marL="0">
              <a:buNone/>
            </a:pPr>
            <a:r>
              <a:rPr lang="en-US" sz="2200" b="1" dirty="0">
                <a:solidFill>
                  <a:srgbClr val="C8102E"/>
                </a:solidFill>
                <a:latin typeface="Arial" pitchFamily="34" charset="0"/>
                <a:ea typeface="Arial" pitchFamily="34" charset="-122"/>
                <a:cs typeface="Arial" pitchFamily="34" charset="-120"/>
              </a:rPr>
              <a:t>Locked-in price. Measured on our own baseline. Easy to kill.</a:t>
            </a:r>
            <a:endParaRPr lang="en-US" sz="2200" dirty="0"/>
          </a:p>
        </p:txBody>
      </p:sp>
      <p:sp>
        <p:nvSpPr>
          <p:cNvPr id="22" name="Text 17"/>
          <p:cNvSpPr/>
          <p:nvPr/>
        </p:nvSpPr>
        <p:spPr>
          <a:xfrm>
            <a:off x="685800" y="5760720"/>
            <a:ext cx="10789920" cy="457200"/>
          </a:xfrm>
          <a:prstGeom prst="rect">
            <a:avLst/>
          </a:prstGeom>
          <a:noFill/>
          <a:ln/>
        </p:spPr>
        <p:txBody>
          <a:bodyPr wrap="square" lIns="0" tIns="0" rIns="0" bIns="0" rtlCol="0" anchor="ctr"/>
          <a:lstStyle/>
          <a:p>
            <a:pPr indent="0" marL="0">
              <a:buNone/>
            </a:pPr>
            <a:r>
              <a:rPr lang="en-US" sz="1400" dirty="0">
                <a:solidFill>
                  <a:srgbClr val="BDBDBD"/>
                </a:solidFill>
                <a:latin typeface="Arial" pitchFamily="34" charset="0"/>
                <a:ea typeface="Arial" pitchFamily="34" charset="-122"/>
                <a:cs typeface="Arial" pitchFamily="34" charset="-120"/>
              </a:rPr>
              <a:t>Downside: $6,000.  Upside: Platinum features at $2,000 for life — and crews knocking verified-damage doors first, every storm season.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2026-08-21T03:15:22Z</dcterms:created>
  <dcterms:modified xsi:type="dcterms:W3CDTF">2026-08-21T03:15:22Z</dcterms:modified>
</cp:coreProperties>
</file>